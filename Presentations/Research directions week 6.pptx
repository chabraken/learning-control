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4.xml" ContentType="application/vnd.openxmlformats-officedocument.presentationml.notesSlide+xml"/>
  <Override PartName="/ppt/ink/ink9.xml" ContentType="application/inkml+xml"/>
  <Override PartName="/ppt/notesSlides/notesSlide5.xml" ContentType="application/vnd.openxmlformats-officedocument.presentationml.notesSlide+xml"/>
  <Override PartName="/ppt/ink/ink10.xml" ContentType="application/inkml+xml"/>
  <Override PartName="/ppt/notesSlides/notesSlide6.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7.xml" ContentType="application/vnd.openxmlformats-officedocument.presentationml.notesSlide+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9"/>
  </p:notesMasterIdLst>
  <p:sldIdLst>
    <p:sldId id="268" r:id="rId2"/>
    <p:sldId id="273" r:id="rId3"/>
    <p:sldId id="283" r:id="rId4"/>
    <p:sldId id="284" r:id="rId5"/>
    <p:sldId id="280" r:id="rId6"/>
    <p:sldId id="282" r:id="rId7"/>
    <p:sldId id="277" r:id="rId8"/>
    <p:sldId id="286" r:id="rId9"/>
    <p:sldId id="289" r:id="rId10"/>
    <p:sldId id="288" r:id="rId11"/>
    <p:sldId id="281" r:id="rId12"/>
    <p:sldId id="279" r:id="rId13"/>
    <p:sldId id="285" r:id="rId14"/>
    <p:sldId id="278" r:id="rId15"/>
    <p:sldId id="274" r:id="rId16"/>
    <p:sldId id="275" r:id="rId17"/>
    <p:sldId id="276" r:id="rId18"/>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0C4AC6-C82D-0593-520C-7C7AC19DD9D1}" name="Rosenberg, Simon" initials="SR" userId="S::s.rosenberg@student.tue.nl::7c4a139d-ffe6-470c-a91c-6dc7bb7c143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5FF08E-56CF-4A2C-8CAE-A10FC1CECF76}" v="4712" dt="2026-05-28T15:31:34.427"/>
    <p1510:client id="{1CCF4F3C-18A2-4A8E-A206-B8EC577681F3}" v="1428" dt="2026-05-28T12:43:30.297"/>
    <p1510:client id="{3E635EFC-619E-C21E-1799-D0642513A3C3}" v="51" dt="2026-05-28T08:01:31.528"/>
    <p1510:client id="{661F6A87-A13D-4122-8F54-DDB0B193DA02}" v="594" dt="2026-05-28T14:00:46.070"/>
    <p1510:client id="{6A2254FF-9FCE-40BF-9D94-AAF0B2B594EA}" v="1016" dt="2026-05-28T13:40:31.132"/>
    <p1510:client id="{B07D13A0-7FC6-27E5-B833-A709C3DA89A8}" v="1228" dt="2026-05-28T11:58:15.968"/>
    <p1510:client id="{BA24731D-4F61-E8E9-7EC9-B74DE605FEBF}" v="166" dt="2026-05-28T08:26:30.517"/>
    <p1510:client id="{F0179428-5C40-28DA-5458-36C63266923B}" v="54" dt="2026-05-28T13:30:09.539"/>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876" autoAdjust="0"/>
  </p:normalViewPr>
  <p:slideViewPr>
    <p:cSldViewPr snapToGrid="0">
      <p:cViewPr>
        <p:scale>
          <a:sx n="102" d="100"/>
          <a:sy n="102" d="100"/>
        </p:scale>
        <p:origin x="269" y="-21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3:27:43.708"/>
    </inkml:context>
    <inkml:brush xml:id="br0">
      <inkml:brushProperty name="width" value="0.05" units="cm"/>
      <inkml:brushProperty name="height" value="0.05" units="cm"/>
      <inkml:brushProperty name="color" value="#333333"/>
    </inkml:brush>
  </inkml:definitions>
  <inkml:trace contextRef="#ctx0" brushRef="#br0">0 29 1120 0 0,'0'0'4806'0'0,"30"-1"-4881"0"0,0-16-1767 0 0,-18 9 515 0 0,-12 6-251 0 0,-72 30 474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3:28:27.522"/>
    </inkml:context>
    <inkml:brush xml:id="br0">
      <inkml:brushProperty name="width" value="0.05" units="cm"/>
      <inkml:brushProperty name="height" value="0.05" units="cm"/>
      <inkml:brushProperty name="color" value="#333333"/>
    </inkml:brush>
  </inkml:definitions>
  <inkml:trace contextRef="#ctx0" brushRef="#br0">1 0 640 0 0,'4'3'13493'0'0,"-2"-2"-13431"0"0,0-1 0 0 0,0 1 0 0 0,0-1 1 0 0,0 1-1 0 0,-1 0 0 0 0,1 0 0 0 0,0-1 0 0 0,0 1 0 0 0,0 0 1 0 0,-1 1-1 0 0,1-1 0 0 0,-1 0 0 0 0,1 0 0 0 0,-1 1 0 0 0,1-1 0 0 0,-1 1 1 0 0,0-1-1 0 0,0 1 0 0 0,1 0 0 0 0,-1 0 0 0 0,0-1 0 0 0,0 3 1 0 0,24 55 2064 0 0,-9-20-1420 0 0,-12-30-686 0 0,0-1 0 0 0,1 0-1 0 0,0-1 1 0 0,0 1 0 0 0,1-1 0 0 0,0 0 0 0 0,13 12 0 0 0,-15-16-11 0 0,1 1 1 0 0,0-1 0 0 0,0-1 0 0 0,0 1 0 0 0,0-1 0 0 0,1 0 0 0 0,-1 0 0 0 0,1 0 0 0 0,-1-1 0 0 0,1 0-1 0 0,0 0 1 0 0,-1 0 0 0 0,1-1 0 0 0,6 0 0 0 0,2 1-17 0 0,0-1 1 0 0,0-1-1 0 0,1 0 0 0 0,-1-1 0 0 0,0 0 1 0 0,0-1-1 0 0,0-1 0 0 0,23-9 1 0 0,0-3 1 0 0,40-11 1 0 0,-54 19-6 0 0,2 2 0 0 0,35-6 0 0 0,-50 11 13 0 0,-1 0 1 0 0,1 1-1 0 0,0 0 0 0 0,-1 1 0 0 0,1 0 0 0 0,0 0 1 0 0,-1 1-1 0 0,0 0 0 0 0,16 6 0 0 0,7 6 41 0 0,37 12 47 0 0,-64-24-79 0 0,0 0 0 0 0,-1 0 0 0 0,1 1 0 0 0,0 0 0 0 0,-1 0 0 0 0,9 7 0 0 0,-10-7-3 0 0,22 20 128 0 0,-9-14-140 0 0,-14-4 30 0 0,-2-5-26 0 0,0 1 1 0 0,0-1-1 0 0,0 0 0 0 0,1 1 0 0 0,-1-1 1 0 0,0 1-1 0 0,0-1 0 0 0,0 1 1 0 0,1-1-1 0 0,-1 1 0 0 0,0-1 0 0 0,1 0 1 0 0,-1 1-1 0 0,0-1 0 0 0,1 0 1 0 0,-1 1-1 0 0,0-1 0 0 0,1 0 0 0 0,-1 1 1 0 0,1-1-1 0 0,-1 0 0 0 0,1 0 1 0 0,-1 0-1 0 0,0 1 0 0 0,1-1 1 0 0,-1 0-1 0 0,1 0 0 0 0,-1 0 0 0 0,1 0 1 0 0,-1 0-1 0 0,1 0 0 0 0,-1 0 1 0 0,1 0-1 0 0,-1 0 0 0 0,1 0 0 0 0,-1 0 1 0 0,1 0-1 0 0,0 0 143 0 0,11-20-148 0 0,37-25-99 0 0,-36 34 120 0 0,0 1 0 0 0,0 1 0 0 0,1 0-1 0 0,1 1 1 0 0,-1 0 0 0 0,1 2 0 0 0,1-1 0 0 0,28-7 0 0 0,-18 9-10 0 0,-13 2 41 0 0,0 0 1 0 0,1 1-1 0 0,19 0 0 0 0,122 8 98 0 0,-74 7-132 0 0,9-6 160 0 0,-29 2-159 0 0,16 1 76 0 0,13 0-172 0 0,-38-10 80 0 0,-51 0-6 0 0,31 0-54 0 0,-23-1 69 0 0,-1 0 1 0 0,1 0-1 0 0,-1-1 1 0 0,0-1 0 0 0,0 1-1 0 0,0-1 1 0 0,0 0-1 0 0,0-1 1 0 0,8-5 0 0 0,20-10-210 0 0,-16 8 163 0 0,-19 11 32 0 0,0-1 1 0 0,0 1 0 0 0,-1 0 0 0 0,1-1 0 0 0,0 1 0 0 0,0 0 0 0 0,0-1-1 0 0,0 1 1 0 0,-1-1 0 0 0,1 0 0 0 0,0 1 0 0 0,0-1 0 0 0,-1 0 0 0 0,1 1-1 0 0,0-2 1 0 0,3-2 9 0 0,-1 2-8 0 0,-1 0-3 0 0,1 1 0 0 0,-1-1 0 0 0,0 1 0 0 0,0-1 0 0 0,0 0 0 0 0,-1 0 0 0 0,1 0 0 0 0,0 0 0 0 0,-1 0 0 0 0,1 0 0 0 0,-1-1 0 0 0,2-3 0 0 0,-3 5-29 0 0,8-12-412 0 0,-7 8-128 0 0,-2 1-2659 0 0,-11 0-3690 0 0,24 14-1455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7T14:05:03.848"/>
    </inkml:context>
    <inkml:brush xml:id="br0">
      <inkml:brushProperty name="width" value="0.05" units="cm"/>
      <inkml:brushProperty name="height" value="0.05" units="cm"/>
    </inkml:brush>
  </inkml:definitions>
  <inkml:trace contextRef="#ctx0" brushRef="#br0">0 8 17227,'1796'0'0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4:05:27.301"/>
    </inkml:context>
    <inkml:brush xml:id="br0">
      <inkml:brushProperty name="width" value="0.05" units="cm"/>
      <inkml:brushProperty name="height" value="0.05" units="cm"/>
    </inkml:brush>
  </inkml:definitions>
  <inkml:trace contextRef="#ctx0" brushRef="#br0">274 0 208 0 0,'-11'3'14811'0'0,"-33"9"-14526"0"0,19-3-87 0 0,0 2 0 0 0,1 0 1 0 0,0 2-1 0 0,0 0 0 0 0,-32 27 1 0 0,25-19-135 0 0,21-18-3972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4:05:28.582"/>
    </inkml:context>
    <inkml:brush xml:id="br0">
      <inkml:brushProperty name="width" value="0.05" units="cm"/>
      <inkml:brushProperty name="height" value="0.05" units="cm"/>
    </inkml:brush>
  </inkml:definitions>
  <inkml:trace contextRef="#ctx0" brushRef="#br0">1 0 184 0 0,'0'0'4759'0'0,"11"1"745"0"0,13 2-4197 0 0,0 12-423 0 0,-2 0 0 0 0,22 19 0 0 0,-35-27-776 0 0,11 10 285 0 0,2-1 1 0 0,0 0-1 0 0,1-2 1 0 0,30 15-1 0 0,-42-23-391 0 0,-19-6-474 0 0,-5-2-2946 0 0,35 4-9175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7:46:50.316"/>
    </inkml:context>
    <inkml:brush xml:id="br0">
      <inkml:brushProperty name="width" value="0.05" units="cm"/>
      <inkml:brushProperty name="height" value="0.05" units="cm"/>
    </inkml:brush>
  </inkml:definitions>
  <inkml:trace contextRef="#ctx0" brushRef="#br0">0 8 17227,'1796'0'0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8T07:46:50.317"/>
    </inkml:context>
    <inkml:brush xml:id="br0">
      <inkml:brushProperty name="width" value="0.05" units="cm"/>
      <inkml:brushProperty name="height" value="0.05" units="cm"/>
    </inkml:brush>
  </inkml:definitions>
  <inkml:trace contextRef="#ctx0" brushRef="#br0">274 0 208 0 0,'-11'3'14811'0'0,"-33"9"-14526"0"0,19-3-87 0 0,0 2 0 0 0,1 0 1 0 0,0 2-1 0 0,0 0 0 0 0,-32 27 1 0 0,25-19-135 0 0,21-18-3972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8T07:46:50.318"/>
    </inkml:context>
    <inkml:brush xml:id="br0">
      <inkml:brushProperty name="width" value="0.05" units="cm"/>
      <inkml:brushProperty name="height" value="0.05" units="cm"/>
    </inkml:brush>
  </inkml:definitions>
  <inkml:trace contextRef="#ctx0" brushRef="#br0">1 0 184 0 0,'0'0'4759'0'0,"11"1"745"0"0,13 2-4197 0 0,0 12-423 0 0,-2 0 0 0 0,22 19 0 0 0,-35-27-776 0 0,11 10 285 0 0,2-1 1 0 0,0 0-1 0 0,1-2 1 0 0,30 15-1 0 0,-42-23-391 0 0,-19-6-474 0 0,-5-2-2946 0 0,35 4-9175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3:27:43.708"/>
    </inkml:context>
    <inkml:brush xml:id="br0">
      <inkml:brushProperty name="width" value="0.05" units="cm"/>
      <inkml:brushProperty name="height" value="0.05" units="cm"/>
      <inkml:brushProperty name="color" value="#333333"/>
    </inkml:brush>
  </inkml:definitions>
  <inkml:trace contextRef="#ctx0" brushRef="#br0">0 29 1120 0 0,'0'0'4806'0'0,"30"-1"-4881"0"0,0-16-1767 0 0,-18 9 515 0 0,-12 6-251 0 0,-72 30 474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3:27:43.708"/>
    </inkml:context>
    <inkml:brush xml:id="br0">
      <inkml:brushProperty name="width" value="0.05" units="cm"/>
      <inkml:brushProperty name="height" value="0.05" units="cm"/>
      <inkml:brushProperty name="color" value="#333333"/>
    </inkml:brush>
  </inkml:definitions>
  <inkml:trace contextRef="#ctx0" brushRef="#br0">0 29 1120 0 0,'0'0'4806'0'0,"30"-1"-4881"0"0,0-16-1767 0 0,-18 9 515 0 0,-12 6-251 0 0,-72 30 474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3:27:43.708"/>
    </inkml:context>
    <inkml:brush xml:id="br0">
      <inkml:brushProperty name="width" value="0.05" units="cm"/>
      <inkml:brushProperty name="height" value="0.05" units="cm"/>
      <inkml:brushProperty name="color" value="#333333"/>
    </inkml:brush>
  </inkml:definitions>
  <inkml:trace contextRef="#ctx0" brushRef="#br0">0 29 1120 0 0,'0'0'4806'0'0,"30"-1"-4881"0"0,0-16-1767 0 0,-18 9 515 0 0,-12 6-251 0 0,-72 30 474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8T09:05:30.638"/>
    </inkml:context>
    <inkml:brush xml:id="br0">
      <inkml:brushProperty name="width" value="0.05" units="cm"/>
      <inkml:brushProperty name="height" value="0.05" units="cm"/>
    </inkml:brush>
  </inkml:definitions>
  <inkml:trace contextRef="#ctx0" brushRef="#br0">0 0 184 0 0,'0'0'396'0'0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8T09:05:30.638"/>
    </inkml:context>
    <inkml:brush xml:id="br0">
      <inkml:brushProperty name="width" value="0.05" units="cm"/>
      <inkml:brushProperty name="height" value="0.05" units="cm"/>
    </inkml:brush>
  </inkml:definitions>
  <inkml:trace contextRef="#ctx0" brushRef="#br0">0 0 184 0 0,'0'0'396'0'0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9:27:22.779"/>
    </inkml:context>
    <inkml:brush xml:id="br0">
      <inkml:brushProperty name="width" value="0.05" units="cm"/>
      <inkml:brushProperty name="height" value="0.05" units="cm"/>
    </inkml:brush>
  </inkml:definitions>
  <inkml:trace contextRef="#ctx0" brushRef="#br0">16 0 16784,'0'813'0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8T09:27:35.894"/>
    </inkml:context>
    <inkml:brush xml:id="br0">
      <inkml:brushProperty name="width" value="0.05" units="cm"/>
      <inkml:brushProperty name="height" value="0.05" units="cm"/>
    </inkml:brush>
  </inkml:definitions>
  <inkml:trace contextRef="#ctx0" brushRef="#br0">13 1 156 0 0,'0'0'3075'0'0,"-12"3"3351"0"0,13 3-6184 0 0,0 0 0 0 0,0 0 1 0 0,1 0-1 0 0,0 0 0 0 0,0-1 1 0 0,1 1-1 0 0,-1 0 0 0 0,1-1 1 0 0,0 0-1 0 0,6 7 0 0 0,-5-5-346 0 0,50 67 1179 0 0,-47-67-1061 0 0,-5-6-16 0 0,0 1-1 0 0,0 0 1 0 0,0 0 0 0 0,-1 0 0 0 0,1 1-1 0 0,-1-1 1 0 0,1 0 0 0 0,-1 0 0 0 0,2 5-1 0 0,19 6 55 0 0,-17-8-67 0 0,-3-2-25 0 0,3-8-353 0 0,6-18 566 0 0,-9 18-184 0 0,0 0 0 0 0,1 1 0 0 0,-1-1 0 0 0,1 0 0 0 0,0 1 1 0 0,0 0-1 0 0,0-1 0 0 0,6-4 0 0 0,-7 6 17 0 0,1 0-1 0 0,-1 0 1 0 0,0 0 0 0 0,0 0 0 0 0,-1 0-1 0 0,1 0 1 0 0,0-1 0 0 0,-1 1 0 0 0,0-1-1 0 0,1-3 1 0 0,11-23 8 0 0,16-13-133 0 0,-28 40 231 0 0,1-1-622 0 0,-1 7 23 0 0,-1-3 225 0 0,0 5-2417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3:27:43.708"/>
    </inkml:context>
    <inkml:brush xml:id="br0">
      <inkml:brushProperty name="width" value="0.05" units="cm"/>
      <inkml:brushProperty name="height" value="0.05" units="cm"/>
      <inkml:brushProperty name="color" value="#333333"/>
    </inkml:brush>
  </inkml:definitions>
  <inkml:trace contextRef="#ctx0" brushRef="#br0">0 29 1120 0 0,'0'0'4806'0'0,"30"-1"-4881"0"0,0-16-1767 0 0,-18 9 515 0 0,-12 6-251 0 0,-72 30 474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8T07:35:45.787"/>
    </inkml:context>
    <inkml:brush xml:id="br0">
      <inkml:brushProperty name="width" value="0.07938" units="cm"/>
      <inkml:brushProperty name="height" value="0.07938" units="cm"/>
    </inkml:brush>
  </inkml:definitions>
  <inkml:trace contextRef="#ctx0" brushRef="#br0">0 0 260 0 0,'0'0'2683'0'0,"3"6"-2320"0"0,-2-4-285 0 0,-1-1-50 0 0,0 1-1 0 0,1-1 1 0 0,-1 0 0 0 0,1 1 0 0 0,0-1 0 0 0,-1 1 0 0 0,1-1 0 0 0,0 0 0 0 0,0 0-1 0 0,0 1 1 0 0,0-1 0 0 0,0 0 0 0 0,0 0 0 0 0,0 0 0 0 0,0 0 0 0 0,0 0 0 0 0,0 0 0 0 0,1-1-1 0 0,1 2 1 0 0,-2-2 226 0 0,6 16 2955 0 0,18 6-2499 0 0,-1-2-503 0 0,-7 0-49 0 0,1 0 0 0 0,35 28 0 0 0,-16-13-28 0 0,-27-25-105 0 0,-1-1 0 0 0,1 0 0 0 0,19 12 0 0 0,34 34 196 0 0,-14-11-71 0 0,-34-30-142 0 0,0 0 1 0 0,25 16-1 0 0,80 59 26 0 0,-85-63 110 0 0,51 45 0 0 0,-54-43-37 0 0,54 38 0 0 0,-15-15-26 0 0,-43-29-66 0 0,32 18-1 0 0,12 11 12 0 0,115 69 151 0 0,-126-79-110 0 0,219 134 56 0 0,-255-161-120 0 0,188 114 256 0 0,3 11-153 0 0,-131-95-127 0 0,-9-5 9 0 0,-57-31 34 0 0,0 1 0 0 0,-1 1 1 0 0,28 20-1 0 0,-9-4-9 0 0,59 32-1 0 0,-13-9-25 0 0,29 10-24 0 0,-105-56 32 0 0,277 157 150 0 0,-253-143-160 0 0,0-1-1 0 0,1-2 1 0 0,50 15 0 0 0,22 16 147 0 0,-46-21-168 0 0,-26-9 27 0 0,54 15 0 0 0,-12-2 23 0 0,-47-16 0 0 0,93 44 111 0 0,-54-25-144 0 0,76 38 5 0 0,-103-52 52 0 0,19 11 21 0 0,-7 0-88 0 0,105 40 0 0 0,-140-62 27 0 0,44 22 5 0 0,-37-16-47 0 0,36 12 0 0 0,-18-9 87 0 0,47 26 0 0 0,-58-26-44 0 0,92 47-16 0 0,-91-45-45 0 0,49 23 46 0 0,-72-36 29 0 0,1-1 0 0 0,-1 2 0 0 0,1-1 0 0 0,-1 1 0 0 0,0 0 1 0 0,13 13-1 0 0,-18-16-13 0 0,0 0 0 0 0,-1 1 1 0 0,1-1-1 0 0,0 0 0 0 0,0 0 0 0 0,0-1 1 0 0,1 1-1 0 0,-1-1 0 0 0,7 3 1 0 0,16 8-26 0 0,-4 3-6 0 0,1-1 0 0 0,0-1 1 0 0,29 11-1 0 0,-21-9 14 0 0,25 10-14 0 0,-27-13 13 0 0,48 28-1 0 0,-61-31 5 0 0,0-1-1 0 0,1-1 0 0 0,21 7 0 0 0,26 11 14 0 0,133 70 21 0 0,-194-94-23 0 0,28 14-32 0 0,-1-1 1 0 0,51 14-1 0 0,-62-22 24 0 0,34 16 1 0 0,-14-5 18 0 0,89 45-21 0 0,174 42-169 0 0,161 47-147 0 0,-380-122 306 0 0,-24-7 5 0 0,149 41-77 0 0,-18 1-89 0 0,89 31 328 0 0,-56-19-261 0 0,67 19-64 0 0,-196-74-70 0 0,-40-10 204 0 0,-6-1-7 0 0,42 12-197 0 0,67 23 259 0 0,-115-30-71 0 0,12 2 68 0 0,161 25-329 0 0,-8-1 246 0 0,-110-16-39 0 0,-80-22 33 0 0,-6 0-45 0 0,1-1 0 0 0,-1 0 0 0 0,19 0-1 0 0,24 4 173 0 0,-45-6-74 0 0,7 0 38 0 0,1 0 0 0 0,-1 1-1 0 0,29 5 1 0 0,-29-2-36 0 0,0-1-1 0 0,0-1 1 0 0,1 0-1 0 0,21-1 1 0 0,5 5 196 0 0,-39-5-150 0 0,0-1 1 0 0,0 1-1 0 0,0 0 1 0 0,0 0-1 0 0,0 0 0 0 0,6 3 1 0 0,-6-2-62 0 0,1 0 0 0 0,0-1 0 0 0,0 1 0 0 0,0-1 0 0 0,0 0 1 0 0,10 0-1 0 0,41 6 71 0 0,-48-7-5 0 0,0 1-1 0 0,-1 0 1 0 0,1 1 0 0 0,10 3 0 0 0,-10-3-75 0 0,1 1 0 0 0,-1-2 1 0 0,0 1-1 0 0,13 0 0 0 0,-3 0 33 0 0,29 2 90 0 0,-39-4-58 0 0,-5 0-10 0 0,0-1 0 0 0,0 1-1 0 0,0 0 1 0 0,-1 0 0 0 0,1 1-1 0 0,0-1 1 0 0,0 1 0 0 0,0-1-1 0 0,0 1 1 0 0,-1 0 0 0 0,5 1-1 0 0,-5 0-10 0 0,0-1-1 0 0,0 0 0 0 0,0 0 0 0 0,1 0 1 0 0,-1 0-1 0 0,1-1 0 0 0,-1 1 0 0 0,0-1 0 0 0,1 1 1 0 0,-1-1-1 0 0,1 0 0 0 0,-1 0 0 0 0,1 0 1 0 0,2-1-1 0 0,-3 1-15 0 0,0 0-1 0 0,0 0 1 0 0,-1 0 0 0 0,1 0 0 0 0,0 0-1 0 0,0 0 1 0 0,0 1 0 0 0,0-1 0 0 0,0 0-1 0 0,0 1 1 0 0,0 0 0 0 0,0-1 0 0 0,1 2-1 0 0,43 6 174 0 0,-6-2-130 0 0,24 7-153 0 0,8-1 163 0 0,-31-5-31 0 0,15-1 57 0 0,21 7-1272 0 0,-77-13 1097 0 0,1 0-1 0 0,-1 0 0 0 0,1 0 1 0 0,-1 0-1 0 0,1 1 0 0 0,-1-1 1 0 0,0 0-1 0 0,1 0 0 0 0,-1 1 1 0 0,1-1-1 0 0,-1 0 0 0 0,0 1 1 0 0,1-1-1 0 0,-1 0 0 0 0,0 1 1 0 0,1-1-1 0 0,-1 1 1 0 0,0-1-1 0 0,1 0 0 0 0,-1 1 1 0 0,0-1-1 0 0,0 1 0 0 0,0-1 1 0 0,1 1-1 0 0,-1-1 0 0 0,0 1 1 0 0,0-1-1 0 0,0 1 0 0 0,0-1 1 0 0,0 1-1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3:27:43.708"/>
    </inkml:context>
    <inkml:brush xml:id="br0">
      <inkml:brushProperty name="width" value="0.05" units="cm"/>
      <inkml:brushProperty name="height" value="0.05" units="cm"/>
      <inkml:brushProperty name="color" value="#333333"/>
    </inkml:brush>
  </inkml:definitions>
  <inkml:trace contextRef="#ctx0" brushRef="#br0">0 29 1120 0 0,'0'0'4806'0'0,"30"-1"-4881"0"0,0-16-1767 0 0,-18 9 515 0 0,-12 6-251 0 0,-72 30 474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3:28:27.522"/>
    </inkml:context>
    <inkml:brush xml:id="br0">
      <inkml:brushProperty name="width" value="0.05" units="cm"/>
      <inkml:brushProperty name="height" value="0.05" units="cm"/>
      <inkml:brushProperty name="color" value="#333333"/>
    </inkml:brush>
  </inkml:definitions>
  <inkml:trace contextRef="#ctx0" brushRef="#br0">1 0 640 0 0,'4'3'13493'0'0,"-2"-2"-13431"0"0,0-1 0 0 0,0 1 0 0 0,0-1 1 0 0,0 1-1 0 0,-1 0 0 0 0,1 0 0 0 0,0-1 0 0 0,0 1 0 0 0,0 0 1 0 0,-1 1-1 0 0,1-1 0 0 0,-1 0 0 0 0,1 0 0 0 0,-1 1 0 0 0,1-1 0 0 0,-1 1 1 0 0,0-1-1 0 0,0 1 0 0 0,1 0 0 0 0,-1 0 0 0 0,0-1 0 0 0,0 3 1 0 0,24 55 2064 0 0,-9-20-1420 0 0,-12-30-686 0 0,0-1 0 0 0,1 0-1 0 0,0-1 1 0 0,0 1 0 0 0,1-1 0 0 0,0 0 0 0 0,13 12 0 0 0,-15-16-11 0 0,1 1 1 0 0,0-1 0 0 0,0-1 0 0 0,0 1 0 0 0,0-1 0 0 0,1 0 0 0 0,-1 0 0 0 0,1 0 0 0 0,-1-1 0 0 0,1 0-1 0 0,0 0 1 0 0,-1 0 0 0 0,1-1 0 0 0,6 0 0 0 0,2 1-17 0 0,0-1 1 0 0,0-1-1 0 0,1 0 0 0 0,-1-1 0 0 0,0 0 1 0 0,0-1-1 0 0,0-1 0 0 0,23-9 1 0 0,0-3 1 0 0,40-11 1 0 0,-54 19-6 0 0,2 2 0 0 0,35-6 0 0 0,-50 11 13 0 0,-1 0 1 0 0,1 1-1 0 0,0 0 0 0 0,-1 1 0 0 0,1 0 0 0 0,0 0 1 0 0,-1 1-1 0 0,0 0 0 0 0,16 6 0 0 0,7 6 41 0 0,37 12 47 0 0,-64-24-79 0 0,0 0 0 0 0,-1 0 0 0 0,1 1 0 0 0,0 0 0 0 0,-1 0 0 0 0,9 7 0 0 0,-10-7-3 0 0,22 20 128 0 0,-9-14-140 0 0,-14-4 30 0 0,-2-5-26 0 0,0 1 1 0 0,0-1-1 0 0,0 0 0 0 0,1 1 0 0 0,-1-1 1 0 0,0 1-1 0 0,0-1 0 0 0,0 1 1 0 0,1-1-1 0 0,-1 1 0 0 0,0-1 0 0 0,1 0 1 0 0,-1 1-1 0 0,0-1 0 0 0,1 0 1 0 0,-1 1-1 0 0,0-1 0 0 0,1 0 0 0 0,-1 1 1 0 0,1-1-1 0 0,-1 0 0 0 0,1 0 1 0 0,-1 0-1 0 0,0 1 0 0 0,1-1 1 0 0,-1 0-1 0 0,1 0 0 0 0,-1 0 0 0 0,1 0 1 0 0,-1 0-1 0 0,1 0 0 0 0,-1 0 1 0 0,1 0-1 0 0,-1 0 0 0 0,1 0 0 0 0,-1 0 1 0 0,1 0-1 0 0,0 0 143 0 0,11-20-148 0 0,37-25-99 0 0,-36 34 120 0 0,0 1 0 0 0,0 1 0 0 0,1 0-1 0 0,1 1 1 0 0,-1 0 0 0 0,1 2 0 0 0,1-1 0 0 0,28-7 0 0 0,-18 9-10 0 0,-13 2 41 0 0,0 0 1 0 0,1 1-1 0 0,19 0 0 0 0,122 8 98 0 0,-74 7-132 0 0,9-6 160 0 0,-29 2-159 0 0,16 1 76 0 0,13 0-172 0 0,-38-10 80 0 0,-51 0-6 0 0,31 0-54 0 0,-23-1 69 0 0,-1 0 1 0 0,1 0-1 0 0,-1-1 1 0 0,0-1 0 0 0,0 1-1 0 0,0-1 1 0 0,0 0-1 0 0,0-1 1 0 0,8-5 0 0 0,20-10-210 0 0,-16 8 163 0 0,-19 11 32 0 0,0-1 1 0 0,0 1 0 0 0,-1 0 0 0 0,1-1 0 0 0,0 1 0 0 0,0 0 0 0 0,0-1-1 0 0,0 1 1 0 0,-1-1 0 0 0,1 0 0 0 0,0 1 0 0 0,0-1 0 0 0,-1 0 0 0 0,1 1-1 0 0,0-2 1 0 0,3-2 9 0 0,-1 2-8 0 0,-1 0-3 0 0,1 1 0 0 0,-1-1 0 0 0,0 1 0 0 0,0-1 0 0 0,0 0 0 0 0,-1 0 0 0 0,1 0 0 0 0,0 0 0 0 0,-1 0 0 0 0,1 0 0 0 0,-1-1 0 0 0,2-3 0 0 0,-3 5-29 0 0,8-12-412 0 0,-7 8-128 0 0,-2 1-2659 0 0,-11 0-3690 0 0,24 14-1455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7T14:05:03.848"/>
    </inkml:context>
    <inkml:brush xml:id="br0">
      <inkml:brushProperty name="width" value="0.05" units="cm"/>
      <inkml:brushProperty name="height" value="0.05" units="cm"/>
    </inkml:brush>
  </inkml:definitions>
  <inkml:trace contextRef="#ctx0" brushRef="#br0">0 8 17227,'1796'0'0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4:05:27.301"/>
    </inkml:context>
    <inkml:brush xml:id="br0">
      <inkml:brushProperty name="width" value="0.05" units="cm"/>
      <inkml:brushProperty name="height" value="0.05" units="cm"/>
    </inkml:brush>
  </inkml:definitions>
  <inkml:trace contextRef="#ctx0" brushRef="#br0">274 0 208 0 0,'-11'3'14811'0'0,"-33"9"-14526"0"0,19-3-87 0 0,0 2 0 0 0,1 0 1 0 0,0 2-1 0 0,0 0 0 0 0,-32 27 1 0 0,25-19-135 0 0,21-18-3972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4:05:28.582"/>
    </inkml:context>
    <inkml:brush xml:id="br0">
      <inkml:brushProperty name="width" value="0.05" units="cm"/>
      <inkml:brushProperty name="height" value="0.05" units="cm"/>
    </inkml:brush>
  </inkml:definitions>
  <inkml:trace contextRef="#ctx0" brushRef="#br0">1 0 184 0 0,'0'0'4759'0'0,"11"1"745"0"0,13 2-4197 0 0,0 12-423 0 0,-2 0 0 0 0,22 19 0 0 0,-35-27-776 0 0,11 10 285 0 0,2-1 1 0 0,0 0-1 0 0,1-2 1 0 0,30 15-1 0 0,-42-23-391 0 0,-19-6-474 0 0,-5-2-2946 0 0,35 4-9175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7T14:20:37.602"/>
    </inkml:context>
    <inkml:brush xml:id="br0">
      <inkml:brushProperty name="width" value="0.05" units="cm"/>
      <inkml:brushProperty name="height" value="0.05" units="cm"/>
    </inkml:brush>
  </inkml:definitions>
  <inkml:trace contextRef="#ctx0" brushRef="#br0">0 8 17227,'1796'0'0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4:20:37.603"/>
    </inkml:context>
    <inkml:brush xml:id="br0">
      <inkml:brushProperty name="width" value="0.05" units="cm"/>
      <inkml:brushProperty name="height" value="0.05" units="cm"/>
    </inkml:brush>
  </inkml:definitions>
  <inkml:trace contextRef="#ctx0" brushRef="#br0">274 0 208 0 0,'-11'3'14811'0'0,"-33"9"-14526"0"0,19-3-87 0 0,0 2 0 0 0,1 0 1 0 0,0 2-1 0 0,0 0 0 0 0,-32 27 1 0 0,25-19-135 0 0,21-18-3972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4:20:37.604"/>
    </inkml:context>
    <inkml:brush xml:id="br0">
      <inkml:brushProperty name="width" value="0.05" units="cm"/>
      <inkml:brushProperty name="height" value="0.05" units="cm"/>
    </inkml:brush>
  </inkml:definitions>
  <inkml:trace contextRef="#ctx0" brushRef="#br0">1 0 184 0 0,'0'0'4759'0'0,"11"1"745"0"0,13 2-4197 0 0,0 12-423 0 0,-2 0 0 0 0,22 19 0 0 0,-35-27-776 0 0,11 10 285 0 0,2-1 1 0 0,0 0-1 0 0,1-2 1 0 0,30 15-1 0 0,-42-23-391 0 0,-19-6-474 0 0,-5-2-2946 0 0,35 4-9175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7T14:20:43.018"/>
    </inkml:context>
    <inkml:brush xml:id="br0">
      <inkml:brushProperty name="width" value="0.05" units="cm"/>
      <inkml:brushProperty name="height" value="0.05" units="cm"/>
    </inkml:brush>
  </inkml:definitions>
  <inkml:trace contextRef="#ctx0" brushRef="#br0">0 8 17227,'1796'0'0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4:20:43.019"/>
    </inkml:context>
    <inkml:brush xml:id="br0">
      <inkml:brushProperty name="width" value="0.05" units="cm"/>
      <inkml:brushProperty name="height" value="0.05" units="cm"/>
    </inkml:brush>
  </inkml:definitions>
  <inkml:trace contextRef="#ctx0" brushRef="#br0">274 0 208 0 0,'-11'3'14811'0'0,"-33"9"-14526"0"0,19-3-87 0 0,0 2 0 0 0,1 0 1 0 0,0 2-1 0 0,0 0 0 0 0,-32 27 1 0 0,25-19-135 0 0,21-18-3972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27T14:20:43.020"/>
    </inkml:context>
    <inkml:brush xml:id="br0">
      <inkml:brushProperty name="width" value="0.05" units="cm"/>
      <inkml:brushProperty name="height" value="0.05" units="cm"/>
    </inkml:brush>
  </inkml:definitions>
  <inkml:trace contextRef="#ctx0" brushRef="#br0">1 0 184 0 0,'0'0'4759'0'0,"11"1"745"0"0,13 2-4197 0 0,0 12-423 0 0,-2 0 0 0 0,22 19 0 0 0,-35-27-776 0 0,11 10 285 0 0,2-1 1 0 0,0 0-1 0 0,1-2 1 0 0,30 15-1 0 0,-42-23-391 0 0,-19-6-474 0 0,-5-2-2946 0 0,35 4-9175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28/05/2026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GB"/>
              <a:t>Group 4: Bram, Simon, Vera &amp; Chiron</a:t>
            </a:r>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There is notable interaction in the cross coupling. SISO has more obvious basis function compared to SIMO/MIMO due to this interaction. Research directions -&gt; Single Input Multiple Output stacking &amp; Sequential updating of x and phi.</a:t>
            </a:r>
            <a:endParaRPr lang="en-NL">
              <a:ea typeface="Calibri"/>
              <a:cs typeface="Calibri"/>
            </a:endParaRP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685673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endParaRPr lang="en-US">
              <a:ea typeface="Calibri"/>
              <a:cs typeface="Calibri"/>
            </a:endParaRPr>
          </a:p>
          <a:p>
            <a:endParaRPr lang="en-US">
              <a:ea typeface="Calibri"/>
              <a:cs typeface="Calibri"/>
            </a:endParaRPr>
          </a:p>
          <a:p>
            <a:pPr marL="171450" indent="-171450">
              <a:buFontTx/>
              <a:buChar char="-"/>
            </a:pPr>
            <a:r>
              <a:rPr lang="en-US">
                <a:ea typeface="Calibri"/>
                <a:cs typeface="Calibri"/>
              </a:rPr>
              <a:t>Ey equation for </a:t>
            </a:r>
            <a:r>
              <a:rPr lang="en-US" err="1">
                <a:ea typeface="Calibri"/>
                <a:cs typeface="Calibri"/>
              </a:rPr>
              <a:t>mimo</a:t>
            </a:r>
            <a:r>
              <a:rPr lang="en-US">
                <a:ea typeface="Calibri"/>
                <a:cs typeface="Calibri"/>
              </a:rPr>
              <a:t> the same, only transfer matrices</a:t>
            </a:r>
          </a:p>
          <a:p>
            <a:pPr marL="171450" indent="-171450">
              <a:buFontTx/>
              <a:buChar char="-"/>
            </a:pPr>
            <a:r>
              <a:rPr lang="en-US">
                <a:ea typeface="Calibri"/>
                <a:cs typeface="Calibri"/>
              </a:rPr>
              <a:t>SIMO equation: </a:t>
            </a:r>
            <a:r>
              <a:rPr lang="en-US" err="1">
                <a:ea typeface="Calibri"/>
                <a:cs typeface="Calibri"/>
              </a:rPr>
              <a:t>rphi</a:t>
            </a:r>
            <a:r>
              <a:rPr lang="en-US">
                <a:ea typeface="Calibri"/>
                <a:cs typeface="Calibri"/>
              </a:rPr>
              <a:t> zero, so we choose the basis functions empty and that results in the zeros and the zero and 1</a:t>
            </a:r>
          </a:p>
          <a:p>
            <a:pPr marL="171450" indent="-171450">
              <a:buFontTx/>
              <a:buChar char="-"/>
            </a:pPr>
            <a:r>
              <a:rPr lang="en-US">
                <a:ea typeface="Calibri"/>
                <a:cs typeface="Calibri"/>
              </a:rPr>
              <a:t>Just like in the SISO case we want to approximate the inverse of the plant</a:t>
            </a:r>
          </a:p>
          <a:p>
            <a:pPr marL="171450" indent="-171450">
              <a:buFontTx/>
              <a:buChar char="-"/>
            </a:pPr>
            <a:r>
              <a:rPr lang="en-US">
                <a:ea typeface="Calibri"/>
                <a:cs typeface="Calibri"/>
              </a:rPr>
              <a:t>Show result, here the cross term for the input shapers is no longer necessary due to multiplication</a:t>
            </a:r>
          </a:p>
          <a:p>
            <a:pPr marL="171450" indent="-171450">
              <a:buFontTx/>
              <a:buChar char="-"/>
            </a:pPr>
            <a:r>
              <a:rPr lang="en-US">
                <a:ea typeface="Calibri"/>
                <a:cs typeface="Calibri"/>
              </a:rPr>
              <a:t>Same denominator</a:t>
            </a: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r>
              <a:rPr lang="en-US">
                <a:ea typeface="Calibri"/>
                <a:cs typeface="Calibri"/>
              </a:rPr>
              <a:t>Eventually we want to choose the input shapers cy and the feedforward signal </a:t>
            </a:r>
            <a:r>
              <a:rPr lang="en-US" err="1">
                <a:ea typeface="Calibri"/>
                <a:cs typeface="Calibri"/>
              </a:rPr>
              <a:t>cff</a:t>
            </a:r>
            <a:r>
              <a:rPr lang="en-US">
                <a:ea typeface="Calibri"/>
                <a:cs typeface="Calibri"/>
              </a:rPr>
              <a:t> in such a way that our error goes to zero, In the </a:t>
            </a:r>
            <a:r>
              <a:rPr lang="en-US" err="1">
                <a:ea typeface="Calibri"/>
                <a:cs typeface="Calibri"/>
              </a:rPr>
              <a:t>simo</a:t>
            </a:r>
            <a:r>
              <a:rPr lang="en-US">
                <a:ea typeface="Calibri"/>
                <a:cs typeface="Calibri"/>
              </a:rPr>
              <a:t> case we can write this in the following form where the last column here has all zeros do the </a:t>
            </a:r>
            <a:r>
              <a:rPr lang="en-US" err="1">
                <a:ea typeface="Calibri"/>
                <a:cs typeface="Calibri"/>
              </a:rPr>
              <a:t>the</a:t>
            </a:r>
            <a:r>
              <a:rPr lang="en-US">
                <a:ea typeface="Calibri"/>
                <a:cs typeface="Calibri"/>
              </a:rPr>
              <a:t> reference of phi being zero in Mimo. Then we can rewrite to get the inverse of P, again choose the basis functions to approximate the inverse of plant, but not as straight forward. Rewrite to the </a:t>
            </a:r>
            <a:r>
              <a:rPr lang="en-US" err="1">
                <a:ea typeface="Calibri"/>
                <a:cs typeface="Calibri"/>
              </a:rPr>
              <a:t>the</a:t>
            </a:r>
            <a:r>
              <a:rPr lang="en-US">
                <a:ea typeface="Calibri"/>
                <a:cs typeface="Calibri"/>
              </a:rPr>
              <a:t> solution …</a:t>
            </a:r>
            <a:endParaRPr lang="en-NL">
              <a:ea typeface="Calibri"/>
              <a:cs typeface="Calibri"/>
            </a:endParaRPr>
          </a:p>
          <a:p>
            <a:endParaRPr lang="en-NL"/>
          </a:p>
          <a:p>
            <a:endParaRPr lang="en-NL"/>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1774156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C06B4-EDC4-CADC-3950-5D7FB9042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C6835A-7F56-3D44-BD14-B1647D179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9C5F55-0C35-5C03-A8E3-0CBA4654EFA9}"/>
              </a:ext>
            </a:extLst>
          </p:cNvPr>
          <p:cNvSpPr>
            <a:spLocks noGrp="1"/>
          </p:cNvSpPr>
          <p:nvPr>
            <p:ph type="body" idx="1"/>
          </p:nvPr>
        </p:nvSpPr>
        <p:spPr/>
        <p:txBody>
          <a:bodyPr/>
          <a:lstStyle/>
          <a:p>
            <a:r>
              <a:rPr lang="en-US"/>
              <a:t>--both transfer functions of this form</a:t>
            </a:r>
          </a:p>
          <a:p>
            <a:r>
              <a:rPr lang="en-US"/>
              <a:t>- We want to capture the poles, since they both share A2 we can focus on B1. Upon checking these values we can see that they are actually the same. Which means that we can use </a:t>
            </a:r>
            <a:r>
              <a:rPr lang="en-US" err="1"/>
              <a:t>Cyxx</a:t>
            </a:r>
            <a:r>
              <a:rPr lang="en-US"/>
              <a:t> to capture poles of both these transfer functions. </a:t>
            </a:r>
            <a:endParaRPr lang="en-NL"/>
          </a:p>
        </p:txBody>
      </p:sp>
      <p:sp>
        <p:nvSpPr>
          <p:cNvPr id="4" name="Slide Number Placeholder 3">
            <a:extLst>
              <a:ext uri="{FF2B5EF4-FFF2-40B4-BE49-F238E27FC236}">
                <a16:creationId xmlns:a16="http://schemas.microsoft.com/office/drawing/2014/main" id="{CE45395F-BE32-1BBF-82F2-C2D7907A2FA9}"/>
              </a:ext>
            </a:extLst>
          </p:cNvPr>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577787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ea typeface="Calibri"/>
                <a:cs typeface="Calibri"/>
              </a:rPr>
              <a:t>In SISO, every mode </a:t>
            </a:r>
            <a:r>
              <a:rPr lang="en-NL" dirty="0" err="1">
                <a:ea typeface="Calibri"/>
                <a:cs typeface="Calibri"/>
              </a:rPr>
              <a:t>intoduces</a:t>
            </a:r>
            <a:r>
              <a:rPr lang="en-NL" dirty="0">
                <a:ea typeface="Calibri"/>
                <a:cs typeface="Calibri"/>
              </a:rPr>
              <a:t> 2 poles (</a:t>
            </a:r>
            <a:r>
              <a:rPr lang="en-NL" dirty="0" err="1">
                <a:ea typeface="Calibri"/>
                <a:cs typeface="Calibri"/>
              </a:rPr>
              <a:t>equivelent</a:t>
            </a:r>
            <a:r>
              <a:rPr lang="en-NL" dirty="0">
                <a:ea typeface="Calibri"/>
                <a:cs typeface="Calibri"/>
              </a:rPr>
              <a:t> for zeros) -&gt; 2 derivatives of the reference signal</a:t>
            </a:r>
          </a:p>
          <a:p>
            <a:r>
              <a:rPr lang="nl-NL">
                <a:ea typeface="Calibri"/>
                <a:cs typeface="Calibri"/>
              </a:rPr>
              <a:t>Very high order, would end up with a lot of basis functions to capture the system dynamics</a:t>
            </a:r>
          </a:p>
          <a:p>
            <a:r>
              <a:rPr lang="nl-NL">
                <a:ea typeface="Calibri"/>
                <a:cs typeface="Calibri"/>
              </a:rPr>
              <a:t>However, reference probably only exites the low frequencies, i.e. low frequent modes</a:t>
            </a:r>
          </a:p>
          <a:p>
            <a:r>
              <a:rPr lang="nl-NL">
                <a:ea typeface="Calibri"/>
                <a:cs typeface="Calibri"/>
              </a:rPr>
              <a:t>Do we need to capture them all?</a:t>
            </a:r>
            <a:endParaRPr lang="nl-NL" dirty="0">
              <a:ea typeface="Calibri"/>
              <a:cs typeface="Calibri"/>
            </a:endParaRPr>
          </a:p>
        </p:txBody>
      </p:sp>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2869791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702472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92B32-12D7-F354-EE21-AFD127601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963C8-D342-5C7D-B809-1EC3E8B557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9152C8-6D6F-C26A-1A55-75F3F08AEEF3}"/>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81C9A6F8-FD33-CFCB-0279-FA6D93CEF2E0}"/>
              </a:ext>
            </a:extLst>
          </p:cNvPr>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692811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a:t>This is an example of a 27 </a:t>
            </a:r>
            <a:r>
              <a:rPr lang="en-GB" err="1"/>
              <a:t>pt</a:t>
            </a:r>
            <a:r>
              <a:rPr lang="en-GB"/>
              <a:t> headline with 27 </a:t>
            </a:r>
            <a:r>
              <a:rPr lang="en-GB" err="1"/>
              <a:t>pt</a:t>
            </a:r>
            <a:r>
              <a:rPr lang="en-GB"/>
              <a:t> line spacing</a:t>
            </a:r>
          </a:p>
        </p:txBody>
      </p:sp>
      <p:sp>
        <p:nvSpPr>
          <p:cNvPr id="3" name="Content Placeholder 2"/>
          <p:cNvSpPr>
            <a:spLocks noGrp="1"/>
          </p:cNvSpPr>
          <p:nvPr>
            <p:ph idx="1" hasCustomPrompt="1"/>
          </p:nvPr>
        </p:nvSpPr>
        <p:spPr/>
        <p:txBody>
          <a:bodyPr/>
          <a:lstStyle>
            <a:lvl1pPr>
              <a:defRPr baseline="0"/>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a:t>This is an example of 19,5 </a:t>
            </a:r>
            <a:r>
              <a:rPr lang="en-GB" err="1"/>
              <a:t>pt</a:t>
            </a:r>
            <a:r>
              <a:rPr lang="en-GB"/>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a:t>This is an example of 19,5 </a:t>
            </a:r>
            <a:r>
              <a:rPr lang="en-GB" err="1"/>
              <a:t>pt</a:t>
            </a:r>
            <a:r>
              <a:rPr lang="en-GB"/>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a:t>This is an example of 19,5 </a:t>
            </a:r>
            <a:r>
              <a:rPr lang="en-GB" err="1"/>
              <a:t>pt</a:t>
            </a:r>
            <a:r>
              <a:rPr lang="en-GB"/>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a:t>This is an example of a 27 </a:t>
            </a:r>
            <a:r>
              <a:rPr lang="en-GB" err="1"/>
              <a:t>pt</a:t>
            </a:r>
            <a:r>
              <a:rPr lang="en-GB"/>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 27pt headline on a slide with three images</a:t>
            </a:r>
            <a:endParaRPr lang="en-GB"/>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insert image</a:t>
            </a:r>
          </a:p>
          <a:p>
            <a:endParaRPr lang="en-GB"/>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insert image</a:t>
            </a:r>
          </a:p>
          <a:p>
            <a:endParaRPr lang="en-GB"/>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a:t>This is an example of 19,5 </a:t>
            </a:r>
            <a:r>
              <a:rPr lang="en-GB" err="1"/>
              <a:t>pt</a:t>
            </a:r>
            <a:r>
              <a:rPr lang="en-GB"/>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a:t>This is an example of 19,5 </a:t>
            </a:r>
            <a:r>
              <a:rPr lang="en-GB" err="1"/>
              <a:t>pt</a:t>
            </a:r>
            <a:r>
              <a:rPr lang="en-GB"/>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insert image</a:t>
            </a:r>
          </a:p>
          <a:p>
            <a:endParaRPr lang="en-GB"/>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a:t>This is an example of a 27 </a:t>
            </a:r>
            <a:r>
              <a:rPr lang="en-GB" err="1"/>
              <a:t>pt</a:t>
            </a:r>
            <a:r>
              <a:rPr lang="en-GB"/>
              <a:t> headline with 27 </a:t>
            </a:r>
            <a:r>
              <a:rPr lang="en-GB" err="1"/>
              <a:t>pt</a:t>
            </a:r>
            <a:r>
              <a:rPr lang="en-GB"/>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a:p>
        </p:txBody>
      </p:sp>
      <p:sp>
        <p:nvSpPr>
          <p:cNvPr id="5" name="Footer Placeholder 4"/>
          <p:cNvSpPr>
            <a:spLocks noGrp="1"/>
          </p:cNvSpPr>
          <p:nvPr>
            <p:ph type="ftr" sz="quarter" idx="11"/>
          </p:nvPr>
        </p:nvSpPr>
        <p:spPr/>
        <p:txBody>
          <a:bodyPr/>
          <a:lstStyle/>
          <a:p>
            <a:r>
              <a:rPr lang="en-GB"/>
              <a:t>Title of the presentation - by tab Insert -&gt; Header text and Footer text</a:t>
            </a:r>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a:t>Sample slide with table and text</a:t>
            </a:r>
            <a:endParaRPr lang="en-GB"/>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a:t>Click to enter text</a:t>
            </a:r>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a:p>
        </p:txBody>
      </p:sp>
      <p:sp>
        <p:nvSpPr>
          <p:cNvPr id="6" name="Footer Placeholder 5"/>
          <p:cNvSpPr>
            <a:spLocks noGrp="1"/>
          </p:cNvSpPr>
          <p:nvPr>
            <p:ph type="ftr" sz="quarter" idx="11"/>
          </p:nvPr>
        </p:nvSpPr>
        <p:spPr/>
        <p:txBody>
          <a:bodyPr/>
          <a:lstStyle/>
          <a:p>
            <a:r>
              <a:rPr lang="en-GB"/>
              <a:t>Title of the presentation - by tab Insert -&gt; Header text and Footer text</a:t>
            </a:r>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a:t>This is an example of a 27 </a:t>
            </a:r>
            <a:r>
              <a:rPr lang="en-GB" err="1"/>
              <a:t>pt</a:t>
            </a:r>
            <a:r>
              <a:rPr lang="en-GB"/>
              <a:t> headline with 27 </a:t>
            </a:r>
            <a:r>
              <a:rPr lang="en-GB" err="1"/>
              <a:t>pt</a:t>
            </a:r>
            <a:r>
              <a:rPr lang="en-GB"/>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err="1"/>
              <a:t>Klik</a:t>
            </a:r>
            <a:r>
              <a:rPr lang="en-GB"/>
              <a:t> om de </a:t>
            </a:r>
            <a:r>
              <a:rPr lang="en-GB" err="1"/>
              <a:t>modelstijlen</a:t>
            </a:r>
            <a:r>
              <a:rPr lang="en-GB"/>
              <a:t> </a:t>
            </a:r>
            <a:r>
              <a:rPr lang="en-GB" err="1"/>
              <a:t>te</a:t>
            </a:r>
            <a:r>
              <a:rPr lang="en-GB"/>
              <a:t> </a:t>
            </a:r>
            <a:r>
              <a:rPr lang="en-GB" err="1"/>
              <a:t>bewerken</a:t>
            </a:r>
            <a:endParaRPr lang="en-GB"/>
          </a:p>
          <a:p>
            <a:pPr lvl="1"/>
            <a:r>
              <a:rPr lang="en-GB" err="1"/>
              <a:t>Tweede</a:t>
            </a:r>
            <a:r>
              <a:rPr lang="en-GB"/>
              <a:t> </a:t>
            </a:r>
            <a:r>
              <a:rPr lang="en-GB" err="1"/>
              <a:t>niveau</a:t>
            </a:r>
            <a:endParaRPr lang="en-GB"/>
          </a:p>
          <a:p>
            <a:pPr lvl="2"/>
            <a:r>
              <a:rPr lang="en-GB" err="1"/>
              <a:t>Derde</a:t>
            </a:r>
            <a:r>
              <a:rPr lang="en-GB"/>
              <a:t> </a:t>
            </a:r>
            <a:r>
              <a:rPr lang="en-GB" err="1"/>
              <a:t>niveau</a:t>
            </a:r>
            <a:endParaRPr lang="en-GB"/>
          </a:p>
          <a:p>
            <a:pPr lvl="3"/>
            <a:r>
              <a:rPr lang="en-GB" err="1"/>
              <a:t>Vierde</a:t>
            </a:r>
            <a:r>
              <a:rPr lang="en-GB"/>
              <a:t> </a:t>
            </a:r>
            <a:r>
              <a:rPr lang="en-GB" err="1"/>
              <a:t>niveau</a:t>
            </a:r>
            <a:endParaRPr lang="en-GB"/>
          </a:p>
          <a:p>
            <a:pPr lvl="4"/>
            <a:r>
              <a:rPr lang="en-GB" err="1"/>
              <a:t>Vijfde</a:t>
            </a:r>
            <a:r>
              <a:rPr lang="en-GB"/>
              <a:t> </a:t>
            </a:r>
            <a:r>
              <a:rPr lang="en-GB" err="1"/>
              <a:t>niveau</a:t>
            </a:r>
            <a:endParaRPr lang="en-GB"/>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en-GB"/>
              <a:t>Title of the presentation - by tab Insert -&gt; Header text and Footer text</a:t>
            </a:r>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customXml" Target="../ink/ink5.xml"/><Relationship Id="rId18"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image" Target="../media/image8.png"/><Relationship Id="rId12" Type="http://schemas.openxmlformats.org/officeDocument/2006/relationships/image" Target="../media/image11.png"/><Relationship Id="rId17" Type="http://schemas.openxmlformats.org/officeDocument/2006/relationships/customXml" Target="../ink/ink7.xml"/><Relationship Id="rId2" Type="http://schemas.openxmlformats.org/officeDocument/2006/relationships/notesSlide" Target="../notesSlides/notesSlide3.xml"/><Relationship Id="rId16" Type="http://schemas.openxmlformats.org/officeDocument/2006/relationships/customXml" Target="../ink/ink6.xml"/><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customXml" Target="../ink/ink4.xml"/><Relationship Id="rId5" Type="http://schemas.openxmlformats.org/officeDocument/2006/relationships/image" Target="../media/image7.png"/><Relationship Id="rId15" Type="http://schemas.openxmlformats.org/officeDocument/2006/relationships/image" Target="../media/image13.png"/><Relationship Id="rId10" Type="http://schemas.openxmlformats.org/officeDocument/2006/relationships/image" Target="../media/image10.png"/><Relationship Id="rId19" Type="http://schemas.openxmlformats.org/officeDocument/2006/relationships/image" Target="../media/image14.png"/><Relationship Id="rId4" Type="http://schemas.openxmlformats.org/officeDocument/2006/relationships/customXml" Target="../ink/ink1.xml"/><Relationship Id="rId9" Type="http://schemas.openxmlformats.org/officeDocument/2006/relationships/customXml" Target="../ink/ink3.xml"/><Relationship Id="rId1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customXml" Target="../ink/ink9.xml"/><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7.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0.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customXml" Target="../ink/ink14.xml"/><Relationship Id="rId3" Type="http://schemas.openxmlformats.org/officeDocument/2006/relationships/image" Target="../media/image7.png"/><Relationship Id="rId7" Type="http://schemas.openxmlformats.org/officeDocument/2006/relationships/image" Target="../media/image29.png"/><Relationship Id="rId12" Type="http://schemas.openxmlformats.org/officeDocument/2006/relationships/image" Target="../media/image33.png"/><Relationship Id="rId2" Type="http://schemas.openxmlformats.org/officeDocument/2006/relationships/customXml" Target="../ink/ink11.xml"/><Relationship Id="rId16" Type="http://schemas.openxmlformats.org/officeDocument/2006/relationships/image" Target="../media/image35.png"/><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13.xml"/><Relationship Id="rId5" Type="http://schemas.openxmlformats.org/officeDocument/2006/relationships/customXml" Target="../ink/ink12.xml"/><Relationship Id="rId15" Type="http://schemas.openxmlformats.org/officeDocument/2006/relationships/customXml" Target="../ink/ink15.xml"/><Relationship Id="rId10" Type="http://schemas.openxmlformats.org/officeDocument/2006/relationships/image" Target="../media/image32.png"/><Relationship Id="rId4" Type="http://schemas.openxmlformats.org/officeDocument/2006/relationships/image" Target="../media/image27.png"/><Relationship Id="rId9" Type="http://schemas.openxmlformats.org/officeDocument/2006/relationships/image" Target="../media/image31.png"/><Relationship Id="rId1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6.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ustomXml" Target="../ink/ink17.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customXml" Target="../ink/ink20.xml"/><Relationship Id="rId13" Type="http://schemas.openxmlformats.org/officeDocument/2006/relationships/image" Target="../media/image12.png"/><Relationship Id="rId18" Type="http://schemas.openxmlformats.org/officeDocument/2006/relationships/customXml" Target="../ink/ink24.xml"/><Relationship Id="rId3" Type="http://schemas.openxmlformats.org/officeDocument/2006/relationships/customXml" Target="../ink/ink18.xml"/><Relationship Id="rId21" Type="http://schemas.openxmlformats.org/officeDocument/2006/relationships/customXml" Target="../ink/ink27.xml"/><Relationship Id="rId7" Type="http://schemas.openxmlformats.org/officeDocument/2006/relationships/image" Target="../media/image52.png"/><Relationship Id="rId12" Type="http://schemas.openxmlformats.org/officeDocument/2006/relationships/customXml" Target="../ink/ink22.xml"/><Relationship Id="rId17" Type="http://schemas.openxmlformats.org/officeDocument/2006/relationships/customXml" Target="../ink/ink23.xml"/><Relationship Id="rId2" Type="http://schemas.openxmlformats.org/officeDocument/2006/relationships/image" Target="../media/image51.png"/><Relationship Id="rId16" Type="http://schemas.openxmlformats.org/officeDocument/2006/relationships/image" Target="../media/image55.png"/><Relationship Id="rId20" Type="http://schemas.openxmlformats.org/officeDocument/2006/relationships/customXml" Target="../ink/ink26.xml"/><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1.png"/><Relationship Id="rId5" Type="http://schemas.openxmlformats.org/officeDocument/2006/relationships/customXml" Target="../ink/ink19.xml"/><Relationship Id="rId15" Type="http://schemas.openxmlformats.org/officeDocument/2006/relationships/image" Target="../media/image54.png"/><Relationship Id="rId10" Type="http://schemas.openxmlformats.org/officeDocument/2006/relationships/customXml" Target="../ink/ink21.xml"/><Relationship Id="rId19" Type="http://schemas.openxmlformats.org/officeDocument/2006/relationships/customXml" Target="../ink/ink25.xml"/><Relationship Id="rId4" Type="http://schemas.openxmlformats.org/officeDocument/2006/relationships/image" Target="../media/image7.png"/><Relationship Id="rId9" Type="http://schemas.openxmlformats.org/officeDocument/2006/relationships/image" Target="../media/image10.png"/><Relationship Id="rId14" Type="http://schemas.openxmlformats.org/officeDocument/2006/relationships/image" Target="../media/image53.png"/><Relationship Id="rId22" Type="http://schemas.openxmlformats.org/officeDocument/2006/relationships/customXml" Target="../ink/ink2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p:txBody>
          <a:bodyPr/>
          <a:lstStyle/>
          <a:p>
            <a:r>
              <a:rPr lang="en-GB"/>
              <a:t>Ideas to discuss</a:t>
            </a:r>
          </a:p>
        </p:txBody>
      </p:sp>
      <p:sp>
        <p:nvSpPr>
          <p:cNvPr id="7" name="Ondertitel 6"/>
          <p:cNvSpPr>
            <a:spLocks noGrp="1"/>
          </p:cNvSpPr>
          <p:nvPr>
            <p:ph type="subTitle" idx="1"/>
          </p:nvPr>
        </p:nvSpPr>
        <p:spPr/>
        <p:txBody>
          <a:bodyPr/>
          <a:lstStyle/>
          <a:p>
            <a:r>
              <a:rPr lang="en-GB"/>
              <a:t>May 29</a:t>
            </a:r>
            <a:r>
              <a:rPr lang="en-GB" baseline="30000"/>
              <a:t>th</a:t>
            </a:r>
            <a:r>
              <a:rPr lang="en-GB"/>
              <a:t>, 2026</a:t>
            </a:r>
          </a:p>
        </p:txBody>
      </p:sp>
      <p:sp>
        <p:nvSpPr>
          <p:cNvPr id="8" name="Tijdelijke aanduiding voor tekst 7"/>
          <p:cNvSpPr>
            <a:spLocks noGrp="1"/>
          </p:cNvSpPr>
          <p:nvPr>
            <p:ph type="body" sz="quarter" idx="13"/>
          </p:nvPr>
        </p:nvSpPr>
        <p:spPr/>
        <p:txBody>
          <a:bodyPr/>
          <a:lstStyle/>
          <a:p>
            <a:r>
              <a:rPr lang="en-GB"/>
              <a:t>Group 4</a:t>
            </a:r>
          </a:p>
        </p:txBody>
      </p:sp>
      <p:sp>
        <p:nvSpPr>
          <p:cNvPr id="9" name="Tijdelijke aanduiding voor tekst 8"/>
          <p:cNvSpPr>
            <a:spLocks noGrp="1"/>
          </p:cNvSpPr>
          <p:nvPr>
            <p:ph type="body" sz="quarter" idx="14"/>
          </p:nvPr>
        </p:nvSpPr>
        <p:spPr/>
        <p:txBody>
          <a:bodyPr/>
          <a:lstStyle/>
          <a:p>
            <a:r>
              <a:rPr lang="en-GB"/>
              <a:t>Learning control, </a:t>
            </a:r>
            <a:r>
              <a:rPr lang="en-US"/>
              <a:t>4SC070</a:t>
            </a:r>
          </a:p>
        </p:txBody>
      </p:sp>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8C23DD-A899-F1ED-19A2-C8A80517490D}"/>
              </a:ext>
            </a:extLst>
          </p:cNvPr>
          <p:cNvSpPr>
            <a:spLocks noGrp="1"/>
          </p:cNvSpPr>
          <p:nvPr>
            <p:ph type="title"/>
          </p:nvPr>
        </p:nvSpPr>
        <p:spPr>
          <a:xfrm>
            <a:off x="758825" y="441221"/>
            <a:ext cx="7556500" cy="539038"/>
          </a:xfrm>
        </p:spPr>
        <p:txBody>
          <a:bodyPr/>
          <a:lstStyle/>
          <a:p>
            <a:r>
              <a:rPr lang="en-GB"/>
              <a:t>Our approach</a:t>
            </a:r>
          </a:p>
        </p:txBody>
      </p:sp>
      <p:sp>
        <p:nvSpPr>
          <p:cNvPr id="4" name="Tijdelijke aanduiding voor voettekst 3">
            <a:extLst>
              <a:ext uri="{FF2B5EF4-FFF2-40B4-BE49-F238E27FC236}">
                <a16:creationId xmlns:a16="http://schemas.microsoft.com/office/drawing/2014/main" id="{2F023FF9-7B77-AB0E-5CB5-C0C12F9E9153}"/>
              </a:ext>
            </a:extLst>
          </p:cNvPr>
          <p:cNvSpPr>
            <a:spLocks noGrp="1"/>
          </p:cNvSpPr>
          <p:nvPr>
            <p:ph type="ftr" sz="quarter" idx="11"/>
          </p:nvPr>
        </p:nvSpPr>
        <p:spPr/>
        <p:txBody>
          <a:bodyPr/>
          <a:lstStyle/>
          <a:p>
            <a:endParaRPr lang="en-GB"/>
          </a:p>
          <a:p>
            <a:r>
              <a:rPr lang="en-GB"/>
              <a:t>Learning control, </a:t>
            </a:r>
            <a:r>
              <a:rPr lang="en-US"/>
              <a:t>4SC070</a:t>
            </a:r>
            <a:r>
              <a:rPr lang="en-GB"/>
              <a:t> – group 4</a:t>
            </a:r>
          </a:p>
          <a:p>
            <a:endParaRPr lang="en-GB"/>
          </a:p>
        </p:txBody>
      </p:sp>
      <p:sp>
        <p:nvSpPr>
          <p:cNvPr id="5" name="Tijdelijke aanduiding voor dianummer 4">
            <a:extLst>
              <a:ext uri="{FF2B5EF4-FFF2-40B4-BE49-F238E27FC236}">
                <a16:creationId xmlns:a16="http://schemas.microsoft.com/office/drawing/2014/main" id="{D717D1FB-58EC-B486-1A40-25485F461F5A}"/>
              </a:ext>
            </a:extLst>
          </p:cNvPr>
          <p:cNvSpPr>
            <a:spLocks noGrp="1"/>
          </p:cNvSpPr>
          <p:nvPr>
            <p:ph type="sldNum" sz="quarter" idx="12"/>
          </p:nvPr>
        </p:nvSpPr>
        <p:spPr/>
        <p:txBody>
          <a:bodyPr/>
          <a:lstStyle/>
          <a:p>
            <a:fld id="{C194BDB0-F4EA-4DD6-8281-CCE2440D0CE0}" type="slidenum">
              <a:rPr lang="en-GB" smtClean="0"/>
              <a:t>2</a:t>
            </a:fld>
            <a:endParaRPr lang="en-GB"/>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0B71487-334B-2EEC-2175-194E3B36618C}"/>
                  </a:ext>
                </a:extLst>
              </p:cNvPr>
              <p:cNvSpPr txBox="1"/>
              <p:nvPr/>
            </p:nvSpPr>
            <p:spPr>
              <a:xfrm>
                <a:off x="683606" y="1327839"/>
                <a:ext cx="6363380" cy="1962076"/>
              </a:xfrm>
              <a:prstGeom prst="rect">
                <a:avLst/>
              </a:prstGeom>
              <a:noFill/>
            </p:spPr>
            <p:txBody>
              <a:bodyPr wrap="square" lIns="91440" tIns="45720" rIns="91440" bIns="45720" rtlCol="0" anchor="t">
                <a:spAutoFit/>
              </a:bodyPr>
              <a:lstStyle/>
              <a:p>
                <a:pPr marL="285750" indent="-285750">
                  <a:buFont typeface="Arial"/>
                  <a:buChar char="•"/>
                </a:pPr>
                <a:r>
                  <a:rPr lang="en-US" dirty="0"/>
                  <a:t>Interaction cross coupling</a:t>
                </a:r>
                <a:endParaRPr lang="en-US" dirty="0">
                  <a:ea typeface="Calibri"/>
                  <a:cs typeface="Calibri"/>
                </a:endParaRPr>
              </a:p>
              <a:p>
                <a:pPr marL="285750" indent="-285750">
                  <a:buFont typeface="Arial"/>
                  <a:buChar char="•"/>
                </a:pPr>
                <a:r>
                  <a:rPr lang="en-US" dirty="0">
                    <a:ea typeface="Calibri"/>
                    <a:cs typeface="Calibri"/>
                  </a:rPr>
                  <a:t>Understanding SISO to MIMO to SIMO</a:t>
                </a:r>
              </a:p>
              <a:p>
                <a:pPr marL="628650" lvl="1" indent="-285750">
                  <a:buFont typeface="Courier New"/>
                  <a:buChar char="o"/>
                </a:pPr>
                <a:r>
                  <a:rPr lang="en-US" dirty="0">
                    <a:ea typeface="Calibri"/>
                    <a:cs typeface="Calibri"/>
                  </a:rPr>
                  <a:t>MIMO </a:t>
                </a:r>
                <a:r>
                  <a:rPr lang="en-US">
                    <a:ea typeface="Calibri"/>
                    <a:cs typeface="Calibri"/>
                  </a:rPr>
                  <a:t>&amp; SIMO </a:t>
                </a:r>
                <a:r>
                  <a:rPr lang="en-US" dirty="0">
                    <a:ea typeface="Calibri"/>
                    <a:cs typeface="Calibri"/>
                  </a:rPr>
                  <a:t>basis functions not obvious</a:t>
                </a:r>
              </a:p>
              <a:p>
                <a:pPr marL="285750" indent="-285750">
                  <a:buFont typeface="Arial"/>
                  <a:buChar char="•"/>
                </a:pPr>
                <a:r>
                  <a:rPr lang="en-US" dirty="0">
                    <a:ea typeface="Calibri"/>
                    <a:cs typeface="Calibri"/>
                  </a:rPr>
                  <a:t>Research directions</a:t>
                </a:r>
              </a:p>
              <a:p>
                <a:pPr marL="628650" lvl="1" indent="-285750">
                  <a:buFont typeface="Courier New"/>
                  <a:buChar char="o"/>
                </a:pPr>
                <a:r>
                  <a:rPr lang="en-US" dirty="0">
                    <a:ea typeface="Calibri"/>
                    <a:cs typeface="Calibri"/>
                  </a:rPr>
                  <a:t>Single Input Multiple Output Stacking</a:t>
                </a:r>
              </a:p>
              <a:p>
                <a:pPr marL="628650" lvl="1" indent="-285750">
                  <a:buFont typeface="Courier New"/>
                  <a:buChar char="o"/>
                </a:pPr>
                <a:r>
                  <a:rPr lang="en-US" dirty="0">
                    <a:ea typeface="Calibri"/>
                    <a:cs typeface="Calibri"/>
                  </a:rPr>
                  <a:t>Sequential updating of </a:t>
                </a:r>
                <a14:m>
                  <m:oMath xmlns:m="http://schemas.openxmlformats.org/officeDocument/2006/math">
                    <m:r>
                      <a:rPr lang="en-US" b="0" i="1" smtClean="0">
                        <a:latin typeface="Cambria Math" panose="02040503050406030204" pitchFamily="18" charset="0"/>
                        <a:ea typeface="Calibri"/>
                        <a:cs typeface="Calibri"/>
                      </a:rPr>
                      <m:t>𝑥</m:t>
                    </m:r>
                  </m:oMath>
                </a14:m>
                <a:r>
                  <a:rPr lang="en-US" dirty="0">
                    <a:ea typeface="Calibri"/>
                    <a:cs typeface="Calibri"/>
                  </a:rPr>
                  <a:t> and </a:t>
                </a:r>
                <a14:m>
                  <m:oMath xmlns:m="http://schemas.openxmlformats.org/officeDocument/2006/math">
                    <m:r>
                      <a:rPr lang="en-US" i="1" smtClean="0">
                        <a:latin typeface="Cambria Math" panose="02040503050406030204" pitchFamily="18" charset="0"/>
                        <a:ea typeface="Cambria Math" panose="02040503050406030204" pitchFamily="18" charset="0"/>
                        <a:cs typeface="Calibri"/>
                      </a:rPr>
                      <m:t>𝜑</m:t>
                    </m:r>
                  </m:oMath>
                </a14:m>
                <a:endParaRPr lang="en-US" dirty="0">
                  <a:ea typeface="Calibri"/>
                  <a:cs typeface="Calibri"/>
                </a:endParaRPr>
              </a:p>
              <a:p>
                <a:pPr marL="285750" indent="-285750">
                  <a:buFont typeface="Arial"/>
                  <a:buChar char="•"/>
                </a:pPr>
                <a:endParaRPr lang="en-US" dirty="0">
                  <a:ea typeface="Calibri"/>
                  <a:cs typeface="Calibri"/>
                </a:endParaRPr>
              </a:p>
              <a:p>
                <a:endParaRPr lang="en-US" dirty="0">
                  <a:ea typeface="Calibri"/>
                  <a:cs typeface="Calibri"/>
                </a:endParaRPr>
              </a:p>
              <a:p>
                <a:endParaRPr lang="en-US" dirty="0">
                  <a:ea typeface="Calibri"/>
                  <a:cs typeface="Calibri"/>
                </a:endParaRPr>
              </a:p>
            </p:txBody>
          </p:sp>
        </mc:Choice>
        <mc:Fallback xmlns="">
          <p:sp>
            <p:nvSpPr>
              <p:cNvPr id="16" name="TextBox 15">
                <a:extLst>
                  <a:ext uri="{FF2B5EF4-FFF2-40B4-BE49-F238E27FC236}">
                    <a16:creationId xmlns:a16="http://schemas.microsoft.com/office/drawing/2014/main" id="{10B71487-334B-2EEC-2175-194E3B36618C}"/>
                  </a:ext>
                </a:extLst>
              </p:cNvPr>
              <p:cNvSpPr txBox="1">
                <a:spLocks noRot="1" noChangeAspect="1" noMove="1" noResize="1" noEditPoints="1" noAdjustHandles="1" noChangeArrowheads="1" noChangeShapeType="1" noTextEdit="1"/>
              </p:cNvSpPr>
              <p:nvPr/>
            </p:nvSpPr>
            <p:spPr>
              <a:xfrm>
                <a:off x="683606" y="1327839"/>
                <a:ext cx="6363380" cy="1962076"/>
              </a:xfrm>
              <a:prstGeom prst="rect">
                <a:avLst/>
              </a:prstGeom>
              <a:blipFill>
                <a:blip r:embed="rId3"/>
                <a:stretch>
                  <a:fillRect l="-96" t="-621"/>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23BFC943-9450-D7B1-B8D5-D58D81D2CE5B}"/>
              </a:ext>
            </a:extLst>
          </p:cNvPr>
          <p:cNvPicPr>
            <a:picLocks noChangeAspect="1"/>
          </p:cNvPicPr>
          <p:nvPr/>
        </p:nvPicPr>
        <p:blipFill>
          <a:blip r:embed="rId4"/>
          <a:stretch>
            <a:fillRect/>
          </a:stretch>
        </p:blipFill>
        <p:spPr>
          <a:xfrm>
            <a:off x="4444231" y="1429798"/>
            <a:ext cx="4605564" cy="1969975"/>
          </a:xfrm>
          <a:prstGeom prst="rect">
            <a:avLst/>
          </a:prstGeom>
        </p:spPr>
      </p:pic>
    </p:spTree>
    <p:extLst>
      <p:ext uri="{BB962C8B-B14F-4D97-AF65-F5344CB8AC3E}">
        <p14:creationId xmlns:p14="http://schemas.microsoft.com/office/powerpoint/2010/main" val="2549337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A696D-755D-C13C-1015-48B3E7FB03EB}"/>
            </a:ext>
          </a:extLst>
        </p:cNvPr>
        <p:cNvGrpSpPr/>
        <p:nvPr/>
      </p:nvGrpSpPr>
      <p:grpSpPr>
        <a:xfrm>
          <a:off x="0" y="0"/>
          <a:ext cx="0" cy="0"/>
          <a:chOff x="0" y="0"/>
          <a:chExt cx="0" cy="0"/>
        </a:xfrm>
      </p:grpSpPr>
      <p:sp>
        <p:nvSpPr>
          <p:cNvPr id="15" name="Oval 14">
            <a:extLst>
              <a:ext uri="{FF2B5EF4-FFF2-40B4-BE49-F238E27FC236}">
                <a16:creationId xmlns:a16="http://schemas.microsoft.com/office/drawing/2014/main" id="{1FE04E1F-3262-DCE9-C5F6-D51F48AA2B32}"/>
              </a:ext>
            </a:extLst>
          </p:cNvPr>
          <p:cNvSpPr/>
          <p:nvPr/>
        </p:nvSpPr>
        <p:spPr>
          <a:xfrm>
            <a:off x="2970556" y="1504339"/>
            <a:ext cx="538717" cy="366764"/>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DCECFA6C-651A-0EE7-949C-FFCB60B3E7E9}"/>
              </a:ext>
            </a:extLst>
          </p:cNvPr>
          <p:cNvSpPr>
            <a:spLocks noGrp="1"/>
          </p:cNvSpPr>
          <p:nvPr>
            <p:ph type="title"/>
          </p:nvPr>
        </p:nvSpPr>
        <p:spPr/>
        <p:txBody>
          <a:bodyPr/>
          <a:lstStyle/>
          <a:p>
            <a:r>
              <a:rPr lang="en-US"/>
              <a:t>Choosing basis functions - Derivation</a:t>
            </a:r>
            <a:endParaRPr lang="en-NL"/>
          </a:p>
        </p:txBody>
      </p:sp>
      <p:sp>
        <p:nvSpPr>
          <p:cNvPr id="4" name="Footer Placeholder 3">
            <a:extLst>
              <a:ext uri="{FF2B5EF4-FFF2-40B4-BE49-F238E27FC236}">
                <a16:creationId xmlns:a16="http://schemas.microsoft.com/office/drawing/2014/main" id="{92041FA2-E934-955D-A34E-BEB702ADE4B0}"/>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AE772AF7-6A2B-C1DE-BE67-42E3883FBED1}"/>
              </a:ext>
            </a:extLst>
          </p:cNvPr>
          <p:cNvSpPr>
            <a:spLocks noGrp="1"/>
          </p:cNvSpPr>
          <p:nvPr>
            <p:ph type="sldNum" sz="quarter" idx="12"/>
          </p:nvPr>
        </p:nvSpPr>
        <p:spPr/>
        <p:txBody>
          <a:bodyPr/>
          <a:lstStyle/>
          <a:p>
            <a:fld id="{C194BDB0-F4EA-4DD6-8281-CCE2440D0CE0}" type="slidenum">
              <a:rPr lang="en-GB" smtClean="0"/>
              <a:t>3</a:t>
            </a:fld>
            <a:endParaRPr lang="en-GB"/>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30364B4-DDCB-96D7-E4A4-10BD5F82F5FF}"/>
                  </a:ext>
                </a:extLst>
              </p:cNvPr>
              <p:cNvSpPr txBox="1"/>
              <p:nvPr/>
            </p:nvSpPr>
            <p:spPr>
              <a:xfrm>
                <a:off x="344541" y="1369536"/>
                <a:ext cx="2031356" cy="2392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L" i="1" smtClean="0">
                              <a:latin typeface="Cambria Math" panose="02040503050406030204" pitchFamily="18" charset="0"/>
                            </a:rPr>
                          </m:ctrlPr>
                        </m:sSubPr>
                        <m:e>
                          <m:r>
                            <a:rPr lang="en-NL" i="1">
                              <a:latin typeface="Cambria Math" panose="02040503050406030204" pitchFamily="18" charset="0"/>
                            </a:rPr>
                            <m:t>𝑒</m:t>
                          </m:r>
                        </m:e>
                        <m:sub>
                          <m:r>
                            <a:rPr lang="en-NL" i="1">
                              <a:latin typeface="Cambria Math" panose="02040503050406030204" pitchFamily="18" charset="0"/>
                            </a:rPr>
                            <m:t>𝑦</m:t>
                          </m:r>
                        </m:sub>
                      </m:sSub>
                      <m:r>
                        <a:rPr lang="en-NL" i="0">
                          <a:latin typeface="Cambria Math" panose="02040503050406030204" pitchFamily="18" charset="0"/>
                        </a:rPr>
                        <m:t>=</m:t>
                      </m:r>
                      <m:r>
                        <a:rPr lang="en-NL" i="1">
                          <a:latin typeface="Cambria Math" panose="02040503050406030204" pitchFamily="18" charset="0"/>
                        </a:rPr>
                        <m:t>𝑆</m:t>
                      </m:r>
                      <m:d>
                        <m:dPr>
                          <m:ctrlPr>
                            <a:rPr lang="en-NL" i="1">
                              <a:latin typeface="Cambria Math" panose="02040503050406030204" pitchFamily="18" charset="0"/>
                            </a:rPr>
                          </m:ctrlPr>
                        </m:dP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𝑦</m:t>
                              </m:r>
                            </m:sub>
                          </m:sSub>
                          <m:r>
                            <a:rPr lang="en-NL" i="0">
                              <a:latin typeface="Cambria Math" panose="02040503050406030204" pitchFamily="18" charset="0"/>
                            </a:rPr>
                            <m:t>−</m:t>
                          </m:r>
                          <m:r>
                            <a:rPr lang="en-NL" i="1">
                              <a:latin typeface="Cambria Math" panose="02040503050406030204" pitchFamily="18" charset="0"/>
                            </a:rPr>
                            <m:t>𝑃</m:t>
                          </m:r>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𝑓𝑓</m:t>
                              </m:r>
                            </m:sub>
                          </m:sSub>
                        </m:e>
                      </m:d>
                      <m:r>
                        <a:rPr lang="en-NL" i="1">
                          <a:latin typeface="Cambria Math" panose="02040503050406030204" pitchFamily="18" charset="0"/>
                        </a:rPr>
                        <m:t>𝑟</m:t>
                      </m:r>
                    </m:oMath>
                  </m:oMathPara>
                </a14:m>
                <a:endParaRPr lang="en-NL"/>
              </a:p>
            </p:txBody>
          </p:sp>
        </mc:Choice>
        <mc:Fallback xmlns="">
          <p:sp>
            <p:nvSpPr>
              <p:cNvPr id="6" name="TextBox 5">
                <a:extLst>
                  <a:ext uri="{FF2B5EF4-FFF2-40B4-BE49-F238E27FC236}">
                    <a16:creationId xmlns:a16="http://schemas.microsoft.com/office/drawing/2014/main" id="{630364B4-DDCB-96D7-E4A4-10BD5F82F5FF}"/>
                  </a:ext>
                </a:extLst>
              </p:cNvPr>
              <p:cNvSpPr txBox="1">
                <a:spLocks noRot="1" noChangeAspect="1" noMove="1" noResize="1" noEditPoints="1" noAdjustHandles="1" noChangeArrowheads="1" noChangeShapeType="1" noTextEdit="1"/>
              </p:cNvSpPr>
              <p:nvPr/>
            </p:nvSpPr>
            <p:spPr>
              <a:xfrm>
                <a:off x="344541" y="1369536"/>
                <a:ext cx="2031356" cy="239296"/>
              </a:xfrm>
              <a:prstGeom prst="rect">
                <a:avLst/>
              </a:prstGeom>
              <a:blipFill>
                <a:blip r:embed="rId3"/>
                <a:stretch>
                  <a:fillRect b="-2307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7026083A-A6D3-620B-E39B-6012D0EC3881}"/>
                  </a:ext>
                </a:extLst>
              </p14:cNvPr>
              <p14:cNvContentPartPr/>
              <p14:nvPr/>
            </p14:nvContentPartPr>
            <p14:xfrm>
              <a:off x="2362757" y="2896925"/>
              <a:ext cx="26280" cy="10440"/>
            </p14:xfrm>
          </p:contentPart>
        </mc:Choice>
        <mc:Fallback xmlns="">
          <p:pic>
            <p:nvPicPr>
              <p:cNvPr id="7" name="Ink 6">
                <a:extLst>
                  <a:ext uri="{FF2B5EF4-FFF2-40B4-BE49-F238E27FC236}">
                    <a16:creationId xmlns:a16="http://schemas.microsoft.com/office/drawing/2014/main" id="{7026083A-A6D3-620B-E39B-6012D0EC3881}"/>
                  </a:ext>
                </a:extLst>
              </p:cNvPr>
              <p:cNvPicPr/>
              <p:nvPr/>
            </p:nvPicPr>
            <p:blipFill>
              <a:blip r:embed="rId5"/>
              <a:stretch>
                <a:fillRect/>
              </a:stretch>
            </p:blipFill>
            <p:spPr>
              <a:xfrm>
                <a:off x="2353757" y="2887925"/>
                <a:ext cx="439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55FEF54-4263-1574-9B34-CCFB8C73F969}"/>
                  </a:ext>
                </a:extLst>
              </p14:cNvPr>
              <p14:cNvContentPartPr/>
              <p14:nvPr/>
            </p14:nvContentPartPr>
            <p14:xfrm>
              <a:off x="1173567" y="1612815"/>
              <a:ext cx="743040" cy="95040"/>
            </p14:xfrm>
          </p:contentPart>
        </mc:Choice>
        <mc:Fallback xmlns="">
          <p:pic>
            <p:nvPicPr>
              <p:cNvPr id="8" name="Ink 7">
                <a:extLst>
                  <a:ext uri="{FF2B5EF4-FFF2-40B4-BE49-F238E27FC236}">
                    <a16:creationId xmlns:a16="http://schemas.microsoft.com/office/drawing/2014/main" id="{755FEF54-4263-1574-9B34-CCFB8C73F969}"/>
                  </a:ext>
                </a:extLst>
              </p:cNvPr>
              <p:cNvPicPr/>
              <p:nvPr/>
            </p:nvPicPr>
            <p:blipFill>
              <a:blip r:embed="rId7"/>
              <a:stretch>
                <a:fillRect/>
              </a:stretch>
            </p:blipFill>
            <p:spPr>
              <a:xfrm>
                <a:off x="1164567" y="1603815"/>
                <a:ext cx="760680" cy="112680"/>
              </a:xfrm>
              <a:prstGeom prst="rect">
                <a:avLst/>
              </a:prstGeom>
            </p:spPr>
          </p:pic>
        </mc:Fallback>
      </mc:AlternateContent>
      <p:sp>
        <p:nvSpPr>
          <p:cNvPr id="19" name="TextBox 18">
            <a:extLst>
              <a:ext uri="{FF2B5EF4-FFF2-40B4-BE49-F238E27FC236}">
                <a16:creationId xmlns:a16="http://schemas.microsoft.com/office/drawing/2014/main" id="{4F935932-690C-DCCC-A2E7-711963D4B6BE}"/>
              </a:ext>
            </a:extLst>
          </p:cNvPr>
          <p:cNvSpPr txBox="1"/>
          <p:nvPr/>
        </p:nvSpPr>
        <p:spPr>
          <a:xfrm>
            <a:off x="1365390" y="1660860"/>
            <a:ext cx="359394" cy="300082"/>
          </a:xfrm>
          <a:prstGeom prst="rect">
            <a:avLst/>
          </a:prstGeom>
          <a:noFill/>
        </p:spPr>
        <p:txBody>
          <a:bodyPr wrap="none" rtlCol="0">
            <a:spAutoFit/>
          </a:bodyPr>
          <a:lstStyle/>
          <a:p>
            <a:r>
              <a:rPr lang="en-US"/>
              <a:t>=0</a:t>
            </a:r>
            <a:endParaRPr lang="en-NL"/>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32E193D-914D-3B27-4BB5-1640DB80CAAC}"/>
                  </a:ext>
                </a:extLst>
              </p:cNvPr>
              <p:cNvSpPr txBox="1"/>
              <p:nvPr/>
            </p:nvSpPr>
            <p:spPr>
              <a:xfrm>
                <a:off x="2918587" y="1308907"/>
                <a:ext cx="3396507" cy="4623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NL" i="1">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𝑦</m:t>
                                    </m:r>
                                    <m:r>
                                      <a:rPr lang="en-NL">
                                        <a:latin typeface="Cambria Math" panose="02040503050406030204" pitchFamily="18" charset="0"/>
                                      </a:rPr>
                                      <m:t>,</m:t>
                                    </m:r>
                                    <m:r>
                                      <a:rPr lang="en-NL" i="1">
                                        <a:latin typeface="Cambria Math" panose="02040503050406030204" pitchFamily="18" charset="0"/>
                                      </a:rPr>
                                      <m:t>𝑥𝑥</m:t>
                                    </m:r>
                                  </m:sub>
                                </m:sSub>
                              </m:e>
                              <m:e>
                                <m:r>
                                  <a:rPr lang="en-US" b="0" i="1" smtClean="0">
                                    <a:latin typeface="Cambria Math" panose="02040503050406030204" pitchFamily="18" charset="0"/>
                                  </a:rPr>
                                  <m:t>0</m:t>
                                </m:r>
                              </m:e>
                            </m:mr>
                            <m:m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𝑦</m:t>
                                    </m:r>
                                    <m:r>
                                      <a:rPr lang="en-NL">
                                        <a:latin typeface="Cambria Math" panose="02040503050406030204" pitchFamily="18" charset="0"/>
                                      </a:rPr>
                                      <m:t>,</m:t>
                                    </m:r>
                                    <m:r>
                                      <a:rPr lang="en-NL" i="1">
                                        <a:latin typeface="Cambria Math" panose="02040503050406030204" pitchFamily="18" charset="0"/>
                                      </a:rPr>
                                      <m:t>𝑥</m:t>
                                    </m:r>
                                    <m:r>
                                      <a:rPr lang="en-NL" i="1">
                                        <a:latin typeface="Cambria Math" panose="02040503050406030204" pitchFamily="18" charset="0"/>
                                      </a:rPr>
                                      <m:t>𝜑</m:t>
                                    </m:r>
                                  </m:sub>
                                </m:sSub>
                              </m:e>
                              <m:e>
                                <m:r>
                                  <a:rPr lang="en-NL">
                                    <a:latin typeface="Cambria Math" panose="02040503050406030204" pitchFamily="18" charset="0"/>
                                  </a:rPr>
                                  <m:t>1</m:t>
                                </m:r>
                              </m:e>
                            </m:mr>
                          </m:m>
                        </m:e>
                      </m:d>
                      <m:r>
                        <a:rPr lang="en-US" b="0" i="0" smtClean="0">
                          <a:latin typeface="Cambria Math" panose="02040503050406030204" pitchFamily="18" charset="0"/>
                        </a:rPr>
                        <m:t>−</m:t>
                      </m:r>
                      <m:d>
                        <m:dPr>
                          <m:begChr m:val="["/>
                          <m:endChr m:val="]"/>
                          <m:ctrlPr>
                            <a:rPr lang="en-NL" i="1" smtClean="0">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NL">
                                        <a:latin typeface="Cambria Math" panose="02040503050406030204" pitchFamily="18" charset="0"/>
                                      </a:rPr>
                                      <m:t>11</m:t>
                                    </m:r>
                                  </m:sub>
                                </m:sSub>
                              </m:e>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NL">
                                        <a:latin typeface="Cambria Math" panose="02040503050406030204" pitchFamily="18" charset="0"/>
                                      </a:rPr>
                                      <m:t>12</m:t>
                                    </m:r>
                                  </m:sub>
                                </m:sSub>
                              </m:e>
                            </m:mr>
                            <m:mr>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US" b="0" i="0" smtClean="0">
                                        <a:latin typeface="Cambria Math" panose="02040503050406030204" pitchFamily="18" charset="0"/>
                                      </a:rPr>
                                      <m:t>2</m:t>
                                    </m:r>
                                    <m:r>
                                      <a:rPr lang="en-NL">
                                        <a:latin typeface="Cambria Math" panose="02040503050406030204" pitchFamily="18" charset="0"/>
                                      </a:rPr>
                                      <m:t>1</m:t>
                                    </m:r>
                                  </m:sub>
                                </m:sSub>
                              </m:e>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NL">
                                        <a:latin typeface="Cambria Math" panose="02040503050406030204" pitchFamily="18" charset="0"/>
                                      </a:rPr>
                                      <m:t>22</m:t>
                                    </m:r>
                                  </m:sub>
                                </m:sSub>
                              </m:e>
                            </m:mr>
                          </m:m>
                        </m:e>
                      </m:d>
                      <m:d>
                        <m:dPr>
                          <m:begChr m:val="["/>
                          <m:endChr m:val="]"/>
                          <m:ctrlPr>
                            <a:rPr lang="en-NL" i="1">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𝑓</m:t>
                                    </m:r>
                                    <m:r>
                                      <a:rPr lang="en-NL" i="1" smtClean="0">
                                        <a:latin typeface="Cambria Math" panose="02040503050406030204" pitchFamily="18" charset="0"/>
                                      </a:rPr>
                                      <m:t>𝑓</m:t>
                                    </m:r>
                                    <m:r>
                                      <a:rPr lang="en-NL" i="0">
                                        <a:latin typeface="Cambria Math" panose="02040503050406030204" pitchFamily="18" charset="0"/>
                                      </a:rPr>
                                      <m:t>,</m:t>
                                    </m:r>
                                    <m:r>
                                      <a:rPr lang="en-NL" i="1">
                                        <a:latin typeface="Cambria Math" panose="02040503050406030204" pitchFamily="18" charset="0"/>
                                      </a:rPr>
                                      <m:t>𝑥𝑥</m:t>
                                    </m:r>
                                  </m:sub>
                                </m:sSub>
                              </m:e>
                              <m:e>
                                <m:r>
                                  <a:rPr lang="en-NL" i="0">
                                    <a:latin typeface="Cambria Math" panose="02040503050406030204" pitchFamily="18" charset="0"/>
                                  </a:rPr>
                                  <m:t>0</m:t>
                                </m:r>
                              </m:e>
                            </m:mr>
                            <m:m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𝑓</m:t>
                                    </m:r>
                                    <m:sSub>
                                      <m:sSubPr>
                                        <m:ctrlPr>
                                          <a:rPr lang="en-NL" i="1">
                                            <a:latin typeface="Cambria Math" panose="02040503050406030204" pitchFamily="18" charset="0"/>
                                          </a:rPr>
                                        </m:ctrlPr>
                                      </m:sSubPr>
                                      <m:e>
                                        <m:r>
                                          <a:rPr lang="en-NL" i="1">
                                            <a:latin typeface="Cambria Math" panose="02040503050406030204" pitchFamily="18" charset="0"/>
                                          </a:rPr>
                                          <m:t>𝑓</m:t>
                                        </m:r>
                                      </m:e>
                                      <m:sub>
                                        <m:r>
                                          <a:rPr lang="en-US" b="0" i="0" smtClean="0">
                                            <a:latin typeface="Cambria Math" panose="02040503050406030204" pitchFamily="18" charset="0"/>
                                          </a:rPr>
                                          <m:t>,</m:t>
                                        </m:r>
                                      </m:sub>
                                    </m:sSub>
                                    <m:r>
                                      <a:rPr lang="en-NL" i="1">
                                        <a:latin typeface="Cambria Math" panose="02040503050406030204" pitchFamily="18" charset="0"/>
                                      </a:rPr>
                                      <m:t>𝑥</m:t>
                                    </m:r>
                                    <m:r>
                                      <a:rPr lang="en-NL" i="1">
                                        <a:latin typeface="Cambria Math" panose="02040503050406030204" pitchFamily="18" charset="0"/>
                                      </a:rPr>
                                      <m:t>𝜑</m:t>
                                    </m:r>
                                  </m:sub>
                                </m:sSub>
                              </m:e>
                              <m:e>
                                <m:r>
                                  <a:rPr lang="en-NL" i="0">
                                    <a:latin typeface="Cambria Math" panose="02040503050406030204" pitchFamily="18" charset="0"/>
                                  </a:rPr>
                                  <m:t>0</m:t>
                                </m:r>
                              </m:e>
                            </m:mr>
                          </m:m>
                        </m:e>
                      </m:d>
                      <m:r>
                        <a:rPr lang="en-US" b="0" i="1" smtClean="0">
                          <a:latin typeface="Cambria Math" panose="02040503050406030204" pitchFamily="18" charset="0"/>
                        </a:rPr>
                        <m:t>=</m:t>
                      </m:r>
                      <m:d>
                        <m:dPr>
                          <m:begChr m:val="["/>
                          <m:endChr m:val="]"/>
                          <m:ctrlPr>
                            <a:rPr lang="en-NL" i="1">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r>
                                  <a:rPr lang="en-US" b="0" i="1" smtClean="0">
                                    <a:latin typeface="Cambria Math" panose="02040503050406030204" pitchFamily="18" charset="0"/>
                                  </a:rPr>
                                  <m:t>0</m:t>
                                </m:r>
                              </m:e>
                              <m:e>
                                <m:r>
                                  <a:rPr lang="en-US" i="1">
                                    <a:latin typeface="Cambria Math" panose="02040503050406030204" pitchFamily="18" charset="0"/>
                                  </a:rPr>
                                  <m:t>0</m:t>
                                </m:r>
                              </m:e>
                            </m:mr>
                            <m:mr>
                              <m:e>
                                <m:r>
                                  <a:rPr lang="en-US" b="0" i="1" smtClean="0">
                                    <a:latin typeface="Cambria Math" panose="02040503050406030204" pitchFamily="18" charset="0"/>
                                  </a:rPr>
                                  <m:t>0</m:t>
                                </m:r>
                              </m:e>
                              <m:e>
                                <m:r>
                                  <a:rPr lang="en-US" b="0" i="0" smtClean="0">
                                    <a:latin typeface="Cambria Math" panose="02040503050406030204" pitchFamily="18" charset="0"/>
                                  </a:rPr>
                                  <m:t>0</m:t>
                                </m:r>
                              </m:e>
                            </m:mr>
                          </m:m>
                        </m:e>
                      </m:d>
                    </m:oMath>
                  </m:oMathPara>
                </a14:m>
                <a:endParaRPr lang="en-NL"/>
              </a:p>
            </p:txBody>
          </p:sp>
        </mc:Choice>
        <mc:Fallback xmlns="">
          <p:sp>
            <p:nvSpPr>
              <p:cNvPr id="20" name="TextBox 19">
                <a:extLst>
                  <a:ext uri="{FF2B5EF4-FFF2-40B4-BE49-F238E27FC236}">
                    <a16:creationId xmlns:a16="http://schemas.microsoft.com/office/drawing/2014/main" id="{632E193D-914D-3B27-4BB5-1640DB80CAAC}"/>
                  </a:ext>
                </a:extLst>
              </p:cNvPr>
              <p:cNvSpPr txBox="1">
                <a:spLocks noRot="1" noChangeAspect="1" noMove="1" noResize="1" noEditPoints="1" noAdjustHandles="1" noChangeArrowheads="1" noChangeShapeType="1" noTextEdit="1"/>
              </p:cNvSpPr>
              <p:nvPr/>
            </p:nvSpPr>
            <p:spPr>
              <a:xfrm>
                <a:off x="2918587" y="1308907"/>
                <a:ext cx="3396507" cy="462371"/>
              </a:xfrm>
              <a:prstGeom prst="rect">
                <a:avLst/>
              </a:prstGeom>
              <a:blipFill>
                <a:blip r:embed="rId8"/>
                <a:stretch>
                  <a:fillRect b="-6579"/>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94B10E00-4FF6-3F2E-0EE1-F9A77497879D}"/>
                  </a:ext>
                </a:extLst>
              </p14:cNvPr>
              <p14:cNvContentPartPr/>
              <p14:nvPr/>
            </p14:nvContentPartPr>
            <p14:xfrm>
              <a:off x="2185842" y="1511655"/>
              <a:ext cx="646920" cy="720"/>
            </p14:xfrm>
          </p:contentPart>
        </mc:Choice>
        <mc:Fallback xmlns="">
          <p:pic>
            <p:nvPicPr>
              <p:cNvPr id="22" name="Ink 21">
                <a:extLst>
                  <a:ext uri="{FF2B5EF4-FFF2-40B4-BE49-F238E27FC236}">
                    <a16:creationId xmlns:a16="http://schemas.microsoft.com/office/drawing/2014/main" id="{94B10E00-4FF6-3F2E-0EE1-F9A77497879D}"/>
                  </a:ext>
                </a:extLst>
              </p:cNvPr>
              <p:cNvPicPr/>
              <p:nvPr/>
            </p:nvPicPr>
            <p:blipFill>
              <a:blip r:embed="rId10"/>
              <a:stretch>
                <a:fillRect/>
              </a:stretch>
            </p:blipFill>
            <p:spPr>
              <a:xfrm>
                <a:off x="2176842" y="1493655"/>
                <a:ext cx="664560" cy="36000"/>
              </a:xfrm>
              <a:prstGeom prst="rect">
                <a:avLst/>
              </a:prstGeom>
            </p:spPr>
          </p:pic>
        </mc:Fallback>
      </mc:AlternateContent>
      <p:grpSp>
        <p:nvGrpSpPr>
          <p:cNvPr id="29" name="Group 28">
            <a:extLst>
              <a:ext uri="{FF2B5EF4-FFF2-40B4-BE49-F238E27FC236}">
                <a16:creationId xmlns:a16="http://schemas.microsoft.com/office/drawing/2014/main" id="{30784E2A-6820-89D2-0606-6F7F9E5C498D}"/>
              </a:ext>
            </a:extLst>
          </p:cNvPr>
          <p:cNvGrpSpPr/>
          <p:nvPr/>
        </p:nvGrpSpPr>
        <p:grpSpPr>
          <a:xfrm>
            <a:off x="2732890" y="1452433"/>
            <a:ext cx="112680" cy="112320"/>
            <a:chOff x="2830855" y="1318787"/>
            <a:chExt cx="112680" cy="112320"/>
          </a:xfrm>
        </p:grpSpPr>
        <mc:AlternateContent xmlns:mc="http://schemas.openxmlformats.org/markup-compatibility/2006" xmlns:p14="http://schemas.microsoft.com/office/powerpoint/2010/main">
          <mc:Choice Requires="p14">
            <p:contentPart p14:bwMode="auto" r:id="rId11">
              <p14:nvContentPartPr>
                <p14:cNvPr id="27" name="Ink 26">
                  <a:extLst>
                    <a:ext uri="{FF2B5EF4-FFF2-40B4-BE49-F238E27FC236}">
                      <a16:creationId xmlns:a16="http://schemas.microsoft.com/office/drawing/2014/main" id="{918AD3DF-4F80-A312-27EA-84EF548604E4}"/>
                    </a:ext>
                  </a:extLst>
                </p14:cNvPr>
                <p14:cNvContentPartPr/>
                <p14:nvPr/>
              </p14:nvContentPartPr>
              <p14:xfrm>
                <a:off x="2830855" y="1381787"/>
                <a:ext cx="98640" cy="49320"/>
              </p14:xfrm>
            </p:contentPart>
          </mc:Choice>
          <mc:Fallback xmlns="">
            <p:pic>
              <p:nvPicPr>
                <p:cNvPr id="27" name="Ink 26">
                  <a:extLst>
                    <a:ext uri="{FF2B5EF4-FFF2-40B4-BE49-F238E27FC236}">
                      <a16:creationId xmlns:a16="http://schemas.microsoft.com/office/drawing/2014/main" id="{918AD3DF-4F80-A312-27EA-84EF548604E4}"/>
                    </a:ext>
                  </a:extLst>
                </p:cNvPr>
                <p:cNvPicPr/>
                <p:nvPr/>
              </p:nvPicPr>
              <p:blipFill>
                <a:blip r:embed="rId12"/>
                <a:stretch>
                  <a:fillRect/>
                </a:stretch>
              </p:blipFill>
              <p:spPr>
                <a:xfrm>
                  <a:off x="2821888" y="1372787"/>
                  <a:ext cx="116216"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8" name="Ink 27">
                  <a:extLst>
                    <a:ext uri="{FF2B5EF4-FFF2-40B4-BE49-F238E27FC236}">
                      <a16:creationId xmlns:a16="http://schemas.microsoft.com/office/drawing/2014/main" id="{F9A6E0C6-7AD9-4850-7206-D4899977E5C2}"/>
                    </a:ext>
                  </a:extLst>
                </p14:cNvPr>
                <p14:cNvContentPartPr/>
                <p14:nvPr/>
              </p14:nvContentPartPr>
              <p14:xfrm>
                <a:off x="2839855" y="1318787"/>
                <a:ext cx="103680" cy="62640"/>
              </p14:xfrm>
            </p:contentPart>
          </mc:Choice>
          <mc:Fallback xmlns="">
            <p:pic>
              <p:nvPicPr>
                <p:cNvPr id="28" name="Ink 27">
                  <a:extLst>
                    <a:ext uri="{FF2B5EF4-FFF2-40B4-BE49-F238E27FC236}">
                      <a16:creationId xmlns:a16="http://schemas.microsoft.com/office/drawing/2014/main" id="{F9A6E0C6-7AD9-4850-7206-D4899977E5C2}"/>
                    </a:ext>
                  </a:extLst>
                </p:cNvPr>
                <p:cNvPicPr/>
                <p:nvPr/>
              </p:nvPicPr>
              <p:blipFill>
                <a:blip r:embed="rId14"/>
                <a:stretch>
                  <a:fillRect/>
                </a:stretch>
              </p:blipFill>
              <p:spPr>
                <a:xfrm>
                  <a:off x="2830824" y="1309787"/>
                  <a:ext cx="121381" cy="80280"/>
                </a:xfrm>
                <a:prstGeom prst="rect">
                  <a:avLst/>
                </a:prstGeom>
              </p:spPr>
            </p:pic>
          </mc:Fallback>
        </mc:AlternateContent>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2A69B3C-7EA2-EBA8-205C-E20239DB8BF8}"/>
                  </a:ext>
                </a:extLst>
              </p:cNvPr>
              <p:cNvSpPr txBox="1"/>
              <p:nvPr/>
            </p:nvSpPr>
            <p:spPr>
              <a:xfrm>
                <a:off x="7036540" y="1329829"/>
                <a:ext cx="1220975" cy="33752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NL" i="1" smtClean="0">
                              <a:latin typeface="Cambria Math" panose="02040503050406030204" pitchFamily="18" charset="0"/>
                            </a:rPr>
                          </m:ctrlPr>
                        </m:sSupPr>
                        <m:e>
                          <m:r>
                            <a:rPr lang="en-NL" i="1">
                              <a:latin typeface="Cambria Math" panose="02040503050406030204" pitchFamily="18" charset="0"/>
                            </a:rPr>
                            <m:t>𝑃</m:t>
                          </m:r>
                        </m:e>
                        <m:sup>
                          <m:r>
                            <a:rPr lang="en-US" b="0" i="1" smtClean="0">
                              <a:latin typeface="Cambria Math" panose="02040503050406030204" pitchFamily="18" charset="0"/>
                            </a:rPr>
                            <m:t>−1</m:t>
                          </m:r>
                        </m:sup>
                      </m:sSup>
                      <m:r>
                        <a:rPr lang="en-US" b="0" i="0" smtClean="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𝑓𝑓</m:t>
                          </m:r>
                        </m:sub>
                      </m:sSub>
                      <m:sSup>
                        <m:sSupPr>
                          <m:ctrlPr>
                            <a:rPr lang="en-NL" i="1" smtClean="0">
                              <a:latin typeface="Cambria Math" panose="02040503050406030204" pitchFamily="18" charset="0"/>
                            </a:rPr>
                          </m:ctrlPr>
                        </m:sSupPr>
                        <m:e>
                          <m:sSub>
                            <m:sSubPr>
                              <m:ctrlPr>
                                <a:rPr lang="en-NL" i="1">
                                  <a:latin typeface="Cambria Math" panose="02040503050406030204" pitchFamily="18" charset="0"/>
                                </a:rPr>
                              </m:ctrlPr>
                            </m:sSubPr>
                            <m:e>
                              <m:r>
                                <a:rPr lang="en-NL" i="1">
                                  <a:latin typeface="Cambria Math" panose="02040503050406030204" pitchFamily="18" charset="0"/>
                                </a:rPr>
                                <m:t>𝐶</m:t>
                              </m:r>
                            </m:e>
                            <m:sub>
                              <m:r>
                                <m:rPr>
                                  <m:sty m:val="p"/>
                                </m:rPr>
                                <a:rPr lang="en-US" i="1">
                                  <a:latin typeface="Cambria Math" panose="02040503050406030204" pitchFamily="18" charset="0"/>
                                </a:rPr>
                                <m:t>y</m:t>
                              </m:r>
                            </m:sub>
                          </m:sSub>
                        </m:e>
                        <m:sup>
                          <m:r>
                            <a:rPr lang="en-US" b="0" i="1" smtClean="0">
                              <a:latin typeface="Cambria Math" panose="02040503050406030204" pitchFamily="18" charset="0"/>
                            </a:rPr>
                            <m:t>−1</m:t>
                          </m:r>
                        </m:sup>
                      </m:sSup>
                    </m:oMath>
                  </m:oMathPara>
                </a14:m>
                <a:endParaRPr lang="en-NL"/>
              </a:p>
            </p:txBody>
          </p:sp>
        </mc:Choice>
        <mc:Fallback xmlns="">
          <p:sp>
            <p:nvSpPr>
              <p:cNvPr id="30" name="TextBox 29">
                <a:extLst>
                  <a:ext uri="{FF2B5EF4-FFF2-40B4-BE49-F238E27FC236}">
                    <a16:creationId xmlns:a16="http://schemas.microsoft.com/office/drawing/2014/main" id="{42A69B3C-7EA2-EBA8-205C-E20239DB8BF8}"/>
                  </a:ext>
                </a:extLst>
              </p:cNvPr>
              <p:cNvSpPr txBox="1">
                <a:spLocks noRot="1" noChangeAspect="1" noMove="1" noResize="1" noEditPoints="1" noAdjustHandles="1" noChangeArrowheads="1" noChangeShapeType="1" noTextEdit="1"/>
              </p:cNvSpPr>
              <p:nvPr/>
            </p:nvSpPr>
            <p:spPr>
              <a:xfrm>
                <a:off x="7036540" y="1329829"/>
                <a:ext cx="1220975" cy="337528"/>
              </a:xfrm>
              <a:prstGeom prst="rect">
                <a:avLst/>
              </a:prstGeom>
              <a:blipFill>
                <a:blip r:embed="rId15"/>
                <a:stretch>
                  <a:fillRect b="-1786"/>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B64BBBC4-7EF8-2FF0-A242-1E22BF4267A8}"/>
                  </a:ext>
                </a:extLst>
              </p14:cNvPr>
              <p14:cNvContentPartPr/>
              <p14:nvPr/>
            </p14:nvContentPartPr>
            <p14:xfrm>
              <a:off x="6304000" y="1511655"/>
              <a:ext cx="646920" cy="720"/>
            </p14:xfrm>
          </p:contentPart>
        </mc:Choice>
        <mc:Fallback xmlns="">
          <p:pic>
            <p:nvPicPr>
              <p:cNvPr id="10" name="Ink 9">
                <a:extLst>
                  <a:ext uri="{FF2B5EF4-FFF2-40B4-BE49-F238E27FC236}">
                    <a16:creationId xmlns:a16="http://schemas.microsoft.com/office/drawing/2014/main" id="{B64BBBC4-7EF8-2FF0-A242-1E22BF4267A8}"/>
                  </a:ext>
                </a:extLst>
              </p:cNvPr>
              <p:cNvPicPr/>
              <p:nvPr/>
            </p:nvPicPr>
            <p:blipFill>
              <a:blip r:embed="rId10"/>
              <a:stretch>
                <a:fillRect/>
              </a:stretch>
            </p:blipFill>
            <p:spPr>
              <a:xfrm>
                <a:off x="6295000" y="1493655"/>
                <a:ext cx="664560" cy="36000"/>
              </a:xfrm>
              <a:prstGeom prst="rect">
                <a:avLst/>
              </a:prstGeom>
            </p:spPr>
          </p:pic>
        </mc:Fallback>
      </mc:AlternateContent>
      <p:grpSp>
        <p:nvGrpSpPr>
          <p:cNvPr id="11" name="Group 10">
            <a:extLst>
              <a:ext uri="{FF2B5EF4-FFF2-40B4-BE49-F238E27FC236}">
                <a16:creationId xmlns:a16="http://schemas.microsoft.com/office/drawing/2014/main" id="{4038EF7E-F1B5-473E-B0F7-5AA71440C09D}"/>
              </a:ext>
            </a:extLst>
          </p:cNvPr>
          <p:cNvGrpSpPr/>
          <p:nvPr/>
        </p:nvGrpSpPr>
        <p:grpSpPr>
          <a:xfrm>
            <a:off x="6851048" y="1452433"/>
            <a:ext cx="112680" cy="112320"/>
            <a:chOff x="2830855" y="1318787"/>
            <a:chExt cx="112680" cy="112320"/>
          </a:xfrm>
        </p:grpSpPr>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C2B5414C-30ED-BBE3-321A-E97E51AF8622}"/>
                    </a:ext>
                  </a:extLst>
                </p14:cNvPr>
                <p14:cNvContentPartPr/>
                <p14:nvPr/>
              </p14:nvContentPartPr>
              <p14:xfrm>
                <a:off x="2830855" y="1381787"/>
                <a:ext cx="98640" cy="49320"/>
              </p14:xfrm>
            </p:contentPart>
          </mc:Choice>
          <mc:Fallback xmlns="">
            <p:pic>
              <p:nvPicPr>
                <p:cNvPr id="12" name="Ink 11">
                  <a:extLst>
                    <a:ext uri="{FF2B5EF4-FFF2-40B4-BE49-F238E27FC236}">
                      <a16:creationId xmlns:a16="http://schemas.microsoft.com/office/drawing/2014/main" id="{C2B5414C-30ED-BBE3-321A-E97E51AF8622}"/>
                    </a:ext>
                  </a:extLst>
                </p:cNvPr>
                <p:cNvPicPr/>
                <p:nvPr/>
              </p:nvPicPr>
              <p:blipFill>
                <a:blip r:embed="rId12"/>
                <a:stretch>
                  <a:fillRect/>
                </a:stretch>
              </p:blipFill>
              <p:spPr>
                <a:xfrm>
                  <a:off x="2821888" y="1372787"/>
                  <a:ext cx="116216"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D29C7605-5ABC-DD8E-FBE4-62E4FC5CB540}"/>
                    </a:ext>
                  </a:extLst>
                </p14:cNvPr>
                <p14:cNvContentPartPr/>
                <p14:nvPr/>
              </p14:nvContentPartPr>
              <p14:xfrm>
                <a:off x="2839855" y="1318787"/>
                <a:ext cx="103680" cy="62640"/>
              </p14:xfrm>
            </p:contentPart>
          </mc:Choice>
          <mc:Fallback xmlns="">
            <p:pic>
              <p:nvPicPr>
                <p:cNvPr id="13" name="Ink 12">
                  <a:extLst>
                    <a:ext uri="{FF2B5EF4-FFF2-40B4-BE49-F238E27FC236}">
                      <a16:creationId xmlns:a16="http://schemas.microsoft.com/office/drawing/2014/main" id="{D29C7605-5ABC-DD8E-FBE4-62E4FC5CB540}"/>
                    </a:ext>
                  </a:extLst>
                </p:cNvPr>
                <p:cNvPicPr/>
                <p:nvPr/>
              </p:nvPicPr>
              <p:blipFill>
                <a:blip r:embed="rId14"/>
                <a:stretch>
                  <a:fillRect/>
                </a:stretch>
              </p:blipFill>
              <p:spPr>
                <a:xfrm>
                  <a:off x="2830824" y="1309787"/>
                  <a:ext cx="121381" cy="80280"/>
                </a:xfrm>
                <a:prstGeom prst="rect">
                  <a:avLst/>
                </a:prstGeom>
              </p:spPr>
            </p:pic>
          </mc:Fallback>
        </mc:AlternateContent>
      </p:grpSp>
      <mc:AlternateContent xmlns:mc="http://schemas.openxmlformats.org/markup-compatibility/2006" xmlns:a14="http://schemas.microsoft.com/office/drawing/2010/main">
        <mc:Choice Requires="a14">
          <p:sp>
            <p:nvSpPr>
              <p:cNvPr id="14" name="Rectangle: Rounded Corners 13">
                <a:extLst>
                  <a:ext uri="{FF2B5EF4-FFF2-40B4-BE49-F238E27FC236}">
                    <a16:creationId xmlns:a16="http://schemas.microsoft.com/office/drawing/2014/main" id="{3241E8DB-10F9-321D-285C-86526F2CAB1E}"/>
                  </a:ext>
                </a:extLst>
              </p:cNvPr>
              <p:cNvSpPr/>
              <p:nvPr/>
            </p:nvSpPr>
            <p:spPr>
              <a:xfrm>
                <a:off x="2186288" y="2307727"/>
                <a:ext cx="4771421" cy="12062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f>
                      <m:fPr>
                        <m:ctrlPr>
                          <a:rPr lang="en-NL" sz="1600" i="1" smtClean="0">
                            <a:latin typeface="Cambria Math" panose="02040503050406030204" pitchFamily="18" charset="0"/>
                          </a:rPr>
                        </m:ctrlPr>
                      </m:fPr>
                      <m:num>
                        <m:r>
                          <a:rPr lang="en-US" sz="1600" b="0" i="1" smtClean="0">
                            <a:latin typeface="Cambria Math" panose="02040503050406030204" pitchFamily="18" charset="0"/>
                          </a:rPr>
                          <m:t>1</m:t>
                        </m:r>
                      </m:num>
                      <m:den>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11</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22</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12</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21</m:t>
                                </m:r>
                              </m:sub>
                            </m:sSub>
                          </m:e>
                        </m:d>
                      </m:den>
                    </m:f>
                    <m:d>
                      <m:dPr>
                        <m:begChr m:val="["/>
                        <m:endChr m:val="]"/>
                        <m:ctrlPr>
                          <a:rPr lang="en-NL" sz="1600" i="1">
                            <a:latin typeface="Cambria Math" panose="02040503050406030204" pitchFamily="18" charset="0"/>
                          </a:rPr>
                        </m:ctrlPr>
                      </m:dPr>
                      <m:e>
                        <m:m>
                          <m:mPr>
                            <m:plcHide m:val="on"/>
                            <m:mcs>
                              <m:mc>
                                <m:mcPr>
                                  <m:count m:val="2"/>
                                  <m:mcJc m:val="center"/>
                                </m:mcPr>
                              </m:mc>
                            </m:mcs>
                            <m:ctrlPr>
                              <a:rPr lang="en-NL" sz="1600" i="1">
                                <a:latin typeface="Cambria Math" panose="02040503050406030204" pitchFamily="18" charset="0"/>
                              </a:rPr>
                            </m:ctrlPr>
                          </m:mPr>
                          <m:mr>
                            <m:e>
                              <m:sSub>
                                <m:sSubPr>
                                  <m:ctrlPr>
                                    <a:rPr lang="en-NL" sz="1600" i="1">
                                      <a:latin typeface="Cambria Math" panose="02040503050406030204" pitchFamily="18" charset="0"/>
                                    </a:rPr>
                                  </m:ctrlPr>
                                </m:sSubPr>
                                <m:e>
                                  <m:r>
                                    <a:rPr lang="en-US" sz="1600" i="1">
                                      <a:latin typeface="Cambria Math" panose="02040503050406030204" pitchFamily="18" charset="0"/>
                                    </a:rPr>
                                    <m:t>𝑃</m:t>
                                  </m:r>
                                </m:e>
                                <m:sub>
                                  <m:r>
                                    <a:rPr lang="en-NL" sz="1600">
                                      <a:latin typeface="Cambria Math" panose="02040503050406030204" pitchFamily="18" charset="0"/>
                                    </a:rPr>
                                    <m:t>22</m:t>
                                  </m:r>
                                </m:sub>
                              </m:sSub>
                            </m:e>
                            <m:e>
                              <m:sSub>
                                <m:sSubPr>
                                  <m:ctrlPr>
                                    <a:rPr lang="en-NL" sz="1600" i="1">
                                      <a:latin typeface="Cambria Math" panose="02040503050406030204" pitchFamily="18" charset="0"/>
                                    </a:rPr>
                                  </m:ctrlPr>
                                </m:sSubPr>
                                <m:e>
                                  <m:r>
                                    <a:rPr lang="en-US" sz="1600" i="1">
                                      <a:latin typeface="Cambria Math" panose="02040503050406030204" pitchFamily="18" charset="0"/>
                                    </a:rPr>
                                    <m:t>−</m:t>
                                  </m:r>
                                  <m:r>
                                    <a:rPr lang="en-US" sz="1600" i="1">
                                      <a:latin typeface="Cambria Math" panose="02040503050406030204" pitchFamily="18" charset="0"/>
                                    </a:rPr>
                                    <m:t>𝑃</m:t>
                                  </m:r>
                                </m:e>
                                <m:sub>
                                  <m:r>
                                    <a:rPr lang="en-US" sz="1600">
                                      <a:latin typeface="Cambria Math" panose="02040503050406030204" pitchFamily="18" charset="0"/>
                                    </a:rPr>
                                    <m:t>1</m:t>
                                  </m:r>
                                  <m:r>
                                    <a:rPr lang="en-NL" sz="1600">
                                      <a:latin typeface="Cambria Math" panose="02040503050406030204" pitchFamily="18" charset="0"/>
                                    </a:rPr>
                                    <m:t>2</m:t>
                                  </m:r>
                                </m:sub>
                              </m:sSub>
                            </m:e>
                          </m:mr>
                          <m:mr>
                            <m:e>
                              <m:sSub>
                                <m:sSubPr>
                                  <m:ctrlPr>
                                    <a:rPr lang="en-NL" sz="1600" i="1">
                                      <a:latin typeface="Cambria Math" panose="02040503050406030204" pitchFamily="18" charset="0"/>
                                    </a:rPr>
                                  </m:ctrlPr>
                                </m:sSubPr>
                                <m:e>
                                  <m:r>
                                    <a:rPr lang="en-US" sz="1600" i="1">
                                      <a:latin typeface="Cambria Math" panose="02040503050406030204" pitchFamily="18" charset="0"/>
                                    </a:rPr>
                                    <m:t>−</m:t>
                                  </m:r>
                                  <m:r>
                                    <a:rPr lang="en-US" sz="1600" i="1">
                                      <a:latin typeface="Cambria Math" panose="02040503050406030204" pitchFamily="18" charset="0"/>
                                    </a:rPr>
                                    <m:t>𝑃</m:t>
                                  </m:r>
                                </m:e>
                                <m:sub>
                                  <m:r>
                                    <a:rPr lang="en-NL" sz="1600">
                                      <a:latin typeface="Cambria Math" panose="02040503050406030204" pitchFamily="18" charset="0"/>
                                    </a:rPr>
                                    <m:t>2</m:t>
                                  </m:r>
                                  <m:r>
                                    <a:rPr lang="en-US" sz="1600" i="1">
                                      <a:latin typeface="Cambria Math" panose="02040503050406030204" pitchFamily="18" charset="0"/>
                                    </a:rPr>
                                    <m:t>1</m:t>
                                  </m:r>
                                </m:sub>
                              </m:sSub>
                            </m:e>
                            <m:e>
                              <m:sSub>
                                <m:sSubPr>
                                  <m:ctrlPr>
                                    <a:rPr lang="en-NL" sz="1600" i="1">
                                      <a:latin typeface="Cambria Math" panose="02040503050406030204" pitchFamily="18" charset="0"/>
                                    </a:rPr>
                                  </m:ctrlPr>
                                </m:sSubPr>
                                <m:e>
                                  <m:r>
                                    <a:rPr lang="en-US" sz="1600" i="1">
                                      <a:latin typeface="Cambria Math" panose="02040503050406030204" pitchFamily="18" charset="0"/>
                                    </a:rPr>
                                    <m:t>𝑃</m:t>
                                  </m:r>
                                </m:e>
                                <m:sub>
                                  <m:r>
                                    <a:rPr lang="en-US" sz="1600">
                                      <a:latin typeface="Cambria Math" panose="02040503050406030204" pitchFamily="18" charset="0"/>
                                    </a:rPr>
                                    <m:t>1</m:t>
                                  </m:r>
                                  <m:r>
                                    <a:rPr lang="en-US" sz="1600" i="1">
                                      <a:latin typeface="Cambria Math" panose="02040503050406030204" pitchFamily="18" charset="0"/>
                                    </a:rPr>
                                    <m:t>1</m:t>
                                  </m:r>
                                </m:sub>
                              </m:sSub>
                            </m:e>
                          </m:mr>
                        </m:m>
                      </m:e>
                    </m:d>
                  </m:oMath>
                </a14:m>
                <a:r>
                  <a:rPr lang="en-US" sz="1600"/>
                  <a:t> = </a:t>
                </a:r>
                <a14:m>
                  <m:oMath xmlns:m="http://schemas.openxmlformats.org/officeDocument/2006/math">
                    <m:d>
                      <m:dPr>
                        <m:begChr m:val="["/>
                        <m:endChr m:val="]"/>
                        <m:ctrlPr>
                          <a:rPr lang="en-NL" sz="1600" i="1">
                            <a:latin typeface="Cambria Math" panose="02040503050406030204" pitchFamily="18" charset="0"/>
                          </a:rPr>
                        </m:ctrlPr>
                      </m:dPr>
                      <m:e>
                        <m:m>
                          <m:mPr>
                            <m:plcHide m:val="on"/>
                            <m:mcs>
                              <m:mc>
                                <m:mcPr>
                                  <m:count m:val="2"/>
                                  <m:mcJc m:val="center"/>
                                </m:mcPr>
                              </m:mc>
                            </m:mcs>
                            <m:ctrlPr>
                              <a:rPr lang="en-NL" sz="1600" i="1">
                                <a:latin typeface="Cambria Math" panose="02040503050406030204" pitchFamily="18" charset="0"/>
                              </a:rPr>
                            </m:ctrlPr>
                          </m:mPr>
                          <m:mr>
                            <m:e>
                              <m:f>
                                <m:fPr>
                                  <m:ctrlPr>
                                    <a:rPr lang="en-US" sz="1600" i="1">
                                      <a:latin typeface="Cambria Math" panose="02040503050406030204" pitchFamily="18" charset="0"/>
                                    </a:rPr>
                                  </m:ctrlPr>
                                </m:fPr>
                                <m:num>
                                  <m:sSub>
                                    <m:sSubPr>
                                      <m:ctrlPr>
                                        <a:rPr lang="en-NL" sz="1600" i="1">
                                          <a:latin typeface="Cambria Math" panose="02040503050406030204" pitchFamily="18" charset="0"/>
                                        </a:rPr>
                                      </m:ctrlPr>
                                    </m:sSubPr>
                                    <m:e>
                                      <m:r>
                                        <a:rPr lang="en-NL" sz="1600" i="1">
                                          <a:latin typeface="Cambria Math" panose="02040503050406030204" pitchFamily="18" charset="0"/>
                                        </a:rPr>
                                        <m:t>𝐶</m:t>
                                      </m:r>
                                    </m:e>
                                    <m:sub>
                                      <m:r>
                                        <a:rPr lang="en-NL" sz="1600" i="1">
                                          <a:latin typeface="Cambria Math" panose="02040503050406030204" pitchFamily="18" charset="0"/>
                                        </a:rPr>
                                        <m:t>𝑓𝑓</m:t>
                                      </m:r>
                                      <m:r>
                                        <a:rPr lang="en-NL" sz="1600">
                                          <a:latin typeface="Cambria Math" panose="02040503050406030204" pitchFamily="18" charset="0"/>
                                        </a:rPr>
                                        <m:t>,</m:t>
                                      </m:r>
                                      <m:r>
                                        <a:rPr lang="en-NL" sz="1600" i="1">
                                          <a:latin typeface="Cambria Math" panose="02040503050406030204" pitchFamily="18" charset="0"/>
                                        </a:rPr>
                                        <m:t>𝑥𝑥</m:t>
                                      </m:r>
                                    </m:sub>
                                  </m:sSub>
                                </m:num>
                                <m:den>
                                  <m:sSub>
                                    <m:sSubPr>
                                      <m:ctrlPr>
                                        <a:rPr lang="en-NL" sz="1600" i="1">
                                          <a:latin typeface="Cambria Math" panose="02040503050406030204" pitchFamily="18" charset="0"/>
                                        </a:rPr>
                                      </m:ctrlPr>
                                    </m:sSubPr>
                                    <m:e>
                                      <m:r>
                                        <a:rPr lang="en-NL" sz="1600" i="1">
                                          <a:latin typeface="Cambria Math" panose="02040503050406030204" pitchFamily="18" charset="0"/>
                                        </a:rPr>
                                        <m:t>𝐶</m:t>
                                      </m:r>
                                    </m:e>
                                    <m:sub>
                                      <m:r>
                                        <a:rPr lang="en-NL" sz="1600" i="1">
                                          <a:latin typeface="Cambria Math" panose="02040503050406030204" pitchFamily="18" charset="0"/>
                                        </a:rPr>
                                        <m:t>𝑦</m:t>
                                      </m:r>
                                      <m:r>
                                        <a:rPr lang="en-NL" sz="1600">
                                          <a:latin typeface="Cambria Math" panose="02040503050406030204" pitchFamily="18" charset="0"/>
                                        </a:rPr>
                                        <m:t>,</m:t>
                                      </m:r>
                                      <m:r>
                                        <a:rPr lang="en-NL" sz="1600" i="1">
                                          <a:latin typeface="Cambria Math" panose="02040503050406030204" pitchFamily="18" charset="0"/>
                                        </a:rPr>
                                        <m:t>𝑥𝑥</m:t>
                                      </m:r>
                                    </m:sub>
                                  </m:sSub>
                                </m:den>
                              </m:f>
                            </m:e>
                            <m:e>
                              <m:r>
                                <a:rPr lang="en-US" sz="1600" i="1">
                                  <a:latin typeface="Cambria Math" panose="02040503050406030204" pitchFamily="18" charset="0"/>
                                </a:rPr>
                                <m:t>0</m:t>
                              </m:r>
                            </m:e>
                          </m:mr>
                          <m:mr>
                            <m:e>
                              <m:f>
                                <m:fPr>
                                  <m:ctrlPr>
                                    <a:rPr lang="en-US" sz="1600" i="1">
                                      <a:latin typeface="Cambria Math" panose="02040503050406030204" pitchFamily="18" charset="0"/>
                                    </a:rPr>
                                  </m:ctrlPr>
                                </m:fPr>
                                <m:num>
                                  <m:sSub>
                                    <m:sSubPr>
                                      <m:ctrlPr>
                                        <a:rPr lang="en-NL" sz="1600" i="1">
                                          <a:latin typeface="Cambria Math" panose="02040503050406030204" pitchFamily="18" charset="0"/>
                                        </a:rPr>
                                      </m:ctrlPr>
                                    </m:sSubPr>
                                    <m:e>
                                      <m:r>
                                        <a:rPr lang="en-NL" sz="1600" i="1">
                                          <a:latin typeface="Cambria Math" panose="02040503050406030204" pitchFamily="18" charset="0"/>
                                        </a:rPr>
                                        <m:t>𝐶</m:t>
                                      </m:r>
                                    </m:e>
                                    <m:sub>
                                      <m:r>
                                        <a:rPr lang="en-NL" sz="1600" i="1">
                                          <a:latin typeface="Cambria Math" panose="02040503050406030204" pitchFamily="18" charset="0"/>
                                        </a:rPr>
                                        <m:t>𝑓</m:t>
                                      </m:r>
                                      <m:sSub>
                                        <m:sSubPr>
                                          <m:ctrlPr>
                                            <a:rPr lang="en-NL" sz="1600" i="1">
                                              <a:latin typeface="Cambria Math" panose="02040503050406030204" pitchFamily="18" charset="0"/>
                                            </a:rPr>
                                          </m:ctrlPr>
                                        </m:sSubPr>
                                        <m:e>
                                          <m:r>
                                            <a:rPr lang="en-NL" sz="1600" i="1">
                                              <a:latin typeface="Cambria Math" panose="02040503050406030204" pitchFamily="18" charset="0"/>
                                            </a:rPr>
                                            <m:t>𝑓</m:t>
                                          </m:r>
                                        </m:e>
                                        <m:sub>
                                          <m:r>
                                            <a:rPr lang="en-US" sz="1600">
                                              <a:latin typeface="Cambria Math" panose="02040503050406030204" pitchFamily="18" charset="0"/>
                                            </a:rPr>
                                            <m:t>,</m:t>
                                          </m:r>
                                        </m:sub>
                                      </m:sSub>
                                      <m:r>
                                        <a:rPr lang="en-NL" sz="1600" i="1">
                                          <a:latin typeface="Cambria Math" panose="02040503050406030204" pitchFamily="18" charset="0"/>
                                        </a:rPr>
                                        <m:t>𝑥</m:t>
                                      </m:r>
                                      <m:r>
                                        <a:rPr lang="en-NL" sz="1600" i="1">
                                          <a:latin typeface="Cambria Math" panose="02040503050406030204" pitchFamily="18" charset="0"/>
                                        </a:rPr>
                                        <m:t>𝜑</m:t>
                                      </m:r>
                                    </m:sub>
                                  </m:sSub>
                                </m:num>
                                <m:den>
                                  <m:sSub>
                                    <m:sSubPr>
                                      <m:ctrlPr>
                                        <a:rPr lang="en-NL" sz="1600" i="1">
                                          <a:latin typeface="Cambria Math" panose="02040503050406030204" pitchFamily="18" charset="0"/>
                                        </a:rPr>
                                      </m:ctrlPr>
                                    </m:sSubPr>
                                    <m:e>
                                      <m:r>
                                        <a:rPr lang="en-NL" sz="1600" i="1">
                                          <a:latin typeface="Cambria Math" panose="02040503050406030204" pitchFamily="18" charset="0"/>
                                        </a:rPr>
                                        <m:t>𝐶</m:t>
                                      </m:r>
                                    </m:e>
                                    <m:sub>
                                      <m:r>
                                        <a:rPr lang="en-NL" sz="1600" i="1">
                                          <a:latin typeface="Cambria Math" panose="02040503050406030204" pitchFamily="18" charset="0"/>
                                        </a:rPr>
                                        <m:t>𝑦</m:t>
                                      </m:r>
                                      <m:r>
                                        <a:rPr lang="en-NL" sz="1600">
                                          <a:latin typeface="Cambria Math" panose="02040503050406030204" pitchFamily="18" charset="0"/>
                                        </a:rPr>
                                        <m:t>,</m:t>
                                      </m:r>
                                      <m:r>
                                        <a:rPr lang="en-NL" sz="1600" i="1">
                                          <a:latin typeface="Cambria Math" panose="02040503050406030204" pitchFamily="18" charset="0"/>
                                        </a:rPr>
                                        <m:t>𝑥𝑥</m:t>
                                      </m:r>
                                    </m:sub>
                                  </m:sSub>
                                </m:den>
                              </m:f>
                            </m:e>
                            <m:e>
                              <m:r>
                                <a:rPr lang="en-US" sz="1600" i="1">
                                  <a:latin typeface="Cambria Math" panose="02040503050406030204" pitchFamily="18" charset="0"/>
                                </a:rPr>
                                <m:t>0</m:t>
                              </m:r>
                            </m:e>
                          </m:mr>
                        </m:m>
                      </m:e>
                    </m:d>
                  </m:oMath>
                </a14:m>
                <a:endParaRPr lang="en-NL"/>
              </a:p>
            </p:txBody>
          </p:sp>
        </mc:Choice>
        <mc:Fallback xmlns="">
          <p:sp>
            <p:nvSpPr>
              <p:cNvPr id="14" name="Rectangle: Rounded Corners 13">
                <a:extLst>
                  <a:ext uri="{FF2B5EF4-FFF2-40B4-BE49-F238E27FC236}">
                    <a16:creationId xmlns:a16="http://schemas.microsoft.com/office/drawing/2014/main" id="{3241E8DB-10F9-321D-285C-86526F2CAB1E}"/>
                  </a:ext>
                </a:extLst>
              </p:cNvPr>
              <p:cNvSpPr>
                <a:spLocks noRot="1" noChangeAspect="1" noMove="1" noResize="1" noEditPoints="1" noAdjustHandles="1" noChangeArrowheads="1" noChangeShapeType="1" noTextEdit="1"/>
              </p:cNvSpPr>
              <p:nvPr/>
            </p:nvSpPr>
            <p:spPr>
              <a:xfrm>
                <a:off x="2186288" y="2307727"/>
                <a:ext cx="4771421" cy="1206261"/>
              </a:xfrm>
              <a:prstGeom prst="roundRect">
                <a:avLst/>
              </a:prstGeom>
              <a:blipFill>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16381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1E2D4-7F08-F9E2-0CC9-22255C0E9D5F}"/>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FC28D04A-2E7A-67A7-7F7C-6900DB9090A1}"/>
              </a:ext>
            </a:extLst>
          </p:cNvPr>
          <p:cNvSpPr/>
          <p:nvPr/>
        </p:nvSpPr>
        <p:spPr>
          <a:xfrm>
            <a:off x="7018730" y="1372988"/>
            <a:ext cx="372250" cy="349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Rectangle 17">
            <a:extLst>
              <a:ext uri="{FF2B5EF4-FFF2-40B4-BE49-F238E27FC236}">
                <a16:creationId xmlns:a16="http://schemas.microsoft.com/office/drawing/2014/main" id="{53777D60-3DAB-4805-20EC-2DDC00588D72}"/>
              </a:ext>
            </a:extLst>
          </p:cNvPr>
          <p:cNvSpPr/>
          <p:nvPr/>
        </p:nvSpPr>
        <p:spPr>
          <a:xfrm>
            <a:off x="6190484" y="593648"/>
            <a:ext cx="1802921" cy="1526876"/>
          </a:xfrm>
          <a:prstGeom prst="rect">
            <a:avLst/>
          </a:prstGeom>
          <a:solidFill>
            <a:schemeClr val="accent1">
              <a:alpha val="5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14C59457-8CD0-63BA-39E9-A2E2912EB2E4}"/>
              </a:ext>
            </a:extLst>
          </p:cNvPr>
          <p:cNvSpPr>
            <a:spLocks noGrp="1"/>
          </p:cNvSpPr>
          <p:nvPr>
            <p:ph type="title"/>
          </p:nvPr>
        </p:nvSpPr>
        <p:spPr/>
        <p:txBody>
          <a:bodyPr/>
          <a:lstStyle/>
          <a:p>
            <a:r>
              <a:rPr lang="en-US"/>
              <a:t>Choosing basis functions - Derivation</a:t>
            </a:r>
            <a:endParaRPr lang="en-NL"/>
          </a:p>
        </p:txBody>
      </p:sp>
      <p:sp>
        <p:nvSpPr>
          <p:cNvPr id="4" name="Footer Placeholder 3">
            <a:extLst>
              <a:ext uri="{FF2B5EF4-FFF2-40B4-BE49-F238E27FC236}">
                <a16:creationId xmlns:a16="http://schemas.microsoft.com/office/drawing/2014/main" id="{6F7DDEB1-4569-D082-9903-FA0A3457C7AE}"/>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0C527843-90AB-308C-BA69-F3B0830A484D}"/>
              </a:ext>
            </a:extLst>
          </p:cNvPr>
          <p:cNvSpPr>
            <a:spLocks noGrp="1"/>
          </p:cNvSpPr>
          <p:nvPr>
            <p:ph type="sldNum" sz="quarter" idx="12"/>
          </p:nvPr>
        </p:nvSpPr>
        <p:spPr/>
        <p:txBody>
          <a:bodyPr/>
          <a:lstStyle/>
          <a:p>
            <a:fld id="{C194BDB0-F4EA-4DD6-8281-CCE2440D0CE0}" type="slidenum">
              <a:rPr lang="en-GB" smtClean="0"/>
              <a:t>4</a:t>
            </a:fld>
            <a:endParaRPr lang="en-GB"/>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C585B3A2-2CF7-D7FA-6919-CFD9E91DDCCD}"/>
                  </a:ext>
                </a:extLst>
              </p14:cNvPr>
              <p14:cNvContentPartPr/>
              <p14:nvPr/>
            </p14:nvContentPartPr>
            <p14:xfrm>
              <a:off x="3181742" y="2904876"/>
              <a:ext cx="26280" cy="10440"/>
            </p14:xfrm>
          </p:contentPart>
        </mc:Choice>
        <mc:Fallback xmlns="">
          <p:pic>
            <p:nvPicPr>
              <p:cNvPr id="7" name="Ink 6">
                <a:extLst>
                  <a:ext uri="{FF2B5EF4-FFF2-40B4-BE49-F238E27FC236}">
                    <a16:creationId xmlns:a16="http://schemas.microsoft.com/office/drawing/2014/main" id="{C585B3A2-2CF7-D7FA-6919-CFD9E91DDCCD}"/>
                  </a:ext>
                </a:extLst>
              </p:cNvPr>
              <p:cNvPicPr/>
              <p:nvPr/>
            </p:nvPicPr>
            <p:blipFill>
              <a:blip r:embed="rId4"/>
              <a:stretch>
                <a:fillRect/>
              </a:stretch>
            </p:blipFill>
            <p:spPr>
              <a:xfrm>
                <a:off x="3172742" y="2895876"/>
                <a:ext cx="43920" cy="28080"/>
              </a:xfrm>
              <a:prstGeom prst="rect">
                <a:avLst/>
              </a:prstGeom>
            </p:spPr>
          </p:pic>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AA75CAB-B188-8714-8308-230316BB25F7}"/>
                  </a:ext>
                </a:extLst>
              </p:cNvPr>
              <p:cNvSpPr txBox="1"/>
              <p:nvPr/>
            </p:nvSpPr>
            <p:spPr>
              <a:xfrm>
                <a:off x="683105" y="1252611"/>
                <a:ext cx="5786706" cy="423770"/>
              </a:xfrm>
              <a:prstGeom prst="rect">
                <a:avLst/>
              </a:prstGeom>
              <a:noFill/>
            </p:spPr>
            <p:txBody>
              <a:bodyPr wrap="square" rtlCol="0">
                <a:spAutoFit/>
              </a:bodyPr>
              <a:lstStyle/>
              <a:p>
                <a:r>
                  <a:rPr lang="en-US" sz="1400"/>
                  <a:t>Capture poles of  </a:t>
                </a:r>
                <a14:m>
                  <m:oMath xmlns:m="http://schemas.openxmlformats.org/officeDocument/2006/math">
                    <m:f>
                      <m:fPr>
                        <m:ctrlPr>
                          <a:rPr lang="en-NL" sz="1400" i="1">
                            <a:latin typeface="Cambria Math" panose="02040503050406030204" pitchFamily="18" charset="0"/>
                          </a:rPr>
                        </m:ctrlPr>
                      </m:fPr>
                      <m:num>
                        <m:sSub>
                          <m:sSubPr>
                            <m:ctrlPr>
                              <a:rPr lang="en-NL" sz="1400" i="1">
                                <a:latin typeface="Cambria Math" panose="02040503050406030204" pitchFamily="18" charset="0"/>
                              </a:rPr>
                            </m:ctrlPr>
                          </m:sSubPr>
                          <m:e>
                            <m:r>
                              <a:rPr lang="en-US" sz="1400" i="1">
                                <a:latin typeface="Cambria Math" panose="02040503050406030204" pitchFamily="18" charset="0"/>
                              </a:rPr>
                              <m:t>𝑃</m:t>
                            </m:r>
                          </m:e>
                          <m:sub>
                            <m:r>
                              <a:rPr lang="en-NL" sz="1400">
                                <a:latin typeface="Cambria Math" panose="02040503050406030204" pitchFamily="18" charset="0"/>
                              </a:rPr>
                              <m:t>22</m:t>
                            </m:r>
                          </m:sub>
                        </m:sSub>
                      </m:num>
                      <m:den>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𝑃</m:t>
                                </m:r>
                              </m:e>
                              <m:sub>
                                <m:r>
                                  <a:rPr lang="en-US" sz="1400" i="1">
                                    <a:latin typeface="Cambria Math" panose="02040503050406030204" pitchFamily="18" charset="0"/>
                                  </a:rPr>
                                  <m:t>11</m:t>
                                </m:r>
                              </m:sub>
                            </m:sSub>
                            <m:sSub>
                              <m:sSubPr>
                                <m:ctrlPr>
                                  <a:rPr lang="en-US" sz="1400" i="1">
                                    <a:latin typeface="Cambria Math" panose="02040503050406030204" pitchFamily="18" charset="0"/>
                                  </a:rPr>
                                </m:ctrlPr>
                              </m:sSubPr>
                              <m:e>
                                <m:r>
                                  <a:rPr lang="en-US" sz="1400" i="1">
                                    <a:latin typeface="Cambria Math" panose="02040503050406030204" pitchFamily="18" charset="0"/>
                                  </a:rPr>
                                  <m:t>𝑃</m:t>
                                </m:r>
                              </m:e>
                              <m:sub>
                                <m:r>
                                  <a:rPr lang="en-US" sz="1400" i="1">
                                    <a:latin typeface="Cambria Math" panose="02040503050406030204" pitchFamily="18" charset="0"/>
                                  </a:rPr>
                                  <m:t>22</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𝑃</m:t>
                                </m:r>
                              </m:e>
                              <m:sub>
                                <m:r>
                                  <a:rPr lang="en-US" sz="1400" i="1">
                                    <a:latin typeface="Cambria Math" panose="02040503050406030204" pitchFamily="18" charset="0"/>
                                  </a:rPr>
                                  <m:t>12</m:t>
                                </m:r>
                              </m:sub>
                            </m:sSub>
                            <m:sSub>
                              <m:sSubPr>
                                <m:ctrlPr>
                                  <a:rPr lang="en-US" sz="1400" i="1">
                                    <a:latin typeface="Cambria Math" panose="02040503050406030204" pitchFamily="18" charset="0"/>
                                  </a:rPr>
                                </m:ctrlPr>
                              </m:sSubPr>
                              <m:e>
                                <m:r>
                                  <a:rPr lang="en-US" sz="1400" i="1">
                                    <a:latin typeface="Cambria Math" panose="02040503050406030204" pitchFamily="18" charset="0"/>
                                  </a:rPr>
                                  <m:t>𝑃</m:t>
                                </m:r>
                              </m:e>
                              <m:sub>
                                <m:r>
                                  <a:rPr lang="en-US" sz="1400" i="1">
                                    <a:latin typeface="Cambria Math" panose="02040503050406030204" pitchFamily="18" charset="0"/>
                                  </a:rPr>
                                  <m:t>21</m:t>
                                </m:r>
                              </m:sub>
                            </m:sSub>
                          </m:e>
                        </m:d>
                      </m:den>
                    </m:f>
                  </m:oMath>
                </a14:m>
                <a:r>
                  <a:rPr lang="en-US"/>
                  <a:t>   and   </a:t>
                </a:r>
                <a14:m>
                  <m:oMath xmlns:m="http://schemas.openxmlformats.org/officeDocument/2006/math">
                    <m:f>
                      <m:fPr>
                        <m:ctrlPr>
                          <a:rPr lang="en-NL" sz="1400" i="1">
                            <a:latin typeface="Cambria Math" panose="02040503050406030204" pitchFamily="18" charset="0"/>
                          </a:rPr>
                        </m:ctrlPr>
                      </m:fPr>
                      <m:num>
                        <m:sSub>
                          <m:sSubPr>
                            <m:ctrlPr>
                              <a:rPr lang="en-NL" sz="1400" i="1">
                                <a:latin typeface="Cambria Math" panose="02040503050406030204" pitchFamily="18" charset="0"/>
                              </a:rPr>
                            </m:ctrlPr>
                          </m:sSubPr>
                          <m:e>
                            <m:r>
                              <a:rPr lang="en-US" sz="1400" i="1">
                                <a:latin typeface="Cambria Math" panose="02040503050406030204" pitchFamily="18" charset="0"/>
                              </a:rPr>
                              <m:t>−</m:t>
                            </m:r>
                            <m:r>
                              <a:rPr lang="en-US" sz="1400" i="1">
                                <a:latin typeface="Cambria Math" panose="02040503050406030204" pitchFamily="18" charset="0"/>
                              </a:rPr>
                              <m:t>𝑃</m:t>
                            </m:r>
                          </m:e>
                          <m:sub>
                            <m:r>
                              <a:rPr lang="en-NL" sz="1400">
                                <a:latin typeface="Cambria Math" panose="02040503050406030204" pitchFamily="18" charset="0"/>
                              </a:rPr>
                              <m:t>2</m:t>
                            </m:r>
                            <m:r>
                              <a:rPr lang="en-US" sz="1400" i="1">
                                <a:latin typeface="Cambria Math" panose="02040503050406030204" pitchFamily="18" charset="0"/>
                              </a:rPr>
                              <m:t>1</m:t>
                            </m:r>
                          </m:sub>
                        </m:sSub>
                      </m:num>
                      <m:den>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𝑃</m:t>
                                </m:r>
                              </m:e>
                              <m:sub>
                                <m:r>
                                  <a:rPr lang="en-US" sz="1400" i="1">
                                    <a:latin typeface="Cambria Math" panose="02040503050406030204" pitchFamily="18" charset="0"/>
                                  </a:rPr>
                                  <m:t>11</m:t>
                                </m:r>
                              </m:sub>
                            </m:sSub>
                            <m:sSub>
                              <m:sSubPr>
                                <m:ctrlPr>
                                  <a:rPr lang="en-US" sz="1400" i="1">
                                    <a:latin typeface="Cambria Math" panose="02040503050406030204" pitchFamily="18" charset="0"/>
                                  </a:rPr>
                                </m:ctrlPr>
                              </m:sSubPr>
                              <m:e>
                                <m:r>
                                  <a:rPr lang="en-US" sz="1400" i="1">
                                    <a:latin typeface="Cambria Math" panose="02040503050406030204" pitchFamily="18" charset="0"/>
                                  </a:rPr>
                                  <m:t>𝑃</m:t>
                                </m:r>
                              </m:e>
                              <m:sub>
                                <m:r>
                                  <a:rPr lang="en-US" sz="1400" i="1">
                                    <a:latin typeface="Cambria Math" panose="02040503050406030204" pitchFamily="18" charset="0"/>
                                  </a:rPr>
                                  <m:t>22</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𝑃</m:t>
                                </m:r>
                              </m:e>
                              <m:sub>
                                <m:r>
                                  <a:rPr lang="en-US" sz="1400" i="1">
                                    <a:latin typeface="Cambria Math" panose="02040503050406030204" pitchFamily="18" charset="0"/>
                                  </a:rPr>
                                  <m:t>12</m:t>
                                </m:r>
                              </m:sub>
                            </m:sSub>
                            <m:sSub>
                              <m:sSubPr>
                                <m:ctrlPr>
                                  <a:rPr lang="en-US" sz="1400" i="1">
                                    <a:latin typeface="Cambria Math" panose="02040503050406030204" pitchFamily="18" charset="0"/>
                                  </a:rPr>
                                </m:ctrlPr>
                              </m:sSubPr>
                              <m:e>
                                <m:r>
                                  <a:rPr lang="en-US" sz="1400" i="1">
                                    <a:latin typeface="Cambria Math" panose="02040503050406030204" pitchFamily="18" charset="0"/>
                                  </a:rPr>
                                  <m:t>𝑃</m:t>
                                </m:r>
                              </m:e>
                              <m:sub>
                                <m:r>
                                  <a:rPr lang="en-US" sz="1400" i="1">
                                    <a:latin typeface="Cambria Math" panose="02040503050406030204" pitchFamily="18" charset="0"/>
                                  </a:rPr>
                                  <m:t>21</m:t>
                                </m:r>
                              </m:sub>
                            </m:sSub>
                          </m:e>
                        </m:d>
                      </m:den>
                    </m:f>
                  </m:oMath>
                </a14:m>
                <a:r>
                  <a:rPr lang="en-US"/>
                  <a:t> using </a:t>
                </a:r>
                <a14:m>
                  <m:oMath xmlns:m="http://schemas.openxmlformats.org/officeDocument/2006/math">
                    <m:sSub>
                      <m:sSubPr>
                        <m:ctrlPr>
                          <a:rPr lang="en-NL" sz="1200" i="1">
                            <a:latin typeface="Cambria Math" panose="02040503050406030204" pitchFamily="18" charset="0"/>
                          </a:rPr>
                        </m:ctrlPr>
                      </m:sSubPr>
                      <m:e>
                        <m:r>
                          <a:rPr lang="en-NL" sz="1200" i="1">
                            <a:latin typeface="Cambria Math" panose="02040503050406030204" pitchFamily="18" charset="0"/>
                          </a:rPr>
                          <m:t>𝐶</m:t>
                        </m:r>
                      </m:e>
                      <m:sub>
                        <m:r>
                          <a:rPr lang="en-NL" sz="1200" i="1">
                            <a:latin typeface="Cambria Math" panose="02040503050406030204" pitchFamily="18" charset="0"/>
                          </a:rPr>
                          <m:t>𝑦</m:t>
                        </m:r>
                        <m:r>
                          <a:rPr lang="en-NL" sz="1200">
                            <a:latin typeface="Cambria Math" panose="02040503050406030204" pitchFamily="18" charset="0"/>
                          </a:rPr>
                          <m:t>,</m:t>
                        </m:r>
                        <m:r>
                          <a:rPr lang="en-NL" sz="1200" i="1">
                            <a:latin typeface="Cambria Math" panose="02040503050406030204" pitchFamily="18" charset="0"/>
                          </a:rPr>
                          <m:t>𝑥𝑥</m:t>
                        </m:r>
                        <m:r>
                          <a:rPr lang="en-US" sz="1200" i="1">
                            <a:latin typeface="Cambria Math" panose="02040503050406030204" pitchFamily="18" charset="0"/>
                          </a:rPr>
                          <m:t>        </m:t>
                        </m:r>
                      </m:sub>
                    </m:sSub>
                  </m:oMath>
                </a14:m>
                <a:endParaRPr lang="en-NL"/>
              </a:p>
            </p:txBody>
          </p:sp>
        </mc:Choice>
        <mc:Fallback xmlns="">
          <p:sp>
            <p:nvSpPr>
              <p:cNvPr id="3" name="TextBox 2">
                <a:extLst>
                  <a:ext uri="{FF2B5EF4-FFF2-40B4-BE49-F238E27FC236}">
                    <a16:creationId xmlns:a16="http://schemas.microsoft.com/office/drawing/2014/main" id="{CAA75CAB-B188-8714-8308-230316BB25F7}"/>
                  </a:ext>
                </a:extLst>
              </p:cNvPr>
              <p:cNvSpPr txBox="1">
                <a:spLocks noRot="1" noChangeAspect="1" noMove="1" noResize="1" noEditPoints="1" noAdjustHandles="1" noChangeArrowheads="1" noChangeShapeType="1" noTextEdit="1"/>
              </p:cNvSpPr>
              <p:nvPr/>
            </p:nvSpPr>
            <p:spPr>
              <a:xfrm>
                <a:off x="683105" y="1252611"/>
                <a:ext cx="5786706" cy="423770"/>
              </a:xfrm>
              <a:prstGeom prst="rect">
                <a:avLst/>
              </a:prstGeom>
              <a:blipFill>
                <a:blip r:embed="rId5"/>
                <a:stretch>
                  <a:fillRect l="-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Rounded Corners 8">
                <a:extLst>
                  <a:ext uri="{FF2B5EF4-FFF2-40B4-BE49-F238E27FC236}">
                    <a16:creationId xmlns:a16="http://schemas.microsoft.com/office/drawing/2014/main" id="{EA17FB6F-9CBF-4576-78BB-D0E0744E9BE6}"/>
                  </a:ext>
                </a:extLst>
              </p:cNvPr>
              <p:cNvSpPr/>
              <p:nvPr/>
            </p:nvSpPr>
            <p:spPr>
              <a:xfrm>
                <a:off x="1219159" y="2358796"/>
                <a:ext cx="1851191" cy="16072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lnSpc>
                    <a:spcPct val="150000"/>
                  </a:lnSpc>
                </a:pPr>
                <a14:m>
                  <m:oMathPara xmlns:m="http://schemas.openxmlformats.org/officeDocument/2006/math">
                    <m:oMathParaPr>
                      <m:jc m:val="centerGroup"/>
                    </m:oMathParaPr>
                    <m:oMath xmlns:m="http://schemas.openxmlformats.org/officeDocument/2006/math">
                      <m:r>
                        <m:rPr>
                          <m:nor/>
                        </m:rPr>
                        <a:rPr lang="nn-NO"/>
                        <m:t>1.0000 </m:t>
                      </m:r>
                      <m:r>
                        <a:rPr lang="nn-NO" i="1" smtClean="0">
                          <a:latin typeface="Cambria Math" panose="02040503050406030204" pitchFamily="18" charset="0"/>
                          <a:ea typeface="Cambria Math" panose="02040503050406030204" pitchFamily="18" charset="0"/>
                        </a:rPr>
                        <m:t>±</m:t>
                      </m:r>
                      <m:r>
                        <m:rPr>
                          <m:nor/>
                        </m:rPr>
                        <a:rPr lang="nn-NO"/>
                        <m:t> 0.0000</m:t>
                      </m:r>
                      <m:r>
                        <m:rPr>
                          <m:nor/>
                        </m:rPr>
                        <a:rPr lang="nn-NO"/>
                        <m:t>i</m:t>
                      </m:r>
                    </m:oMath>
                    <m:oMath xmlns:m="http://schemas.openxmlformats.org/officeDocument/2006/math">
                      <m:r>
                        <m:rPr>
                          <m:nor/>
                        </m:rPr>
                        <a:rPr lang="nn-NO"/>
                        <m:t>0.9919 </m:t>
                      </m:r>
                      <m:r>
                        <a:rPr lang="nn-NO" i="1" smtClean="0">
                          <a:latin typeface="Cambria Math" panose="02040503050406030204" pitchFamily="18" charset="0"/>
                          <a:ea typeface="Cambria Math" panose="02040503050406030204" pitchFamily="18" charset="0"/>
                        </a:rPr>
                        <m:t>±</m:t>
                      </m:r>
                      <m:r>
                        <m:rPr>
                          <m:nor/>
                        </m:rPr>
                        <a:rPr lang="nn-NO"/>
                        <m:t> 0.0793</m:t>
                      </m:r>
                      <m:r>
                        <m:rPr>
                          <m:nor/>
                        </m:rPr>
                        <a:rPr lang="nn-NO"/>
                        <m:t>i</m:t>
                      </m:r>
                    </m:oMath>
                    <m:oMath xmlns:m="http://schemas.openxmlformats.org/officeDocument/2006/math">
                      <m:r>
                        <m:rPr>
                          <m:nor/>
                        </m:rPr>
                        <a:rPr lang="nn-NO"/>
                        <m:t>0.9948 </m:t>
                      </m:r>
                      <m:r>
                        <a:rPr lang="nn-NO" i="1" smtClean="0">
                          <a:latin typeface="Cambria Math" panose="02040503050406030204" pitchFamily="18" charset="0"/>
                          <a:ea typeface="Cambria Math" panose="02040503050406030204" pitchFamily="18" charset="0"/>
                        </a:rPr>
                        <m:t>±</m:t>
                      </m:r>
                      <m:r>
                        <m:rPr>
                          <m:nor/>
                        </m:rPr>
                        <a:rPr lang="nn-NO"/>
                        <m:t> 0.0755</m:t>
                      </m:r>
                      <m:r>
                        <m:rPr>
                          <m:nor/>
                        </m:rPr>
                        <a:rPr lang="nn-NO"/>
                        <m:t>i</m:t>
                      </m:r>
                    </m:oMath>
                    <m:oMath xmlns:m="http://schemas.openxmlformats.org/officeDocument/2006/math">
                      <m:r>
                        <m:rPr>
                          <m:nor/>
                        </m:rPr>
                        <a:rPr lang="nn-NO"/>
                        <m:t>0.9950</m:t>
                      </m:r>
                      <m:r>
                        <a:rPr lang="nn-NO" i="1">
                          <a:latin typeface="Cambria Math" panose="02040503050406030204" pitchFamily="18" charset="0"/>
                          <a:ea typeface="Cambria Math" panose="02040503050406030204" pitchFamily="18" charset="0"/>
                        </a:rPr>
                        <m:t>±</m:t>
                      </m:r>
                      <m:r>
                        <m:rPr>
                          <m:nor/>
                        </m:rPr>
                        <a:rPr lang="nn-NO"/>
                        <m:t>0.0632</m:t>
                      </m:r>
                      <m:r>
                        <m:rPr>
                          <m:nor/>
                        </m:rPr>
                        <a:rPr lang="nn-NO"/>
                        <m:t>i</m:t>
                      </m:r>
                    </m:oMath>
                    <m:oMath xmlns:m="http://schemas.openxmlformats.org/officeDocument/2006/math">
                      <m:r>
                        <m:rPr>
                          <m:nor/>
                        </m:rPr>
                        <a:rPr lang="nn-NO"/>
                        <m:t>0.9992</m:t>
                      </m:r>
                      <m:r>
                        <a:rPr lang="nn-NO" i="1">
                          <a:latin typeface="Cambria Math" panose="02040503050406030204" pitchFamily="18" charset="0"/>
                          <a:ea typeface="Cambria Math" panose="02040503050406030204" pitchFamily="18" charset="0"/>
                        </a:rPr>
                        <m:t>±</m:t>
                      </m:r>
                      <m:r>
                        <m:rPr>
                          <m:nor/>
                        </m:rPr>
                        <a:rPr lang="nn-NO"/>
                        <m:t>0.0124</m:t>
                      </m:r>
                      <m:r>
                        <m:rPr>
                          <m:nor/>
                        </m:rPr>
                        <a:rPr lang="nn-NO"/>
                        <m:t>i</m:t>
                      </m:r>
                    </m:oMath>
                  </m:oMathPara>
                </a14:m>
                <a:br>
                  <a:rPr lang="nn-NO"/>
                </a:br>
                <a:endParaRPr lang="nn-NO"/>
              </a:p>
              <a:p>
                <a:pPr algn="ctr"/>
                <a:endParaRPr lang="en-NL"/>
              </a:p>
            </p:txBody>
          </p:sp>
        </mc:Choice>
        <mc:Fallback xmlns="">
          <p:sp>
            <p:nvSpPr>
              <p:cNvPr id="9" name="Rectangle: Rounded Corners 8">
                <a:extLst>
                  <a:ext uri="{FF2B5EF4-FFF2-40B4-BE49-F238E27FC236}">
                    <a16:creationId xmlns:a16="http://schemas.microsoft.com/office/drawing/2014/main" id="{EA17FB6F-9CBF-4576-78BB-D0E0744E9BE6}"/>
                  </a:ext>
                </a:extLst>
              </p:cNvPr>
              <p:cNvSpPr>
                <a:spLocks noRot="1" noChangeAspect="1" noMove="1" noResize="1" noEditPoints="1" noAdjustHandles="1" noChangeArrowheads="1" noChangeShapeType="1" noTextEdit="1"/>
              </p:cNvSpPr>
              <p:nvPr/>
            </p:nvSpPr>
            <p:spPr>
              <a:xfrm>
                <a:off x="1219159" y="2358796"/>
                <a:ext cx="1851191" cy="1607227"/>
              </a:xfrm>
              <a:prstGeom prst="round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EEEF187-538A-2BF5-9525-606EBF792C3F}"/>
                  </a:ext>
                </a:extLst>
              </p:cNvPr>
              <p:cNvSpPr txBox="1"/>
              <p:nvPr/>
            </p:nvSpPr>
            <p:spPr>
              <a:xfrm>
                <a:off x="6297298" y="724700"/>
                <a:ext cx="1802921" cy="1175258"/>
              </a:xfrm>
              <a:prstGeom prst="rect">
                <a:avLst/>
              </a:prstGeom>
              <a:noFill/>
            </p:spPr>
            <p:txBody>
              <a:bodyPr wrap="square" rtlCol="0">
                <a:spAutoFit/>
              </a:bodyPr>
              <a:lstStyle/>
              <a:p>
                <a14:m>
                  <m:oMath xmlns:m="http://schemas.openxmlformats.org/officeDocument/2006/math">
                    <m:f>
                      <m:fPr>
                        <m:ctrlPr>
                          <a:rPr lang="en-NL" sz="2800" i="1" smtClean="0">
                            <a:solidFill>
                              <a:schemeClr val="bg1">
                                <a:lumMod val="95000"/>
                              </a:schemeClr>
                            </a:solidFill>
                            <a:latin typeface="Cambria Math" panose="02040503050406030204" pitchFamily="18" charset="0"/>
                          </a:rPr>
                        </m:ctrlPr>
                      </m:fPr>
                      <m:num>
                        <m:f>
                          <m:fPr>
                            <m:ctrlPr>
                              <a:rPr lang="en-NL" sz="2800" i="1" smtClean="0">
                                <a:solidFill>
                                  <a:schemeClr val="bg1">
                                    <a:lumMod val="95000"/>
                                  </a:schemeClr>
                                </a:solidFill>
                                <a:latin typeface="Cambria Math" panose="02040503050406030204" pitchFamily="18" charset="0"/>
                              </a:rPr>
                            </m:ctrlPr>
                          </m:fPr>
                          <m:num>
                            <m:sSub>
                              <m:sSubPr>
                                <m:ctrlPr>
                                  <a:rPr lang="en-NL" sz="2800" i="1" smtClean="0">
                                    <a:solidFill>
                                      <a:schemeClr val="bg1">
                                        <a:lumMod val="95000"/>
                                      </a:schemeClr>
                                    </a:solidFill>
                                    <a:latin typeface="Cambria Math" panose="02040503050406030204" pitchFamily="18" charset="0"/>
                                  </a:rPr>
                                </m:ctrlPr>
                              </m:sSubPr>
                              <m:e>
                                <m:r>
                                  <m:rPr>
                                    <m:sty m:val="p"/>
                                  </m:rPr>
                                  <a:rPr lang="en-US" sz="2800" i="1">
                                    <a:solidFill>
                                      <a:schemeClr val="bg1">
                                        <a:lumMod val="95000"/>
                                      </a:schemeClr>
                                    </a:solidFill>
                                    <a:latin typeface="Cambria Math" panose="02040503050406030204" pitchFamily="18" charset="0"/>
                                  </a:rPr>
                                  <m:t>A</m:t>
                                </m:r>
                              </m:e>
                              <m:sub>
                                <m:r>
                                  <a:rPr lang="en-US" sz="2800" b="0" i="1" smtClean="0">
                                    <a:solidFill>
                                      <a:schemeClr val="bg1">
                                        <a:lumMod val="95000"/>
                                      </a:schemeClr>
                                    </a:solidFill>
                                    <a:latin typeface="Cambria Math" panose="02040503050406030204" pitchFamily="18" charset="0"/>
                                  </a:rPr>
                                  <m:t>1</m:t>
                                </m:r>
                              </m:sub>
                            </m:sSub>
                          </m:num>
                          <m:den>
                            <m:sSub>
                              <m:sSubPr>
                                <m:ctrlPr>
                                  <a:rPr lang="en-NL" sz="2800" i="1">
                                    <a:solidFill>
                                      <a:schemeClr val="bg1">
                                        <a:lumMod val="95000"/>
                                      </a:schemeClr>
                                    </a:solidFill>
                                    <a:latin typeface="Cambria Math" panose="02040503050406030204" pitchFamily="18" charset="0"/>
                                  </a:rPr>
                                </m:ctrlPr>
                              </m:sSubPr>
                              <m:e>
                                <m:r>
                                  <m:rPr>
                                    <m:sty m:val="p"/>
                                  </m:rPr>
                                  <a:rPr lang="en-US" sz="2800" b="0" i="1" smtClean="0">
                                    <a:solidFill>
                                      <a:schemeClr val="bg1">
                                        <a:lumMod val="95000"/>
                                      </a:schemeClr>
                                    </a:solidFill>
                                    <a:latin typeface="Cambria Math" panose="02040503050406030204" pitchFamily="18" charset="0"/>
                                  </a:rPr>
                                  <m:t>B</m:t>
                                </m:r>
                              </m:e>
                              <m:sub>
                                <m:r>
                                  <a:rPr lang="en-US" sz="2800" i="1">
                                    <a:solidFill>
                                      <a:schemeClr val="bg1">
                                        <a:lumMod val="95000"/>
                                      </a:schemeClr>
                                    </a:solidFill>
                                    <a:latin typeface="Cambria Math" panose="02040503050406030204" pitchFamily="18" charset="0"/>
                                  </a:rPr>
                                  <m:t>1</m:t>
                                </m:r>
                              </m:sub>
                            </m:sSub>
                          </m:den>
                        </m:f>
                      </m:num>
                      <m:den>
                        <m:f>
                          <m:fPr>
                            <m:ctrlPr>
                              <a:rPr lang="en-NL" sz="2800" i="1" smtClean="0">
                                <a:solidFill>
                                  <a:schemeClr val="bg1">
                                    <a:lumMod val="95000"/>
                                  </a:schemeClr>
                                </a:solidFill>
                                <a:latin typeface="Cambria Math" panose="02040503050406030204" pitchFamily="18" charset="0"/>
                              </a:rPr>
                            </m:ctrlPr>
                          </m:fPr>
                          <m:num>
                            <m:sSub>
                              <m:sSubPr>
                                <m:ctrlPr>
                                  <a:rPr lang="en-NL" sz="2800" i="1">
                                    <a:solidFill>
                                      <a:schemeClr val="bg1">
                                        <a:lumMod val="95000"/>
                                      </a:schemeClr>
                                    </a:solidFill>
                                    <a:latin typeface="Cambria Math" panose="02040503050406030204" pitchFamily="18" charset="0"/>
                                  </a:rPr>
                                </m:ctrlPr>
                              </m:sSubPr>
                              <m:e>
                                <m:r>
                                  <m:rPr>
                                    <m:sty m:val="p"/>
                                  </m:rPr>
                                  <a:rPr lang="en-US" sz="2800" i="1">
                                    <a:solidFill>
                                      <a:schemeClr val="bg1">
                                        <a:lumMod val="95000"/>
                                      </a:schemeClr>
                                    </a:solidFill>
                                    <a:latin typeface="Cambria Math" panose="02040503050406030204" pitchFamily="18" charset="0"/>
                                  </a:rPr>
                                  <m:t>A</m:t>
                                </m:r>
                              </m:e>
                              <m:sub>
                                <m:r>
                                  <a:rPr lang="en-US" sz="2800" b="0" i="1" smtClean="0">
                                    <a:solidFill>
                                      <a:schemeClr val="bg1">
                                        <a:lumMod val="95000"/>
                                      </a:schemeClr>
                                    </a:solidFill>
                                    <a:latin typeface="Cambria Math" panose="02040503050406030204" pitchFamily="18" charset="0"/>
                                  </a:rPr>
                                  <m:t>2</m:t>
                                </m:r>
                              </m:sub>
                            </m:sSub>
                          </m:num>
                          <m:den>
                            <m:sSub>
                              <m:sSubPr>
                                <m:ctrlPr>
                                  <a:rPr lang="en-NL" sz="2800" i="1">
                                    <a:solidFill>
                                      <a:schemeClr val="bg1">
                                        <a:lumMod val="95000"/>
                                      </a:schemeClr>
                                    </a:solidFill>
                                    <a:latin typeface="Cambria Math" panose="02040503050406030204" pitchFamily="18" charset="0"/>
                                  </a:rPr>
                                </m:ctrlPr>
                              </m:sSubPr>
                              <m:e>
                                <m:r>
                                  <m:rPr>
                                    <m:sty m:val="p"/>
                                  </m:rPr>
                                  <a:rPr lang="en-US" sz="2800" b="0" i="1" smtClean="0">
                                    <a:solidFill>
                                      <a:schemeClr val="bg1">
                                        <a:lumMod val="95000"/>
                                      </a:schemeClr>
                                    </a:solidFill>
                                    <a:latin typeface="Cambria Math" panose="02040503050406030204" pitchFamily="18" charset="0"/>
                                  </a:rPr>
                                  <m:t>B</m:t>
                                </m:r>
                              </m:e>
                              <m:sub>
                                <m:r>
                                  <a:rPr lang="en-US" sz="2800" b="0" i="1" smtClean="0">
                                    <a:solidFill>
                                      <a:schemeClr val="bg1">
                                        <a:lumMod val="95000"/>
                                      </a:schemeClr>
                                    </a:solidFill>
                                    <a:latin typeface="Cambria Math" panose="02040503050406030204" pitchFamily="18" charset="0"/>
                                  </a:rPr>
                                  <m:t>2</m:t>
                                </m:r>
                              </m:sub>
                            </m:sSub>
                          </m:den>
                        </m:f>
                      </m:den>
                    </m:f>
                  </m:oMath>
                </a14:m>
                <a:r>
                  <a:rPr lang="en-US" sz="2800">
                    <a:solidFill>
                      <a:schemeClr val="bg1">
                        <a:lumMod val="95000"/>
                      </a:schemeClr>
                    </a:solidFill>
                  </a:rPr>
                  <a:t> = </a:t>
                </a:r>
                <a14:m>
                  <m:oMath xmlns:m="http://schemas.openxmlformats.org/officeDocument/2006/math">
                    <m:f>
                      <m:fPr>
                        <m:ctrlPr>
                          <a:rPr lang="en-US" sz="2800" i="1" smtClean="0">
                            <a:solidFill>
                              <a:schemeClr val="bg1">
                                <a:lumMod val="95000"/>
                              </a:schemeClr>
                            </a:solidFill>
                            <a:latin typeface="Cambria Math" panose="02040503050406030204" pitchFamily="18" charset="0"/>
                          </a:rPr>
                        </m:ctrlPr>
                      </m:fPr>
                      <m:num>
                        <m:sSub>
                          <m:sSubPr>
                            <m:ctrlPr>
                              <a:rPr lang="en-NL" sz="2800" i="1">
                                <a:solidFill>
                                  <a:schemeClr val="bg1">
                                    <a:lumMod val="95000"/>
                                  </a:schemeClr>
                                </a:solidFill>
                                <a:latin typeface="Cambria Math" panose="02040503050406030204" pitchFamily="18" charset="0"/>
                              </a:rPr>
                            </m:ctrlPr>
                          </m:sSubPr>
                          <m:e>
                            <m:r>
                              <m:rPr>
                                <m:sty m:val="p"/>
                              </m:rPr>
                              <a:rPr lang="en-US" sz="2800" i="1">
                                <a:solidFill>
                                  <a:schemeClr val="bg1">
                                    <a:lumMod val="95000"/>
                                  </a:schemeClr>
                                </a:solidFill>
                                <a:latin typeface="Cambria Math" panose="02040503050406030204" pitchFamily="18" charset="0"/>
                              </a:rPr>
                              <m:t>A</m:t>
                            </m:r>
                          </m:e>
                          <m:sub>
                            <m:r>
                              <a:rPr lang="en-US" sz="2800" i="1">
                                <a:solidFill>
                                  <a:schemeClr val="bg1">
                                    <a:lumMod val="95000"/>
                                  </a:schemeClr>
                                </a:solidFill>
                                <a:latin typeface="Cambria Math" panose="02040503050406030204" pitchFamily="18" charset="0"/>
                              </a:rPr>
                              <m:t>1</m:t>
                            </m:r>
                          </m:sub>
                        </m:sSub>
                        <m:sSub>
                          <m:sSubPr>
                            <m:ctrlPr>
                              <a:rPr lang="en-NL" sz="2800" i="1">
                                <a:solidFill>
                                  <a:schemeClr val="bg1">
                                    <a:lumMod val="95000"/>
                                  </a:schemeClr>
                                </a:solidFill>
                                <a:latin typeface="Cambria Math" panose="02040503050406030204" pitchFamily="18" charset="0"/>
                              </a:rPr>
                            </m:ctrlPr>
                          </m:sSubPr>
                          <m:e>
                            <m:r>
                              <m:rPr>
                                <m:sty m:val="p"/>
                              </m:rPr>
                              <a:rPr lang="en-US" sz="2800" b="0" i="1" smtClean="0">
                                <a:solidFill>
                                  <a:schemeClr val="bg1">
                                    <a:lumMod val="95000"/>
                                  </a:schemeClr>
                                </a:solidFill>
                                <a:latin typeface="Cambria Math" panose="02040503050406030204" pitchFamily="18" charset="0"/>
                              </a:rPr>
                              <m:t>B</m:t>
                            </m:r>
                          </m:e>
                          <m:sub>
                            <m:r>
                              <a:rPr lang="en-US" sz="2800" b="0" i="1" smtClean="0">
                                <a:solidFill>
                                  <a:schemeClr val="bg1">
                                    <a:lumMod val="95000"/>
                                  </a:schemeClr>
                                </a:solidFill>
                                <a:latin typeface="Cambria Math" panose="02040503050406030204" pitchFamily="18" charset="0"/>
                              </a:rPr>
                              <m:t>2</m:t>
                            </m:r>
                          </m:sub>
                        </m:sSub>
                      </m:num>
                      <m:den>
                        <m:sSub>
                          <m:sSubPr>
                            <m:ctrlPr>
                              <a:rPr lang="en-NL" sz="2800" i="1">
                                <a:solidFill>
                                  <a:schemeClr val="bg1">
                                    <a:lumMod val="95000"/>
                                  </a:schemeClr>
                                </a:solidFill>
                                <a:latin typeface="Cambria Math" panose="02040503050406030204" pitchFamily="18" charset="0"/>
                              </a:rPr>
                            </m:ctrlPr>
                          </m:sSubPr>
                          <m:e>
                            <m:r>
                              <a:rPr lang="en-US" sz="2800" b="0" i="1" smtClean="0">
                                <a:solidFill>
                                  <a:schemeClr val="bg1">
                                    <a:lumMod val="95000"/>
                                  </a:schemeClr>
                                </a:solidFill>
                                <a:latin typeface="Cambria Math" panose="02040503050406030204" pitchFamily="18" charset="0"/>
                              </a:rPr>
                              <m:t>𝐵</m:t>
                            </m:r>
                          </m:e>
                          <m:sub>
                            <m:r>
                              <a:rPr lang="en-US" sz="2800" b="0" i="1">
                                <a:solidFill>
                                  <a:schemeClr val="bg1">
                                    <a:lumMod val="95000"/>
                                  </a:schemeClr>
                                </a:solidFill>
                                <a:latin typeface="Cambria Math" panose="02040503050406030204" pitchFamily="18" charset="0"/>
                              </a:rPr>
                              <m:t>1</m:t>
                            </m:r>
                          </m:sub>
                        </m:sSub>
                        <m:sSub>
                          <m:sSubPr>
                            <m:ctrlPr>
                              <a:rPr lang="en-NL" sz="2800" i="1">
                                <a:solidFill>
                                  <a:schemeClr val="bg1">
                                    <a:lumMod val="95000"/>
                                  </a:schemeClr>
                                </a:solidFill>
                                <a:latin typeface="Cambria Math" panose="02040503050406030204" pitchFamily="18" charset="0"/>
                              </a:rPr>
                            </m:ctrlPr>
                          </m:sSubPr>
                          <m:e>
                            <m:r>
                              <m:rPr>
                                <m:sty m:val="p"/>
                              </m:rPr>
                              <a:rPr lang="en-US" sz="2800" i="1">
                                <a:solidFill>
                                  <a:schemeClr val="bg1">
                                    <a:lumMod val="95000"/>
                                  </a:schemeClr>
                                </a:solidFill>
                                <a:latin typeface="Cambria Math" panose="02040503050406030204" pitchFamily="18" charset="0"/>
                              </a:rPr>
                              <m:t>A</m:t>
                            </m:r>
                          </m:e>
                          <m:sub>
                            <m:r>
                              <a:rPr lang="en-US" sz="2800" b="0" i="1" smtClean="0">
                                <a:solidFill>
                                  <a:schemeClr val="bg1">
                                    <a:lumMod val="95000"/>
                                  </a:schemeClr>
                                </a:solidFill>
                                <a:latin typeface="Cambria Math" panose="02040503050406030204" pitchFamily="18" charset="0"/>
                              </a:rPr>
                              <m:t>2</m:t>
                            </m:r>
                          </m:sub>
                        </m:sSub>
                      </m:den>
                    </m:f>
                  </m:oMath>
                </a14:m>
                <a:endParaRPr lang="en-NL" sz="2800"/>
              </a:p>
            </p:txBody>
          </p:sp>
        </mc:Choice>
        <mc:Fallback xmlns="">
          <p:sp>
            <p:nvSpPr>
              <p:cNvPr id="17" name="TextBox 16">
                <a:extLst>
                  <a:ext uri="{FF2B5EF4-FFF2-40B4-BE49-F238E27FC236}">
                    <a16:creationId xmlns:a16="http://schemas.microsoft.com/office/drawing/2014/main" id="{4EEEF187-538A-2BF5-9525-606EBF792C3F}"/>
                  </a:ext>
                </a:extLst>
              </p:cNvPr>
              <p:cNvSpPr txBox="1">
                <a:spLocks noRot="1" noChangeAspect="1" noMove="1" noResize="1" noEditPoints="1" noAdjustHandles="1" noChangeArrowheads="1" noChangeShapeType="1" noTextEdit="1"/>
              </p:cNvSpPr>
              <p:nvPr/>
            </p:nvSpPr>
            <p:spPr>
              <a:xfrm>
                <a:off x="6297298" y="724700"/>
                <a:ext cx="1802921" cy="117525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Rounded Corners 23">
                <a:extLst>
                  <a:ext uri="{FF2B5EF4-FFF2-40B4-BE49-F238E27FC236}">
                    <a16:creationId xmlns:a16="http://schemas.microsoft.com/office/drawing/2014/main" id="{22AF96DD-F932-1129-11CE-8E8C3063A6BB}"/>
                  </a:ext>
                </a:extLst>
              </p:cNvPr>
              <p:cNvSpPr/>
              <p:nvPr/>
            </p:nvSpPr>
            <p:spPr>
              <a:xfrm>
                <a:off x="3267821" y="2358796"/>
                <a:ext cx="1851191" cy="16072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lnSpc>
                    <a:spcPct val="150000"/>
                  </a:lnSpc>
                </a:pPr>
                <a14:m>
                  <m:oMathPara xmlns:m="http://schemas.openxmlformats.org/officeDocument/2006/math">
                    <m:oMathParaPr>
                      <m:jc m:val="centerGroup"/>
                    </m:oMathParaPr>
                    <m:oMath xmlns:m="http://schemas.openxmlformats.org/officeDocument/2006/math">
                      <m:r>
                        <m:rPr>
                          <m:nor/>
                        </m:rPr>
                        <a:rPr lang="nn-NO"/>
                        <m:t>1.0000 </m:t>
                      </m:r>
                      <m:r>
                        <a:rPr lang="nn-NO" i="1" smtClean="0">
                          <a:latin typeface="Cambria Math" panose="02040503050406030204" pitchFamily="18" charset="0"/>
                          <a:ea typeface="Cambria Math" panose="02040503050406030204" pitchFamily="18" charset="0"/>
                        </a:rPr>
                        <m:t>±</m:t>
                      </m:r>
                      <m:r>
                        <m:rPr>
                          <m:nor/>
                        </m:rPr>
                        <a:rPr lang="nn-NO"/>
                        <m:t> 0.0000</m:t>
                      </m:r>
                      <m:r>
                        <m:rPr>
                          <m:nor/>
                        </m:rPr>
                        <a:rPr lang="nn-NO"/>
                        <m:t>i</m:t>
                      </m:r>
                    </m:oMath>
                    <m:oMath xmlns:m="http://schemas.openxmlformats.org/officeDocument/2006/math">
                      <m:r>
                        <m:rPr>
                          <m:nor/>
                        </m:rPr>
                        <a:rPr lang="nn-NO"/>
                        <m:t>0.9919 </m:t>
                      </m:r>
                      <m:r>
                        <a:rPr lang="nn-NO" i="1" smtClean="0">
                          <a:latin typeface="Cambria Math" panose="02040503050406030204" pitchFamily="18" charset="0"/>
                          <a:ea typeface="Cambria Math" panose="02040503050406030204" pitchFamily="18" charset="0"/>
                        </a:rPr>
                        <m:t>±</m:t>
                      </m:r>
                      <m:r>
                        <m:rPr>
                          <m:nor/>
                        </m:rPr>
                        <a:rPr lang="nn-NO"/>
                        <m:t> 0.0793</m:t>
                      </m:r>
                      <m:r>
                        <m:rPr>
                          <m:nor/>
                        </m:rPr>
                        <a:rPr lang="nn-NO"/>
                        <m:t>i</m:t>
                      </m:r>
                    </m:oMath>
                    <m:oMath xmlns:m="http://schemas.openxmlformats.org/officeDocument/2006/math">
                      <m:r>
                        <m:rPr>
                          <m:nor/>
                        </m:rPr>
                        <a:rPr lang="nn-NO"/>
                        <m:t>0.9948 </m:t>
                      </m:r>
                      <m:r>
                        <a:rPr lang="nn-NO" i="1" smtClean="0">
                          <a:latin typeface="Cambria Math" panose="02040503050406030204" pitchFamily="18" charset="0"/>
                          <a:ea typeface="Cambria Math" panose="02040503050406030204" pitchFamily="18" charset="0"/>
                        </a:rPr>
                        <m:t>±</m:t>
                      </m:r>
                      <m:r>
                        <m:rPr>
                          <m:nor/>
                        </m:rPr>
                        <a:rPr lang="nn-NO"/>
                        <m:t> 0.0755</m:t>
                      </m:r>
                      <m:r>
                        <m:rPr>
                          <m:nor/>
                        </m:rPr>
                        <a:rPr lang="nn-NO"/>
                        <m:t>i</m:t>
                      </m:r>
                    </m:oMath>
                    <m:oMath xmlns:m="http://schemas.openxmlformats.org/officeDocument/2006/math">
                      <m:r>
                        <m:rPr>
                          <m:nor/>
                        </m:rPr>
                        <a:rPr lang="nn-NO"/>
                        <m:t>0.9950</m:t>
                      </m:r>
                      <m:r>
                        <a:rPr lang="nn-NO" i="1">
                          <a:latin typeface="Cambria Math" panose="02040503050406030204" pitchFamily="18" charset="0"/>
                          <a:ea typeface="Cambria Math" panose="02040503050406030204" pitchFamily="18" charset="0"/>
                        </a:rPr>
                        <m:t>±</m:t>
                      </m:r>
                      <m:r>
                        <m:rPr>
                          <m:nor/>
                        </m:rPr>
                        <a:rPr lang="nn-NO"/>
                        <m:t>0.0632</m:t>
                      </m:r>
                      <m:r>
                        <m:rPr>
                          <m:nor/>
                        </m:rPr>
                        <a:rPr lang="nn-NO"/>
                        <m:t>i</m:t>
                      </m:r>
                    </m:oMath>
                    <m:oMath xmlns:m="http://schemas.openxmlformats.org/officeDocument/2006/math">
                      <m:r>
                        <m:rPr>
                          <m:nor/>
                        </m:rPr>
                        <a:rPr lang="nn-NO"/>
                        <m:t>0.9992</m:t>
                      </m:r>
                      <m:r>
                        <a:rPr lang="nn-NO" i="1">
                          <a:latin typeface="Cambria Math" panose="02040503050406030204" pitchFamily="18" charset="0"/>
                          <a:ea typeface="Cambria Math" panose="02040503050406030204" pitchFamily="18" charset="0"/>
                        </a:rPr>
                        <m:t>±</m:t>
                      </m:r>
                      <m:r>
                        <m:rPr>
                          <m:nor/>
                        </m:rPr>
                        <a:rPr lang="nn-NO"/>
                        <m:t>0.0124</m:t>
                      </m:r>
                      <m:r>
                        <m:rPr>
                          <m:nor/>
                        </m:rPr>
                        <a:rPr lang="nn-NO"/>
                        <m:t>i</m:t>
                      </m:r>
                    </m:oMath>
                  </m:oMathPara>
                </a14:m>
                <a:br>
                  <a:rPr lang="nn-NO"/>
                </a:br>
                <a:endParaRPr lang="nn-NO"/>
              </a:p>
              <a:p>
                <a:pPr algn="ctr"/>
                <a:endParaRPr lang="en-NL"/>
              </a:p>
            </p:txBody>
          </p:sp>
        </mc:Choice>
        <mc:Fallback xmlns="">
          <p:sp>
            <p:nvSpPr>
              <p:cNvPr id="24" name="Rectangle: Rounded Corners 23">
                <a:extLst>
                  <a:ext uri="{FF2B5EF4-FFF2-40B4-BE49-F238E27FC236}">
                    <a16:creationId xmlns:a16="http://schemas.microsoft.com/office/drawing/2014/main" id="{22AF96DD-F932-1129-11CE-8E8C3063A6BB}"/>
                  </a:ext>
                </a:extLst>
              </p:cNvPr>
              <p:cNvSpPr>
                <a:spLocks noRot="1" noChangeAspect="1" noMove="1" noResize="1" noEditPoints="1" noAdjustHandles="1" noChangeArrowheads="1" noChangeShapeType="1" noTextEdit="1"/>
              </p:cNvSpPr>
              <p:nvPr/>
            </p:nvSpPr>
            <p:spPr>
              <a:xfrm>
                <a:off x="3267821" y="2358796"/>
                <a:ext cx="1851191" cy="1607227"/>
              </a:xfrm>
              <a:prstGeom prst="round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78A49EE-7CCB-7E04-A3E9-D7893FC45E9D}"/>
                  </a:ext>
                </a:extLst>
              </p:cNvPr>
              <p:cNvSpPr txBox="1"/>
              <p:nvPr/>
            </p:nvSpPr>
            <p:spPr>
              <a:xfrm>
                <a:off x="1693462" y="2067417"/>
                <a:ext cx="1598212" cy="307777"/>
              </a:xfrm>
              <a:prstGeom prst="rect">
                <a:avLst/>
              </a:prstGeom>
              <a:noFill/>
            </p:spPr>
            <p:txBody>
              <a:bodyPr wrap="square" rtlCol="0">
                <a:spAutoFit/>
              </a:bodyPr>
              <a:lstStyle/>
              <a:p>
                <a:r>
                  <a:rPr lang="en-US"/>
                  <a:t>Poles </a:t>
                </a:r>
                <a14:m>
                  <m:oMath xmlns:m="http://schemas.openxmlformats.org/officeDocument/2006/math">
                    <m:sSub>
                      <m:sSubPr>
                        <m:ctrlPr>
                          <a:rPr lang="en-NL" sz="1200" i="1">
                            <a:latin typeface="Cambria Math" panose="02040503050406030204" pitchFamily="18" charset="0"/>
                          </a:rPr>
                        </m:ctrlPr>
                      </m:sSubPr>
                      <m:e>
                        <m:r>
                          <a:rPr lang="en-US" sz="1200" i="1">
                            <a:latin typeface="Cambria Math" panose="02040503050406030204" pitchFamily="18" charset="0"/>
                          </a:rPr>
                          <m:t>𝑃</m:t>
                        </m:r>
                      </m:e>
                      <m:sub>
                        <m:r>
                          <a:rPr lang="en-NL" sz="1200">
                            <a:latin typeface="Cambria Math" panose="02040503050406030204" pitchFamily="18" charset="0"/>
                          </a:rPr>
                          <m:t>22</m:t>
                        </m:r>
                      </m:sub>
                    </m:sSub>
                  </m:oMath>
                </a14:m>
                <a:endParaRPr lang="en-NL"/>
              </a:p>
            </p:txBody>
          </p:sp>
        </mc:Choice>
        <mc:Fallback xmlns="">
          <p:sp>
            <p:nvSpPr>
              <p:cNvPr id="25" name="TextBox 24">
                <a:extLst>
                  <a:ext uri="{FF2B5EF4-FFF2-40B4-BE49-F238E27FC236}">
                    <a16:creationId xmlns:a16="http://schemas.microsoft.com/office/drawing/2014/main" id="{F78A49EE-7CCB-7E04-A3E9-D7893FC45E9D}"/>
                  </a:ext>
                </a:extLst>
              </p:cNvPr>
              <p:cNvSpPr txBox="1">
                <a:spLocks noRot="1" noChangeAspect="1" noMove="1" noResize="1" noEditPoints="1" noAdjustHandles="1" noChangeArrowheads="1" noChangeShapeType="1" noTextEdit="1"/>
              </p:cNvSpPr>
              <p:nvPr/>
            </p:nvSpPr>
            <p:spPr>
              <a:xfrm>
                <a:off x="1693462" y="2067417"/>
                <a:ext cx="1598212" cy="307777"/>
              </a:xfrm>
              <a:prstGeom prst="rect">
                <a:avLst/>
              </a:prstGeom>
              <a:blipFill>
                <a:blip r:embed="rId8"/>
                <a:stretch>
                  <a:fillRect l="-1145" t="-1961"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0A01EEA-5F58-7D39-A797-662D452244B3}"/>
                  </a:ext>
                </a:extLst>
              </p:cNvPr>
              <p:cNvSpPr txBox="1"/>
              <p:nvPr/>
            </p:nvSpPr>
            <p:spPr>
              <a:xfrm>
                <a:off x="3793074" y="2050044"/>
                <a:ext cx="1598212" cy="307777"/>
              </a:xfrm>
              <a:prstGeom prst="rect">
                <a:avLst/>
              </a:prstGeom>
              <a:noFill/>
            </p:spPr>
            <p:txBody>
              <a:bodyPr wrap="square" rtlCol="0">
                <a:spAutoFit/>
              </a:bodyPr>
              <a:lstStyle/>
              <a:p>
                <a:r>
                  <a:rPr lang="en-US"/>
                  <a:t>Poles </a:t>
                </a:r>
                <a14:m>
                  <m:oMath xmlns:m="http://schemas.openxmlformats.org/officeDocument/2006/math">
                    <m:sSub>
                      <m:sSubPr>
                        <m:ctrlPr>
                          <a:rPr lang="en-NL" sz="1200" i="1" smtClean="0">
                            <a:latin typeface="Cambria Math" panose="02040503050406030204" pitchFamily="18" charset="0"/>
                          </a:rPr>
                        </m:ctrlPr>
                      </m:sSubPr>
                      <m:e>
                        <m:r>
                          <a:rPr lang="en-US" sz="1200" i="1">
                            <a:latin typeface="Cambria Math" panose="02040503050406030204" pitchFamily="18" charset="0"/>
                          </a:rPr>
                          <m:t>𝑃</m:t>
                        </m:r>
                      </m:e>
                      <m:sub>
                        <m:r>
                          <a:rPr lang="en-NL" sz="1200">
                            <a:latin typeface="Cambria Math" panose="02040503050406030204" pitchFamily="18" charset="0"/>
                          </a:rPr>
                          <m:t>2</m:t>
                        </m:r>
                        <m:r>
                          <a:rPr lang="en-US" sz="1200" b="0" i="1" smtClean="0">
                            <a:latin typeface="Cambria Math" panose="02040503050406030204" pitchFamily="18" charset="0"/>
                          </a:rPr>
                          <m:t>1</m:t>
                        </m:r>
                      </m:sub>
                    </m:sSub>
                  </m:oMath>
                </a14:m>
                <a:endParaRPr lang="en-NL"/>
              </a:p>
            </p:txBody>
          </p:sp>
        </mc:Choice>
        <mc:Fallback xmlns="">
          <p:sp>
            <p:nvSpPr>
              <p:cNvPr id="31" name="TextBox 30">
                <a:extLst>
                  <a:ext uri="{FF2B5EF4-FFF2-40B4-BE49-F238E27FC236}">
                    <a16:creationId xmlns:a16="http://schemas.microsoft.com/office/drawing/2014/main" id="{60A01EEA-5F58-7D39-A797-662D452244B3}"/>
                  </a:ext>
                </a:extLst>
              </p:cNvPr>
              <p:cNvSpPr txBox="1">
                <a:spLocks noRot="1" noChangeAspect="1" noMove="1" noResize="1" noEditPoints="1" noAdjustHandles="1" noChangeArrowheads="1" noChangeShapeType="1" noTextEdit="1"/>
              </p:cNvSpPr>
              <p:nvPr/>
            </p:nvSpPr>
            <p:spPr>
              <a:xfrm>
                <a:off x="3793074" y="2050044"/>
                <a:ext cx="1598212" cy="307777"/>
              </a:xfrm>
              <a:prstGeom prst="rect">
                <a:avLst/>
              </a:prstGeom>
              <a:blipFill>
                <a:blip r:embed="rId9"/>
                <a:stretch>
                  <a:fillRect l="-763" t="-1961" b="-15686"/>
                </a:stretch>
              </a:blipFill>
            </p:spPr>
            <p:txBody>
              <a:bodyPr/>
              <a:lstStyle/>
              <a:p>
                <a:r>
                  <a:rPr lang="en-US">
                    <a:noFill/>
                  </a:rPr>
                  <a:t> </a:t>
                </a:r>
              </a:p>
            </p:txBody>
          </p:sp>
        </mc:Fallback>
      </mc:AlternateContent>
    </p:spTree>
    <p:extLst>
      <p:ext uri="{BB962C8B-B14F-4D97-AF65-F5344CB8AC3E}">
        <p14:creationId xmlns:p14="http://schemas.microsoft.com/office/powerpoint/2010/main" val="3991293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9" grpId="0" animBg="1"/>
      <p:bldP spid="24" grpId="0" animBg="1"/>
      <p:bldP spid="25"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DDFF5-35BF-119F-1181-93CF4D791494}"/>
              </a:ext>
            </a:extLst>
          </p:cNvPr>
          <p:cNvSpPr>
            <a:spLocks noGrp="1"/>
          </p:cNvSpPr>
          <p:nvPr>
            <p:ph type="title"/>
          </p:nvPr>
        </p:nvSpPr>
        <p:spPr/>
        <p:txBody>
          <a:bodyPr/>
          <a:lstStyle/>
          <a:p>
            <a:r>
              <a:rPr lang="en-US"/>
              <a:t>Choosing basis functions - Bode plots</a:t>
            </a:r>
            <a:endParaRPr lang="en-NL"/>
          </a:p>
        </p:txBody>
      </p:sp>
      <p:sp>
        <p:nvSpPr>
          <p:cNvPr id="3" name="Content Placeholder 2">
            <a:extLst>
              <a:ext uri="{FF2B5EF4-FFF2-40B4-BE49-F238E27FC236}">
                <a16:creationId xmlns:a16="http://schemas.microsoft.com/office/drawing/2014/main" id="{EFB9C6BB-5B64-EBAE-C651-948B14A44205}"/>
              </a:ext>
            </a:extLst>
          </p:cNvPr>
          <p:cNvSpPr>
            <a:spLocks noGrp="1"/>
          </p:cNvSpPr>
          <p:nvPr>
            <p:ph idx="1"/>
          </p:nvPr>
        </p:nvSpPr>
        <p:spPr>
          <a:xfrm>
            <a:off x="192358" y="3280406"/>
            <a:ext cx="3737715" cy="991413"/>
          </a:xfrm>
        </p:spPr>
        <p:txBody>
          <a:bodyPr vert="horz" lIns="0" tIns="0" rIns="0" bIns="0" rtlCol="0" anchor="t">
            <a:noAutofit/>
          </a:bodyPr>
          <a:lstStyle/>
          <a:p>
            <a:pPr marL="285750" indent="-285750">
              <a:buFont typeface="Arial" panose="020B0604020202020204" pitchFamily="34" charset="0"/>
              <a:buChar char="•"/>
            </a:pPr>
            <a:r>
              <a:rPr lang="en-US" sz="1350">
                <a:ea typeface="Calibri"/>
                <a:cs typeface="Calibri"/>
              </a:rPr>
              <a:t>Try SISO approach elementwise</a:t>
            </a:r>
          </a:p>
          <a:p>
            <a:pPr marL="285750" indent="-285750">
              <a:buFont typeface="Arial" panose="020B0604020202020204" pitchFamily="34" charset="0"/>
              <a:buChar char="•"/>
            </a:pPr>
            <a:r>
              <a:rPr lang="en-US" sz="1350">
                <a:ea typeface="Calibri"/>
                <a:cs typeface="Calibri"/>
              </a:rPr>
              <a:t>High order modes (10/12th order)</a:t>
            </a:r>
          </a:p>
          <a:p>
            <a:pPr marL="285750" indent="-285750">
              <a:buFont typeface="Arial" panose="020B0604020202020204" pitchFamily="34" charset="0"/>
              <a:buChar char="•"/>
            </a:pPr>
            <a:r>
              <a:rPr lang="en-US" sz="1350">
                <a:ea typeface="Calibri"/>
                <a:cs typeface="Calibri"/>
              </a:rPr>
              <a:t>Reference excites low frequencies (expected)</a:t>
            </a:r>
          </a:p>
          <a:p>
            <a:pPr marL="285750" indent="-285750">
              <a:buFont typeface="Arial" panose="020B0604020202020204" pitchFamily="34" charset="0"/>
              <a:buChar char="•"/>
            </a:pPr>
            <a:r>
              <a:rPr lang="en-US" sz="1350">
                <a:ea typeface="Calibri"/>
                <a:cs typeface="Calibri"/>
              </a:rPr>
              <a:t>Do we need to capture all modes?</a:t>
            </a:r>
          </a:p>
          <a:p>
            <a:endParaRPr lang="en-US" sz="1350">
              <a:ea typeface="Calibri"/>
              <a:cs typeface="Calibri"/>
            </a:endParaRPr>
          </a:p>
          <a:p>
            <a:endParaRPr lang="en-US" sz="1350">
              <a:ea typeface="Calibri"/>
              <a:cs typeface="Calibri"/>
            </a:endParaRPr>
          </a:p>
        </p:txBody>
      </p:sp>
      <p:sp>
        <p:nvSpPr>
          <p:cNvPr id="4" name="Footer Placeholder 3">
            <a:extLst>
              <a:ext uri="{FF2B5EF4-FFF2-40B4-BE49-F238E27FC236}">
                <a16:creationId xmlns:a16="http://schemas.microsoft.com/office/drawing/2014/main" id="{E03DBB91-6413-10D7-E8A1-50826741CEDC}"/>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B779AD05-571B-4EA3-9216-F7873C908B9B}"/>
              </a:ext>
            </a:extLst>
          </p:cNvPr>
          <p:cNvSpPr>
            <a:spLocks noGrp="1"/>
          </p:cNvSpPr>
          <p:nvPr>
            <p:ph type="sldNum" sz="quarter" idx="12"/>
          </p:nvPr>
        </p:nvSpPr>
        <p:spPr/>
        <p:txBody>
          <a:bodyPr/>
          <a:lstStyle/>
          <a:p>
            <a:fld id="{C194BDB0-F4EA-4DD6-8281-CCE2440D0CE0}" type="slidenum">
              <a:rPr lang="en-GB" smtClean="0"/>
              <a:t>5</a:t>
            </a:fld>
            <a:endParaRPr lang="en-GB"/>
          </a:p>
        </p:txBody>
      </p:sp>
      <mc:AlternateContent xmlns:mc="http://schemas.openxmlformats.org/markup-compatibility/2006" xmlns:a14="http://schemas.microsoft.com/office/drawing/2010/main">
        <mc:Choice Requires="a14">
          <p:sp>
            <p:nvSpPr>
              <p:cNvPr id="10" name="Rectangle: Rounded Corners 9">
                <a:extLst>
                  <a:ext uri="{FF2B5EF4-FFF2-40B4-BE49-F238E27FC236}">
                    <a16:creationId xmlns:a16="http://schemas.microsoft.com/office/drawing/2014/main" id="{97C1DB83-CC1D-1B64-9F31-B64C3E6CBD1B}"/>
                  </a:ext>
                </a:extLst>
              </p:cNvPr>
              <p:cNvSpPr/>
              <p:nvPr/>
            </p:nvSpPr>
            <p:spPr>
              <a:xfrm>
                <a:off x="467112" y="1105789"/>
                <a:ext cx="3188206" cy="12062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d>
                      <m:dPr>
                        <m:begChr m:val="["/>
                        <m:endChr m:val="]"/>
                        <m:ctrlPr>
                          <a:rPr lang="en-NL" sz="1600" i="1">
                            <a:latin typeface="Cambria Math" panose="02040503050406030204" pitchFamily="18" charset="0"/>
                          </a:rPr>
                        </m:ctrlPr>
                      </m:dPr>
                      <m:e>
                        <m:m>
                          <m:mPr>
                            <m:mcs>
                              <m:mc>
                                <m:mcPr>
                                  <m:count m:val="2"/>
                                  <m:mcJc m:val="center"/>
                                </m:mcPr>
                              </m:mc>
                            </m:mcs>
                            <m:ctrlPr>
                              <a:rPr lang="en-NL" sz="1600" i="1">
                                <a:latin typeface="Cambria Math" panose="02040503050406030204" pitchFamily="18" charset="0"/>
                              </a:rPr>
                            </m:ctrlPr>
                          </m:mPr>
                          <m:mr>
                            <m:e>
                              <m:f>
                                <m:fPr>
                                  <m:ctrlPr>
                                    <a:rPr lang="en-US" sz="1600" i="1">
                                      <a:latin typeface="Cambria Math" panose="02040503050406030204" pitchFamily="18" charset="0"/>
                                    </a:rPr>
                                  </m:ctrlPr>
                                </m:fPr>
                                <m:num>
                                  <m:sSub>
                                    <m:sSubPr>
                                      <m:ctrlPr>
                                        <a:rPr lang="en-NL" sz="1600" i="1">
                                          <a:latin typeface="Cambria Math" panose="02040503050406030204" pitchFamily="18" charset="0"/>
                                        </a:rPr>
                                      </m:ctrlPr>
                                    </m:sSubPr>
                                    <m:e>
                                      <m:r>
                                        <a:rPr lang="en-NL" sz="1600" i="1">
                                          <a:latin typeface="Cambria Math" panose="02040503050406030204" pitchFamily="18" charset="0"/>
                                        </a:rPr>
                                        <m:t>𝐶</m:t>
                                      </m:r>
                                    </m:e>
                                    <m:sub>
                                      <m:r>
                                        <a:rPr lang="en-NL" sz="1600" i="1">
                                          <a:latin typeface="Cambria Math" panose="02040503050406030204" pitchFamily="18" charset="0"/>
                                        </a:rPr>
                                        <m:t>𝑓𝑓</m:t>
                                      </m:r>
                                      <m:r>
                                        <a:rPr lang="en-NL" sz="1600">
                                          <a:latin typeface="Cambria Math" panose="02040503050406030204" pitchFamily="18" charset="0"/>
                                        </a:rPr>
                                        <m:t>,</m:t>
                                      </m:r>
                                      <m:r>
                                        <a:rPr lang="en-NL" sz="1600" i="1">
                                          <a:latin typeface="Cambria Math" panose="02040503050406030204" pitchFamily="18" charset="0"/>
                                        </a:rPr>
                                        <m:t>𝑥𝑥</m:t>
                                      </m:r>
                                    </m:sub>
                                  </m:sSub>
                                </m:num>
                                <m:den>
                                  <m:sSub>
                                    <m:sSubPr>
                                      <m:ctrlPr>
                                        <a:rPr lang="en-NL" sz="1600" i="1">
                                          <a:latin typeface="Cambria Math" panose="02040503050406030204" pitchFamily="18" charset="0"/>
                                        </a:rPr>
                                      </m:ctrlPr>
                                    </m:sSubPr>
                                    <m:e>
                                      <m:r>
                                        <a:rPr lang="en-NL" sz="1600" i="1">
                                          <a:latin typeface="Cambria Math" panose="02040503050406030204" pitchFamily="18" charset="0"/>
                                        </a:rPr>
                                        <m:t>𝐶</m:t>
                                      </m:r>
                                    </m:e>
                                    <m:sub>
                                      <m:r>
                                        <a:rPr lang="en-NL" sz="1600" i="1">
                                          <a:latin typeface="Cambria Math" panose="02040503050406030204" pitchFamily="18" charset="0"/>
                                        </a:rPr>
                                        <m:t>𝑦</m:t>
                                      </m:r>
                                      <m:r>
                                        <a:rPr lang="en-NL" sz="1600">
                                          <a:latin typeface="Cambria Math" panose="02040503050406030204" pitchFamily="18" charset="0"/>
                                        </a:rPr>
                                        <m:t>,</m:t>
                                      </m:r>
                                      <m:r>
                                        <a:rPr lang="en-NL" sz="1600" i="1">
                                          <a:latin typeface="Cambria Math" panose="02040503050406030204" pitchFamily="18" charset="0"/>
                                        </a:rPr>
                                        <m:t>𝑥𝑥</m:t>
                                      </m:r>
                                    </m:sub>
                                  </m:sSub>
                                </m:den>
                              </m:f>
                            </m:e>
                            <m:e>
                              <m:r>
                                <a:rPr lang="en-US" sz="1600" i="1">
                                  <a:latin typeface="Cambria Math" panose="02040503050406030204" pitchFamily="18" charset="0"/>
                                </a:rPr>
                                <m:t>0</m:t>
                              </m:r>
                            </m:e>
                          </m:mr>
                          <m:mr>
                            <m:e>
                              <m:f>
                                <m:fPr>
                                  <m:ctrlPr>
                                    <a:rPr lang="en-US" sz="1600" i="1">
                                      <a:latin typeface="Cambria Math" panose="02040503050406030204" pitchFamily="18" charset="0"/>
                                    </a:rPr>
                                  </m:ctrlPr>
                                </m:fPr>
                                <m:num>
                                  <m:sSub>
                                    <m:sSubPr>
                                      <m:ctrlPr>
                                        <a:rPr lang="en-NL" sz="1600" i="1">
                                          <a:latin typeface="Cambria Math" panose="02040503050406030204" pitchFamily="18" charset="0"/>
                                        </a:rPr>
                                      </m:ctrlPr>
                                    </m:sSubPr>
                                    <m:e>
                                      <m:r>
                                        <a:rPr lang="en-NL" sz="1600" i="1">
                                          <a:latin typeface="Cambria Math" panose="02040503050406030204" pitchFamily="18" charset="0"/>
                                        </a:rPr>
                                        <m:t>𝐶</m:t>
                                      </m:r>
                                    </m:e>
                                    <m:sub>
                                      <m:r>
                                        <a:rPr lang="en-NL" sz="1600" i="1">
                                          <a:latin typeface="Cambria Math" panose="02040503050406030204" pitchFamily="18" charset="0"/>
                                        </a:rPr>
                                        <m:t>𝑓</m:t>
                                      </m:r>
                                      <m:sSub>
                                        <m:sSubPr>
                                          <m:ctrlPr>
                                            <a:rPr lang="en-NL" sz="1600" i="1">
                                              <a:latin typeface="Cambria Math" panose="02040503050406030204" pitchFamily="18" charset="0"/>
                                            </a:rPr>
                                          </m:ctrlPr>
                                        </m:sSubPr>
                                        <m:e>
                                          <m:r>
                                            <a:rPr lang="en-NL" sz="1600" i="1">
                                              <a:latin typeface="Cambria Math" panose="02040503050406030204" pitchFamily="18" charset="0"/>
                                            </a:rPr>
                                            <m:t>𝑓</m:t>
                                          </m:r>
                                        </m:e>
                                        <m:sub>
                                          <m:r>
                                            <a:rPr lang="en-US" sz="1600">
                                              <a:latin typeface="Cambria Math" panose="02040503050406030204" pitchFamily="18" charset="0"/>
                                            </a:rPr>
                                            <m:t>,</m:t>
                                          </m:r>
                                        </m:sub>
                                      </m:sSub>
                                      <m:r>
                                        <a:rPr lang="en-NL" sz="1600" i="1">
                                          <a:latin typeface="Cambria Math" panose="02040503050406030204" pitchFamily="18" charset="0"/>
                                        </a:rPr>
                                        <m:t>𝑥</m:t>
                                      </m:r>
                                      <m:r>
                                        <a:rPr lang="en-NL" sz="1600" i="1">
                                          <a:latin typeface="Cambria Math" panose="02040503050406030204" pitchFamily="18" charset="0"/>
                                        </a:rPr>
                                        <m:t>𝜑</m:t>
                                      </m:r>
                                    </m:sub>
                                  </m:sSub>
                                </m:num>
                                <m:den>
                                  <m:sSub>
                                    <m:sSubPr>
                                      <m:ctrlPr>
                                        <a:rPr lang="en-NL" sz="1600" i="1">
                                          <a:latin typeface="Cambria Math" panose="02040503050406030204" pitchFamily="18" charset="0"/>
                                        </a:rPr>
                                      </m:ctrlPr>
                                    </m:sSubPr>
                                    <m:e>
                                      <m:r>
                                        <a:rPr lang="en-NL" sz="1600" i="1">
                                          <a:latin typeface="Cambria Math" panose="02040503050406030204" pitchFamily="18" charset="0"/>
                                        </a:rPr>
                                        <m:t>𝐶</m:t>
                                      </m:r>
                                    </m:e>
                                    <m:sub>
                                      <m:r>
                                        <a:rPr lang="en-NL" sz="1600" i="1">
                                          <a:latin typeface="Cambria Math" panose="02040503050406030204" pitchFamily="18" charset="0"/>
                                        </a:rPr>
                                        <m:t>𝑦</m:t>
                                      </m:r>
                                      <m:r>
                                        <a:rPr lang="en-NL" sz="1600">
                                          <a:latin typeface="Cambria Math" panose="02040503050406030204" pitchFamily="18" charset="0"/>
                                        </a:rPr>
                                        <m:t>,</m:t>
                                      </m:r>
                                      <m:r>
                                        <a:rPr lang="en-NL" sz="1600" i="1">
                                          <a:latin typeface="Cambria Math" panose="02040503050406030204" pitchFamily="18" charset="0"/>
                                        </a:rPr>
                                        <m:t>𝑥𝑥</m:t>
                                      </m:r>
                                    </m:sub>
                                  </m:sSub>
                                </m:den>
                              </m:f>
                            </m:e>
                            <m:e>
                              <m:r>
                                <a:rPr lang="en-US" sz="1600" i="1">
                                  <a:latin typeface="Cambria Math" panose="02040503050406030204" pitchFamily="18" charset="0"/>
                                </a:rPr>
                                <m:t>0</m:t>
                              </m:r>
                            </m:e>
                          </m:mr>
                        </m:m>
                      </m:e>
                    </m:d>
                    <m:r>
                      <a:rPr lang="en-US" sz="1600" i="1">
                        <a:latin typeface="Cambria Math" panose="02040503050406030204" pitchFamily="18" charset="0"/>
                      </a:rPr>
                      <m:t>=</m:t>
                    </m:r>
                    <m:d>
                      <m:dPr>
                        <m:begChr m:val="["/>
                        <m:endChr m:val="]"/>
                        <m:ctrlPr>
                          <a:rPr lang="en-NL" sz="1600" i="1">
                            <a:latin typeface="Cambria Math" panose="02040503050406030204" pitchFamily="18" charset="0"/>
                          </a:rPr>
                        </m:ctrlPr>
                      </m:dPr>
                      <m:e>
                        <m:m>
                          <m:mPr>
                            <m:mcs>
                              <m:mc>
                                <m:mcPr>
                                  <m:count m:val="2"/>
                                  <m:mcJc m:val="center"/>
                                </m:mcPr>
                              </m:mc>
                            </m:mcs>
                            <m:ctrlPr>
                              <a:rPr lang="en-NL" sz="1600" i="1">
                                <a:latin typeface="Cambria Math" panose="02040503050406030204" pitchFamily="18" charset="0"/>
                              </a:rPr>
                            </m:ctrlPr>
                          </m:mPr>
                          <m:mr>
                            <m:e>
                              <m:f>
                                <m:fPr>
                                  <m:ctrlPr>
                                    <a:rPr lang="en-US" sz="1600" i="1">
                                      <a:latin typeface="Cambria Math" panose="02040503050406030204" pitchFamily="18" charset="0"/>
                                    </a:rPr>
                                  </m:ctrlPr>
                                </m:fPr>
                                <m:num>
                                  <m:sSub>
                                    <m:sSubPr>
                                      <m:ctrlPr>
                                        <a:rPr lang="en-NL" sz="1600" i="1">
                                          <a:latin typeface="Cambria Math" panose="02040503050406030204" pitchFamily="18" charset="0"/>
                                        </a:rPr>
                                      </m:ctrlPr>
                                    </m:sSubPr>
                                    <m:e>
                                      <m:r>
                                        <a:rPr lang="en-US" sz="1600" i="1">
                                          <a:latin typeface="Cambria Math" panose="02040503050406030204" pitchFamily="18" charset="0"/>
                                        </a:rPr>
                                        <m:t>𝑃</m:t>
                                      </m:r>
                                    </m:e>
                                    <m:sub>
                                      <m:r>
                                        <a:rPr lang="en-NL" sz="1600">
                                          <a:latin typeface="Cambria Math" panose="02040503050406030204" pitchFamily="18" charset="0"/>
                                        </a:rPr>
                                        <m:t>22</m:t>
                                      </m:r>
                                    </m:sub>
                                  </m:sSub>
                                </m:num>
                                <m:den>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11</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22</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12</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21</m:t>
                                      </m:r>
                                    </m:sub>
                                  </m:sSub>
                                  <m:r>
                                    <a:rPr lang="en-US" sz="1600" i="1">
                                      <a:latin typeface="Cambria Math" panose="02040503050406030204" pitchFamily="18" charset="0"/>
                                    </a:rPr>
                                    <m:t>)</m:t>
                                  </m:r>
                                </m:den>
                              </m:f>
                            </m:e>
                            <m:e>
                              <m:r>
                                <a:rPr lang="en-US" sz="1600" i="1">
                                  <a:latin typeface="Cambria Math" panose="02040503050406030204" pitchFamily="18" charset="0"/>
                                </a:rPr>
                                <m:t>∗</m:t>
                              </m:r>
                            </m:e>
                          </m:mr>
                          <m:mr>
                            <m:e>
                              <m:f>
                                <m:fPr>
                                  <m:ctrlPr>
                                    <a:rPr lang="en-US" sz="1600" i="1">
                                      <a:latin typeface="Cambria Math" panose="02040503050406030204" pitchFamily="18" charset="0"/>
                                    </a:rPr>
                                  </m:ctrlPr>
                                </m:fPr>
                                <m:num>
                                  <m:sSub>
                                    <m:sSubPr>
                                      <m:ctrlPr>
                                        <a:rPr lang="en-NL" sz="1600" i="1">
                                          <a:latin typeface="Cambria Math" panose="02040503050406030204" pitchFamily="18" charset="0"/>
                                        </a:rPr>
                                      </m:ctrlPr>
                                    </m:sSubPr>
                                    <m:e>
                                      <m:r>
                                        <a:rPr lang="en-US" sz="1600" i="1">
                                          <a:latin typeface="Cambria Math" panose="02040503050406030204" pitchFamily="18" charset="0"/>
                                        </a:rPr>
                                        <m:t>−</m:t>
                                      </m:r>
                                      <m:r>
                                        <a:rPr lang="en-US" sz="1600" i="1">
                                          <a:latin typeface="Cambria Math" panose="02040503050406030204" pitchFamily="18" charset="0"/>
                                        </a:rPr>
                                        <m:t>𝑃</m:t>
                                      </m:r>
                                    </m:e>
                                    <m:sub>
                                      <m:r>
                                        <a:rPr lang="en-NL" sz="1600">
                                          <a:latin typeface="Cambria Math" panose="02040503050406030204" pitchFamily="18" charset="0"/>
                                        </a:rPr>
                                        <m:t>2</m:t>
                                      </m:r>
                                      <m:r>
                                        <a:rPr lang="en-US" sz="1600" i="1">
                                          <a:latin typeface="Cambria Math" panose="02040503050406030204" pitchFamily="18" charset="0"/>
                                        </a:rPr>
                                        <m:t>1</m:t>
                                      </m:r>
                                    </m:sub>
                                  </m:sSub>
                                </m:num>
                                <m:den>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11</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22</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12</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21</m:t>
                                      </m:r>
                                    </m:sub>
                                  </m:sSub>
                                  <m:r>
                                    <a:rPr lang="en-US" sz="1600" i="1">
                                      <a:latin typeface="Cambria Math" panose="02040503050406030204" pitchFamily="18" charset="0"/>
                                    </a:rPr>
                                    <m:t>)</m:t>
                                  </m:r>
                                </m:den>
                              </m:f>
                            </m:e>
                            <m:e>
                              <m:r>
                                <a:rPr lang="en-US" sz="1600" i="1">
                                  <a:latin typeface="Cambria Math" panose="02040503050406030204" pitchFamily="18" charset="0"/>
                                </a:rPr>
                                <m:t>∗</m:t>
                              </m:r>
                            </m:e>
                          </m:mr>
                        </m:m>
                      </m:e>
                    </m:d>
                  </m:oMath>
                </a14:m>
                <a:r>
                  <a:rPr lang="en-US" sz="1600"/>
                  <a:t> </a:t>
                </a:r>
                <a:endParaRPr lang="en-NL" sz="1600"/>
              </a:p>
            </p:txBody>
          </p:sp>
        </mc:Choice>
        <mc:Fallback xmlns="">
          <p:sp>
            <p:nvSpPr>
              <p:cNvPr id="10" name="Rectangle: Rounded Corners 9">
                <a:extLst>
                  <a:ext uri="{FF2B5EF4-FFF2-40B4-BE49-F238E27FC236}">
                    <a16:creationId xmlns:a16="http://schemas.microsoft.com/office/drawing/2014/main" id="{97C1DB83-CC1D-1B64-9F31-B64C3E6CBD1B}"/>
                  </a:ext>
                </a:extLst>
              </p:cNvPr>
              <p:cNvSpPr>
                <a:spLocks noRot="1" noChangeAspect="1" noMove="1" noResize="1" noEditPoints="1" noAdjustHandles="1" noChangeArrowheads="1" noChangeShapeType="1" noTextEdit="1"/>
              </p:cNvSpPr>
              <p:nvPr/>
            </p:nvSpPr>
            <p:spPr>
              <a:xfrm>
                <a:off x="467112" y="1105789"/>
                <a:ext cx="3188206" cy="1206261"/>
              </a:xfrm>
              <a:prstGeom prst="roundRect">
                <a:avLst/>
              </a:prstGeom>
              <a:blipFill>
                <a:blip r:embed="rId3"/>
                <a:stretch>
                  <a:fillRect/>
                </a:stretch>
              </a:blipFill>
            </p:spPr>
            <p:txBody>
              <a:bodyPr/>
              <a:lstStyle/>
              <a:p>
                <a:r>
                  <a:rPr lang="en-NL">
                    <a:noFill/>
                  </a:rPr>
                  <a:t> </a:t>
                </a:r>
              </a:p>
            </p:txBody>
          </p:sp>
        </mc:Fallback>
      </mc:AlternateContent>
      <p:pic>
        <p:nvPicPr>
          <p:cNvPr id="19" name="Picture 18">
            <a:extLst>
              <a:ext uri="{FF2B5EF4-FFF2-40B4-BE49-F238E27FC236}">
                <a16:creationId xmlns:a16="http://schemas.microsoft.com/office/drawing/2014/main" id="{7A4D5C36-1D6C-9FD5-770C-365A4201F6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1120" y="1096271"/>
            <a:ext cx="5180345" cy="3251328"/>
          </a:xfrm>
          <a:prstGeom prst="rect">
            <a:avLst/>
          </a:prstGeom>
        </p:spPr>
      </p:pic>
    </p:spTree>
    <p:extLst>
      <p:ext uri="{BB962C8B-B14F-4D97-AF65-F5344CB8AC3E}">
        <p14:creationId xmlns:p14="http://schemas.microsoft.com/office/powerpoint/2010/main" val="1031028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76643-7296-6203-E398-F5B3A8FC3845}"/>
            </a:ext>
          </a:extLst>
        </p:cNvPr>
        <p:cNvGrpSpPr/>
        <p:nvPr/>
      </p:nvGrpSpPr>
      <p:grpSpPr>
        <a:xfrm>
          <a:off x="0" y="0"/>
          <a:ext cx="0" cy="0"/>
          <a:chOff x="0" y="0"/>
          <a:chExt cx="0" cy="0"/>
        </a:xfrm>
      </p:grpSpPr>
      <p:sp>
        <p:nvSpPr>
          <p:cNvPr id="90" name="Oval 89">
            <a:extLst>
              <a:ext uri="{FF2B5EF4-FFF2-40B4-BE49-F238E27FC236}">
                <a16:creationId xmlns:a16="http://schemas.microsoft.com/office/drawing/2014/main" id="{EA48F70B-EBB8-056B-7DF1-493D432269B0}"/>
              </a:ext>
            </a:extLst>
          </p:cNvPr>
          <p:cNvSpPr/>
          <p:nvPr/>
        </p:nvSpPr>
        <p:spPr>
          <a:xfrm>
            <a:off x="4208737" y="3076041"/>
            <a:ext cx="1404793" cy="366764"/>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C2D52FFB-034B-4DA7-BA47-E3292530AF2C}"/>
              </a:ext>
            </a:extLst>
          </p:cNvPr>
          <p:cNvSpPr>
            <a:spLocks noGrp="1"/>
          </p:cNvSpPr>
          <p:nvPr>
            <p:ph type="title"/>
          </p:nvPr>
        </p:nvSpPr>
        <p:spPr/>
        <p:txBody>
          <a:bodyPr/>
          <a:lstStyle/>
          <a:p>
            <a:r>
              <a:rPr lang="en-US"/>
              <a:t>Choosing basis functions - Amount of basis functions</a:t>
            </a:r>
            <a:endParaRPr lang="en-NL"/>
          </a:p>
        </p:txBody>
      </p:sp>
      <p:sp>
        <p:nvSpPr>
          <p:cNvPr id="4" name="Footer Placeholder 3">
            <a:extLst>
              <a:ext uri="{FF2B5EF4-FFF2-40B4-BE49-F238E27FC236}">
                <a16:creationId xmlns:a16="http://schemas.microsoft.com/office/drawing/2014/main" id="{08821196-B610-A516-3C33-F3A879DE8B73}"/>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DB6CA5A8-7D1C-30D1-4E50-AF1E1550B0FA}"/>
              </a:ext>
            </a:extLst>
          </p:cNvPr>
          <p:cNvSpPr>
            <a:spLocks noGrp="1"/>
          </p:cNvSpPr>
          <p:nvPr>
            <p:ph type="sldNum" sz="quarter" idx="12"/>
          </p:nvPr>
        </p:nvSpPr>
        <p:spPr/>
        <p:txBody>
          <a:bodyPr/>
          <a:lstStyle/>
          <a:p>
            <a:fld id="{C194BDB0-F4EA-4DD6-8281-CCE2440D0CE0}" type="slidenum">
              <a:rPr lang="en-GB" smtClean="0"/>
              <a:t>6</a:t>
            </a:fld>
            <a:endParaRPr lang="en-GB"/>
          </a:p>
        </p:txBody>
      </p:sp>
      <p:cxnSp>
        <p:nvCxnSpPr>
          <p:cNvPr id="6" name="Straight Arrow Connector 5">
            <a:extLst>
              <a:ext uri="{FF2B5EF4-FFF2-40B4-BE49-F238E27FC236}">
                <a16:creationId xmlns:a16="http://schemas.microsoft.com/office/drawing/2014/main" id="{B7209BC5-F4AD-6835-13ED-E2E4CE5FB4DF}"/>
              </a:ext>
            </a:extLst>
          </p:cNvPr>
          <p:cNvCxnSpPr/>
          <p:nvPr/>
        </p:nvCxnSpPr>
        <p:spPr>
          <a:xfrm flipV="1">
            <a:off x="1832177" y="1382181"/>
            <a:ext cx="0" cy="206929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17710A20-494D-88F1-568A-453625B97079}"/>
              </a:ext>
            </a:extLst>
          </p:cNvPr>
          <p:cNvCxnSpPr>
            <a:cxnSpLocks/>
          </p:cNvCxnSpPr>
          <p:nvPr/>
        </p:nvCxnSpPr>
        <p:spPr>
          <a:xfrm>
            <a:off x="1829017" y="3451476"/>
            <a:ext cx="403302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0CF58B0F-81B3-37ED-E9CA-8E1979525C7D}"/>
              </a:ext>
            </a:extLst>
          </p:cNvPr>
          <p:cNvSpPr txBox="1"/>
          <p:nvPr/>
        </p:nvSpPr>
        <p:spPr>
          <a:xfrm>
            <a:off x="1338475" y="2266787"/>
            <a:ext cx="492122" cy="300082"/>
          </a:xfrm>
          <a:prstGeom prst="rect">
            <a:avLst/>
          </a:prstGeom>
          <a:noFill/>
        </p:spPr>
        <p:txBody>
          <a:bodyPr wrap="none" rtlCol="0">
            <a:spAutoFit/>
          </a:bodyPr>
          <a:lstStyle/>
          <a:p>
            <a:r>
              <a:rPr lang="en-US"/>
              <a:t>Cost</a:t>
            </a:r>
            <a:endParaRPr lang="en-NL"/>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0EB8224-72EF-190A-541B-149BAC661D0E}"/>
                  </a:ext>
                </a:extLst>
              </p:cNvPr>
              <p:cNvSpPr txBox="1"/>
              <p:nvPr/>
            </p:nvSpPr>
            <p:spPr>
              <a:xfrm>
                <a:off x="3817611" y="3563326"/>
                <a:ext cx="248722" cy="2077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oMath>
                  </m:oMathPara>
                </a14:m>
                <a:endParaRPr lang="en-NL"/>
              </a:p>
            </p:txBody>
          </p:sp>
        </mc:Choice>
        <mc:Fallback xmlns="">
          <p:sp>
            <p:nvSpPr>
              <p:cNvPr id="9" name="TextBox 8">
                <a:extLst>
                  <a:ext uri="{FF2B5EF4-FFF2-40B4-BE49-F238E27FC236}">
                    <a16:creationId xmlns:a16="http://schemas.microsoft.com/office/drawing/2014/main" id="{E0EB8224-72EF-190A-541B-149BAC661D0E}"/>
                  </a:ext>
                </a:extLst>
              </p:cNvPr>
              <p:cNvSpPr txBox="1">
                <a:spLocks noRot="1" noChangeAspect="1" noMove="1" noResize="1" noEditPoints="1" noAdjustHandles="1" noChangeArrowheads="1" noChangeShapeType="1" noTextEdit="1"/>
              </p:cNvSpPr>
              <p:nvPr/>
            </p:nvSpPr>
            <p:spPr>
              <a:xfrm>
                <a:off x="3817611" y="3563326"/>
                <a:ext cx="248722" cy="207749"/>
              </a:xfrm>
              <a:prstGeom prst="rect">
                <a:avLst/>
              </a:prstGeom>
              <a:blipFill>
                <a:blip r:embed="rId2"/>
                <a:stretch>
                  <a:fillRect l="-17073" r="-14634" b="-5882"/>
                </a:stretch>
              </a:blipFill>
            </p:spPr>
            <p:txBody>
              <a:bodyPr/>
              <a:lstStyle/>
              <a:p>
                <a:r>
                  <a:rPr lang="en-NL">
                    <a:noFill/>
                  </a:rPr>
                  <a:t> </a:t>
                </a:r>
              </a:p>
            </p:txBody>
          </p:sp>
        </mc:Fallback>
      </mc:AlternateContent>
      <p:cxnSp>
        <p:nvCxnSpPr>
          <p:cNvPr id="10" name="Straight Connector 9">
            <a:extLst>
              <a:ext uri="{FF2B5EF4-FFF2-40B4-BE49-F238E27FC236}">
                <a16:creationId xmlns:a16="http://schemas.microsoft.com/office/drawing/2014/main" id="{634AA29F-D51C-4F2C-A39C-3AC2803F5C44}"/>
              </a:ext>
            </a:extLst>
          </p:cNvPr>
          <p:cNvCxnSpPr>
            <a:cxnSpLocks/>
          </p:cNvCxnSpPr>
          <p:nvPr/>
        </p:nvCxnSpPr>
        <p:spPr>
          <a:xfrm>
            <a:off x="2214601" y="1748284"/>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9AA7BA7-4419-3565-B578-C068534E264B}"/>
              </a:ext>
            </a:extLst>
          </p:cNvPr>
          <p:cNvCxnSpPr>
            <a:cxnSpLocks/>
          </p:cNvCxnSpPr>
          <p:nvPr/>
        </p:nvCxnSpPr>
        <p:spPr>
          <a:xfrm flipV="1">
            <a:off x="2208954" y="1748284"/>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41C6941-2688-F50C-76F5-184605B440E5}"/>
              </a:ext>
            </a:extLst>
          </p:cNvPr>
          <p:cNvCxnSpPr>
            <a:cxnSpLocks/>
          </p:cNvCxnSpPr>
          <p:nvPr/>
        </p:nvCxnSpPr>
        <p:spPr>
          <a:xfrm>
            <a:off x="2605761" y="2098472"/>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670458D-3FCC-12E8-A004-0DFC1F3586A5}"/>
              </a:ext>
            </a:extLst>
          </p:cNvPr>
          <p:cNvCxnSpPr>
            <a:cxnSpLocks/>
          </p:cNvCxnSpPr>
          <p:nvPr/>
        </p:nvCxnSpPr>
        <p:spPr>
          <a:xfrm flipV="1">
            <a:off x="2600114" y="2098472"/>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74128F7-EC50-2B3C-8FF4-E50F66773F52}"/>
              </a:ext>
            </a:extLst>
          </p:cNvPr>
          <p:cNvCxnSpPr>
            <a:cxnSpLocks/>
          </p:cNvCxnSpPr>
          <p:nvPr/>
        </p:nvCxnSpPr>
        <p:spPr>
          <a:xfrm>
            <a:off x="3019738" y="2412611"/>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41D971-1E75-3307-B0DA-FEE9659E0CAF}"/>
              </a:ext>
            </a:extLst>
          </p:cNvPr>
          <p:cNvCxnSpPr>
            <a:cxnSpLocks/>
          </p:cNvCxnSpPr>
          <p:nvPr/>
        </p:nvCxnSpPr>
        <p:spPr>
          <a:xfrm flipV="1">
            <a:off x="3014091" y="2412611"/>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6B09956-EE61-67F1-C2E0-0D1531C61B83}"/>
              </a:ext>
            </a:extLst>
          </p:cNvPr>
          <p:cNvCxnSpPr>
            <a:cxnSpLocks/>
          </p:cNvCxnSpPr>
          <p:nvPr/>
        </p:nvCxnSpPr>
        <p:spPr>
          <a:xfrm>
            <a:off x="3469210" y="2646641"/>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C0D3BE1-D73A-4C41-1869-EAE126196C64}"/>
              </a:ext>
            </a:extLst>
          </p:cNvPr>
          <p:cNvCxnSpPr>
            <a:cxnSpLocks/>
          </p:cNvCxnSpPr>
          <p:nvPr/>
        </p:nvCxnSpPr>
        <p:spPr>
          <a:xfrm flipV="1">
            <a:off x="3463563" y="2646641"/>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80190A4-1A2F-4982-45B7-42240D99B35B}"/>
              </a:ext>
            </a:extLst>
          </p:cNvPr>
          <p:cNvCxnSpPr>
            <a:cxnSpLocks/>
          </p:cNvCxnSpPr>
          <p:nvPr/>
        </p:nvCxnSpPr>
        <p:spPr>
          <a:xfrm>
            <a:off x="3887553" y="2722841"/>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B375AB3-86C5-0A78-D8F6-34C10C942106}"/>
              </a:ext>
            </a:extLst>
          </p:cNvPr>
          <p:cNvCxnSpPr>
            <a:cxnSpLocks/>
          </p:cNvCxnSpPr>
          <p:nvPr/>
        </p:nvCxnSpPr>
        <p:spPr>
          <a:xfrm flipV="1">
            <a:off x="3881906" y="2722841"/>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DAF0B4-0044-407F-389B-03661B866DC5}"/>
              </a:ext>
            </a:extLst>
          </p:cNvPr>
          <p:cNvCxnSpPr>
            <a:cxnSpLocks/>
          </p:cNvCxnSpPr>
          <p:nvPr/>
        </p:nvCxnSpPr>
        <p:spPr>
          <a:xfrm>
            <a:off x="2391412" y="1942356"/>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148E4E0-AAAF-2980-CC27-C152B51A727C}"/>
              </a:ext>
            </a:extLst>
          </p:cNvPr>
          <p:cNvCxnSpPr>
            <a:cxnSpLocks/>
          </p:cNvCxnSpPr>
          <p:nvPr/>
        </p:nvCxnSpPr>
        <p:spPr>
          <a:xfrm flipV="1">
            <a:off x="2385765" y="1942356"/>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383B1B5-7E0F-2F01-648E-AE5A9C0AD9D8}"/>
              </a:ext>
            </a:extLst>
          </p:cNvPr>
          <p:cNvCxnSpPr>
            <a:cxnSpLocks/>
          </p:cNvCxnSpPr>
          <p:nvPr/>
        </p:nvCxnSpPr>
        <p:spPr>
          <a:xfrm>
            <a:off x="2823739" y="2258353"/>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9355DB2-87F9-DB5C-1D1B-E9EE2DDECDE4}"/>
              </a:ext>
            </a:extLst>
          </p:cNvPr>
          <p:cNvCxnSpPr>
            <a:cxnSpLocks/>
          </p:cNvCxnSpPr>
          <p:nvPr/>
        </p:nvCxnSpPr>
        <p:spPr>
          <a:xfrm flipV="1">
            <a:off x="2818092" y="2258353"/>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2E80D6F-F7A9-67C6-80BC-0A4E5D52752E}"/>
              </a:ext>
            </a:extLst>
          </p:cNvPr>
          <p:cNvCxnSpPr>
            <a:cxnSpLocks/>
          </p:cNvCxnSpPr>
          <p:nvPr/>
        </p:nvCxnSpPr>
        <p:spPr>
          <a:xfrm>
            <a:off x="3242015" y="2558743"/>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767ED7D-21C6-9C63-54C7-7D6FC126F42D}"/>
              </a:ext>
            </a:extLst>
          </p:cNvPr>
          <p:cNvCxnSpPr>
            <a:cxnSpLocks/>
          </p:cNvCxnSpPr>
          <p:nvPr/>
        </p:nvCxnSpPr>
        <p:spPr>
          <a:xfrm flipV="1">
            <a:off x="3236368" y="2558743"/>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4DF817E-6F39-9E8D-0545-B6FF1F190392}"/>
              </a:ext>
            </a:extLst>
          </p:cNvPr>
          <p:cNvCxnSpPr>
            <a:cxnSpLocks/>
          </p:cNvCxnSpPr>
          <p:nvPr/>
        </p:nvCxnSpPr>
        <p:spPr>
          <a:xfrm>
            <a:off x="3678381" y="2696916"/>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0FA1359-61C1-529D-983F-B155481B0E83}"/>
              </a:ext>
            </a:extLst>
          </p:cNvPr>
          <p:cNvCxnSpPr>
            <a:cxnSpLocks/>
          </p:cNvCxnSpPr>
          <p:nvPr/>
        </p:nvCxnSpPr>
        <p:spPr>
          <a:xfrm flipV="1">
            <a:off x="3672734" y="2696916"/>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65C3544-2AAE-3D1D-2FA6-F583AC89C560}"/>
              </a:ext>
            </a:extLst>
          </p:cNvPr>
          <p:cNvCxnSpPr>
            <a:cxnSpLocks/>
          </p:cNvCxnSpPr>
          <p:nvPr/>
        </p:nvCxnSpPr>
        <p:spPr>
          <a:xfrm>
            <a:off x="4096725" y="2722841"/>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8ACF98E-BAD9-34BA-9705-27DF98848454}"/>
              </a:ext>
            </a:extLst>
          </p:cNvPr>
          <p:cNvCxnSpPr>
            <a:cxnSpLocks/>
          </p:cNvCxnSpPr>
          <p:nvPr/>
        </p:nvCxnSpPr>
        <p:spPr>
          <a:xfrm flipV="1">
            <a:off x="4091078" y="2722841"/>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3250917-4CB4-255A-25D4-0C931224AF46}"/>
              </a:ext>
            </a:extLst>
          </p:cNvPr>
          <p:cNvCxnSpPr>
            <a:cxnSpLocks/>
          </p:cNvCxnSpPr>
          <p:nvPr/>
        </p:nvCxnSpPr>
        <p:spPr>
          <a:xfrm>
            <a:off x="4305897" y="2700162"/>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D5798EB-5110-7218-0E80-09C94FC71A30}"/>
              </a:ext>
            </a:extLst>
          </p:cNvPr>
          <p:cNvCxnSpPr>
            <a:cxnSpLocks/>
          </p:cNvCxnSpPr>
          <p:nvPr/>
        </p:nvCxnSpPr>
        <p:spPr>
          <a:xfrm flipV="1">
            <a:off x="4300250" y="2700162"/>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BA08778-2C0F-6BB3-C955-B629D669973B}"/>
              </a:ext>
            </a:extLst>
          </p:cNvPr>
          <p:cNvCxnSpPr>
            <a:cxnSpLocks/>
          </p:cNvCxnSpPr>
          <p:nvPr/>
        </p:nvCxnSpPr>
        <p:spPr>
          <a:xfrm>
            <a:off x="4515069" y="2641254"/>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E5A219A-8F52-0F63-C7D7-4B6538EF0FF6}"/>
              </a:ext>
            </a:extLst>
          </p:cNvPr>
          <p:cNvCxnSpPr>
            <a:cxnSpLocks/>
          </p:cNvCxnSpPr>
          <p:nvPr/>
        </p:nvCxnSpPr>
        <p:spPr>
          <a:xfrm flipV="1">
            <a:off x="4509422" y="2641254"/>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10A015C-0F0E-A4F1-1096-8F495E28E30B}"/>
              </a:ext>
            </a:extLst>
          </p:cNvPr>
          <p:cNvCxnSpPr>
            <a:cxnSpLocks/>
          </p:cNvCxnSpPr>
          <p:nvPr/>
        </p:nvCxnSpPr>
        <p:spPr>
          <a:xfrm>
            <a:off x="4720943" y="2502474"/>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036901-D73B-162E-9FF1-3BF8313E9E2F}"/>
              </a:ext>
            </a:extLst>
          </p:cNvPr>
          <p:cNvCxnSpPr>
            <a:cxnSpLocks/>
          </p:cNvCxnSpPr>
          <p:nvPr/>
        </p:nvCxnSpPr>
        <p:spPr>
          <a:xfrm flipV="1">
            <a:off x="4715296" y="2502474"/>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B00247C-E2B3-BD9E-EE26-64EE5936F6EC}"/>
              </a:ext>
            </a:extLst>
          </p:cNvPr>
          <p:cNvCxnSpPr>
            <a:cxnSpLocks/>
          </p:cNvCxnSpPr>
          <p:nvPr/>
        </p:nvCxnSpPr>
        <p:spPr>
          <a:xfrm>
            <a:off x="4926817" y="2334553"/>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568DFF-6A51-6ABD-5849-CE5960E044C7}"/>
              </a:ext>
            </a:extLst>
          </p:cNvPr>
          <p:cNvCxnSpPr>
            <a:cxnSpLocks/>
          </p:cNvCxnSpPr>
          <p:nvPr/>
        </p:nvCxnSpPr>
        <p:spPr>
          <a:xfrm flipV="1">
            <a:off x="4921170" y="2334553"/>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F0C506-0211-DD11-F34B-1E4170550AB3}"/>
              </a:ext>
            </a:extLst>
          </p:cNvPr>
          <p:cNvCxnSpPr>
            <a:cxnSpLocks/>
          </p:cNvCxnSpPr>
          <p:nvPr/>
        </p:nvCxnSpPr>
        <p:spPr>
          <a:xfrm>
            <a:off x="5132691" y="2098472"/>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37CBF0F-7023-8999-6EC5-27F3B46A5399}"/>
              </a:ext>
            </a:extLst>
          </p:cNvPr>
          <p:cNvCxnSpPr>
            <a:cxnSpLocks/>
          </p:cNvCxnSpPr>
          <p:nvPr/>
        </p:nvCxnSpPr>
        <p:spPr>
          <a:xfrm flipV="1">
            <a:off x="5127044" y="2098472"/>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7D988B2-20FA-641D-E469-A9BCF27721F4}"/>
              </a:ext>
            </a:extLst>
          </p:cNvPr>
          <p:cNvCxnSpPr>
            <a:cxnSpLocks/>
          </p:cNvCxnSpPr>
          <p:nvPr/>
        </p:nvCxnSpPr>
        <p:spPr>
          <a:xfrm>
            <a:off x="5338565" y="1824484"/>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8825C1F-E123-B955-56E5-0491816E687B}"/>
              </a:ext>
            </a:extLst>
          </p:cNvPr>
          <p:cNvCxnSpPr>
            <a:cxnSpLocks/>
          </p:cNvCxnSpPr>
          <p:nvPr/>
        </p:nvCxnSpPr>
        <p:spPr>
          <a:xfrm flipV="1">
            <a:off x="5332918" y="1824484"/>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6E08463-9F4F-0FB8-54D5-A0B9CC2CCEC9}"/>
              </a:ext>
            </a:extLst>
          </p:cNvPr>
          <p:cNvCxnSpPr>
            <a:cxnSpLocks/>
          </p:cNvCxnSpPr>
          <p:nvPr/>
        </p:nvCxnSpPr>
        <p:spPr>
          <a:xfrm>
            <a:off x="5544439" y="1501910"/>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3704A86-C9B1-9C8A-4C30-9EF2D25FE6D0}"/>
              </a:ext>
            </a:extLst>
          </p:cNvPr>
          <p:cNvCxnSpPr>
            <a:cxnSpLocks/>
          </p:cNvCxnSpPr>
          <p:nvPr/>
        </p:nvCxnSpPr>
        <p:spPr>
          <a:xfrm flipV="1">
            <a:off x="5538792" y="1501910"/>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588ADDF7-2BA5-96E4-C888-4299EE0D35A1}"/>
              </a:ext>
            </a:extLst>
          </p:cNvPr>
          <p:cNvCxnSpPr>
            <a:cxnSpLocks/>
          </p:cNvCxnSpPr>
          <p:nvPr/>
        </p:nvCxnSpPr>
        <p:spPr>
          <a:xfrm>
            <a:off x="3584302" y="2566869"/>
            <a:ext cx="875544"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2B13C3C1-5396-43DC-49E6-489C1BB6938F}"/>
              </a:ext>
            </a:extLst>
          </p:cNvPr>
          <p:cNvSpPr txBox="1"/>
          <p:nvPr/>
        </p:nvSpPr>
        <p:spPr>
          <a:xfrm>
            <a:off x="3655204" y="2246926"/>
            <a:ext cx="673518" cy="300082"/>
          </a:xfrm>
          <a:prstGeom prst="rect">
            <a:avLst/>
          </a:prstGeom>
          <a:noFill/>
        </p:spPr>
        <p:txBody>
          <a:bodyPr wrap="none" rtlCol="0">
            <a:spAutoFit/>
          </a:bodyPr>
          <a:lstStyle/>
          <a:p>
            <a:r>
              <a:rPr lang="en-US"/>
              <a:t>8 to 12</a:t>
            </a:r>
            <a:endParaRPr lang="en-NL"/>
          </a:p>
        </p:txBody>
      </p:sp>
      <p:sp>
        <p:nvSpPr>
          <p:cNvPr id="56" name="TextBox 55">
            <a:extLst>
              <a:ext uri="{FF2B5EF4-FFF2-40B4-BE49-F238E27FC236}">
                <a16:creationId xmlns:a16="http://schemas.microsoft.com/office/drawing/2014/main" id="{B9337DFD-1588-9E2E-01D1-B6887B339508}"/>
              </a:ext>
            </a:extLst>
          </p:cNvPr>
          <p:cNvSpPr txBox="1"/>
          <p:nvPr/>
        </p:nvSpPr>
        <p:spPr>
          <a:xfrm>
            <a:off x="310067" y="3883730"/>
            <a:ext cx="5567934" cy="715581"/>
          </a:xfrm>
          <a:prstGeom prst="rect">
            <a:avLst/>
          </a:prstGeom>
          <a:noFill/>
        </p:spPr>
        <p:txBody>
          <a:bodyPr wrap="none" rtlCol="0">
            <a:spAutoFit/>
          </a:bodyPr>
          <a:lstStyle/>
          <a:p>
            <a:pPr marL="285750" indent="-285750">
              <a:buFont typeface="Arial" panose="020B0604020202020204" pitchFamily="34" charset="0"/>
              <a:buChar char="•"/>
            </a:pPr>
            <a:r>
              <a:rPr lang="en-US" dirty="0"/>
              <a:t>Only capture modes excited by the reference (not external disturbances)</a:t>
            </a:r>
          </a:p>
          <a:p>
            <a:pPr marL="285750" indent="-285750">
              <a:buFont typeface="Arial" panose="020B0604020202020204" pitchFamily="34" charset="0"/>
              <a:buChar char="•"/>
            </a:pPr>
            <a:r>
              <a:rPr lang="en-US" dirty="0">
                <a:ea typeface="Calibri"/>
                <a:cs typeface="Calibri"/>
              </a:rPr>
              <a:t>Introduce basis functions for friction</a:t>
            </a:r>
            <a:endParaRPr lang="en-NL" dirty="0">
              <a:ea typeface="Calibri"/>
              <a:cs typeface="Calibri"/>
            </a:endParaRPr>
          </a:p>
          <a:p>
            <a:pPr marL="285750" indent="-285750">
              <a:buFont typeface="Arial" panose="020B0604020202020204" pitchFamily="34" charset="0"/>
              <a:buChar char="•"/>
            </a:pPr>
            <a:endParaRPr lang="en-NL" dirty="0"/>
          </a:p>
        </p:txBody>
      </p:sp>
      <p:cxnSp>
        <p:nvCxnSpPr>
          <p:cNvPr id="57" name="Straight Connector 56">
            <a:extLst>
              <a:ext uri="{FF2B5EF4-FFF2-40B4-BE49-F238E27FC236}">
                <a16:creationId xmlns:a16="http://schemas.microsoft.com/office/drawing/2014/main" id="{A918A006-3340-EEFE-6F40-772444101231}"/>
              </a:ext>
            </a:extLst>
          </p:cNvPr>
          <p:cNvCxnSpPr>
            <a:cxnSpLocks/>
          </p:cNvCxnSpPr>
          <p:nvPr/>
        </p:nvCxnSpPr>
        <p:spPr>
          <a:xfrm>
            <a:off x="2184424" y="1763821"/>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47E1BFA-6E38-78CF-CF14-208816B83C49}"/>
              </a:ext>
            </a:extLst>
          </p:cNvPr>
          <p:cNvCxnSpPr>
            <a:cxnSpLocks/>
          </p:cNvCxnSpPr>
          <p:nvPr/>
        </p:nvCxnSpPr>
        <p:spPr>
          <a:xfrm flipV="1">
            <a:off x="2178777" y="1763821"/>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1E272D2-78BD-93B1-E807-F49E62E09F6D}"/>
              </a:ext>
            </a:extLst>
          </p:cNvPr>
          <p:cNvCxnSpPr>
            <a:cxnSpLocks/>
          </p:cNvCxnSpPr>
          <p:nvPr/>
        </p:nvCxnSpPr>
        <p:spPr>
          <a:xfrm>
            <a:off x="2356867" y="1953456"/>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EF1B726-60F2-84BA-D45D-C6DE5823E1FC}"/>
              </a:ext>
            </a:extLst>
          </p:cNvPr>
          <p:cNvCxnSpPr>
            <a:cxnSpLocks/>
          </p:cNvCxnSpPr>
          <p:nvPr/>
        </p:nvCxnSpPr>
        <p:spPr>
          <a:xfrm flipV="1">
            <a:off x="2351220" y="1953456"/>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A2E44A8-3D37-7384-2030-7524200B82E2}"/>
              </a:ext>
            </a:extLst>
          </p:cNvPr>
          <p:cNvCxnSpPr>
            <a:cxnSpLocks/>
          </p:cNvCxnSpPr>
          <p:nvPr/>
        </p:nvCxnSpPr>
        <p:spPr>
          <a:xfrm>
            <a:off x="2578779" y="2098904"/>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A083A94-7081-1DCA-3252-FD6F203FF43C}"/>
              </a:ext>
            </a:extLst>
          </p:cNvPr>
          <p:cNvCxnSpPr>
            <a:cxnSpLocks/>
          </p:cNvCxnSpPr>
          <p:nvPr/>
        </p:nvCxnSpPr>
        <p:spPr>
          <a:xfrm flipV="1">
            <a:off x="2573132" y="2098904"/>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E75C7C3-5836-4869-9529-A2E375B558C8}"/>
              </a:ext>
            </a:extLst>
          </p:cNvPr>
          <p:cNvCxnSpPr>
            <a:cxnSpLocks/>
          </p:cNvCxnSpPr>
          <p:nvPr/>
        </p:nvCxnSpPr>
        <p:spPr>
          <a:xfrm>
            <a:off x="2797423" y="2266787"/>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9C5EF38-9691-7610-D8E7-D7200666DDCB}"/>
              </a:ext>
            </a:extLst>
          </p:cNvPr>
          <p:cNvCxnSpPr>
            <a:cxnSpLocks/>
          </p:cNvCxnSpPr>
          <p:nvPr/>
        </p:nvCxnSpPr>
        <p:spPr>
          <a:xfrm flipV="1">
            <a:off x="2791776" y="2266787"/>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3B15902-0A08-483F-93FE-7935B6D155AF}"/>
              </a:ext>
            </a:extLst>
          </p:cNvPr>
          <p:cNvCxnSpPr>
            <a:cxnSpLocks/>
          </p:cNvCxnSpPr>
          <p:nvPr/>
        </p:nvCxnSpPr>
        <p:spPr>
          <a:xfrm>
            <a:off x="2988016" y="2412804"/>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A375E08-A21F-0F5D-F043-FCA0C11303F3}"/>
              </a:ext>
            </a:extLst>
          </p:cNvPr>
          <p:cNvCxnSpPr>
            <a:cxnSpLocks/>
          </p:cNvCxnSpPr>
          <p:nvPr/>
        </p:nvCxnSpPr>
        <p:spPr>
          <a:xfrm flipV="1">
            <a:off x="2982369" y="2412804"/>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3867086-9C84-77CE-E1BD-49A96ABA479F}"/>
              </a:ext>
            </a:extLst>
          </p:cNvPr>
          <p:cNvCxnSpPr>
            <a:cxnSpLocks/>
          </p:cNvCxnSpPr>
          <p:nvPr/>
        </p:nvCxnSpPr>
        <p:spPr>
          <a:xfrm>
            <a:off x="3210293" y="2561780"/>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8B440B6-F3C7-2D96-A7B1-C7DC63FF9074}"/>
              </a:ext>
            </a:extLst>
          </p:cNvPr>
          <p:cNvCxnSpPr>
            <a:cxnSpLocks/>
          </p:cNvCxnSpPr>
          <p:nvPr/>
        </p:nvCxnSpPr>
        <p:spPr>
          <a:xfrm flipV="1">
            <a:off x="3204646" y="2561780"/>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280AF84B-34DC-9B7A-35C2-6963FB583D63}"/>
              </a:ext>
            </a:extLst>
          </p:cNvPr>
          <p:cNvCxnSpPr>
            <a:cxnSpLocks/>
          </p:cNvCxnSpPr>
          <p:nvPr/>
        </p:nvCxnSpPr>
        <p:spPr>
          <a:xfrm>
            <a:off x="3471678" y="2717454"/>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B80CB62-B4B6-972B-D448-9D4E29405AF4}"/>
              </a:ext>
            </a:extLst>
          </p:cNvPr>
          <p:cNvCxnSpPr>
            <a:cxnSpLocks/>
          </p:cNvCxnSpPr>
          <p:nvPr/>
        </p:nvCxnSpPr>
        <p:spPr>
          <a:xfrm flipV="1">
            <a:off x="3466031" y="2717454"/>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98B777F-3A5E-E165-A34A-8A4B9F238949}"/>
              </a:ext>
            </a:extLst>
          </p:cNvPr>
          <p:cNvCxnSpPr>
            <a:cxnSpLocks/>
          </p:cNvCxnSpPr>
          <p:nvPr/>
        </p:nvCxnSpPr>
        <p:spPr>
          <a:xfrm>
            <a:off x="3678381" y="2854914"/>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2E756B3E-8D80-A21D-64FA-C021ACB786DB}"/>
              </a:ext>
            </a:extLst>
          </p:cNvPr>
          <p:cNvCxnSpPr>
            <a:cxnSpLocks/>
          </p:cNvCxnSpPr>
          <p:nvPr/>
        </p:nvCxnSpPr>
        <p:spPr>
          <a:xfrm flipV="1">
            <a:off x="3672734" y="2854914"/>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9A6B9A8-AB11-6EC5-1F97-E4721E998910}"/>
              </a:ext>
            </a:extLst>
          </p:cNvPr>
          <p:cNvCxnSpPr>
            <a:cxnSpLocks/>
          </p:cNvCxnSpPr>
          <p:nvPr/>
        </p:nvCxnSpPr>
        <p:spPr>
          <a:xfrm>
            <a:off x="3887553" y="2991169"/>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D6D072B-84AE-D6EF-6FF4-0AE1D0806370}"/>
              </a:ext>
            </a:extLst>
          </p:cNvPr>
          <p:cNvCxnSpPr>
            <a:cxnSpLocks/>
          </p:cNvCxnSpPr>
          <p:nvPr/>
        </p:nvCxnSpPr>
        <p:spPr>
          <a:xfrm flipV="1">
            <a:off x="3881906" y="2991169"/>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FE573C6-842F-AF85-69F7-650D30C7B854}"/>
              </a:ext>
            </a:extLst>
          </p:cNvPr>
          <p:cNvCxnSpPr>
            <a:cxnSpLocks/>
          </p:cNvCxnSpPr>
          <p:nvPr/>
        </p:nvCxnSpPr>
        <p:spPr>
          <a:xfrm>
            <a:off x="4096725" y="3115095"/>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C407F0B-443F-0C00-2B34-A94188B8BB10}"/>
              </a:ext>
            </a:extLst>
          </p:cNvPr>
          <p:cNvCxnSpPr>
            <a:cxnSpLocks/>
          </p:cNvCxnSpPr>
          <p:nvPr/>
        </p:nvCxnSpPr>
        <p:spPr>
          <a:xfrm flipV="1">
            <a:off x="4091078" y="3115095"/>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D7E6E8B-C25E-01D5-677C-240363B6853A}"/>
              </a:ext>
            </a:extLst>
          </p:cNvPr>
          <p:cNvCxnSpPr>
            <a:cxnSpLocks/>
          </p:cNvCxnSpPr>
          <p:nvPr/>
        </p:nvCxnSpPr>
        <p:spPr>
          <a:xfrm>
            <a:off x="4305897" y="3191295"/>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8020897-0F00-E88A-13F4-EB71C0749300}"/>
              </a:ext>
            </a:extLst>
          </p:cNvPr>
          <p:cNvCxnSpPr>
            <a:cxnSpLocks/>
          </p:cNvCxnSpPr>
          <p:nvPr/>
        </p:nvCxnSpPr>
        <p:spPr>
          <a:xfrm flipV="1">
            <a:off x="4300250" y="3191295"/>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E64C40A-E067-DADC-7E7A-6844FD3889CC}"/>
              </a:ext>
            </a:extLst>
          </p:cNvPr>
          <p:cNvCxnSpPr>
            <a:cxnSpLocks/>
          </p:cNvCxnSpPr>
          <p:nvPr/>
        </p:nvCxnSpPr>
        <p:spPr>
          <a:xfrm>
            <a:off x="4515069" y="3229395"/>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3CFA531-C0C6-33A6-13D0-79F7B5744D0A}"/>
              </a:ext>
            </a:extLst>
          </p:cNvPr>
          <p:cNvCxnSpPr>
            <a:cxnSpLocks/>
          </p:cNvCxnSpPr>
          <p:nvPr/>
        </p:nvCxnSpPr>
        <p:spPr>
          <a:xfrm flipV="1">
            <a:off x="4509422" y="3229395"/>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02FBE45-3F0B-CB91-1C98-BB620EF84B0B}"/>
              </a:ext>
            </a:extLst>
          </p:cNvPr>
          <p:cNvCxnSpPr>
            <a:cxnSpLocks/>
          </p:cNvCxnSpPr>
          <p:nvPr/>
        </p:nvCxnSpPr>
        <p:spPr>
          <a:xfrm>
            <a:off x="4720943" y="3248781"/>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61956F6-BBCC-424E-A705-E16FB3EF1AE0}"/>
              </a:ext>
            </a:extLst>
          </p:cNvPr>
          <p:cNvCxnSpPr>
            <a:cxnSpLocks/>
          </p:cNvCxnSpPr>
          <p:nvPr/>
        </p:nvCxnSpPr>
        <p:spPr>
          <a:xfrm flipV="1">
            <a:off x="4715296" y="3248781"/>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F995E59-8CFC-4B42-E955-B3EE98EFD89E}"/>
              </a:ext>
            </a:extLst>
          </p:cNvPr>
          <p:cNvCxnSpPr>
            <a:cxnSpLocks/>
          </p:cNvCxnSpPr>
          <p:nvPr/>
        </p:nvCxnSpPr>
        <p:spPr>
          <a:xfrm>
            <a:off x="4926817" y="3257259"/>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991E18D-ADB0-0B96-CF91-0FF8B6079387}"/>
              </a:ext>
            </a:extLst>
          </p:cNvPr>
          <p:cNvCxnSpPr>
            <a:cxnSpLocks/>
          </p:cNvCxnSpPr>
          <p:nvPr/>
        </p:nvCxnSpPr>
        <p:spPr>
          <a:xfrm flipV="1">
            <a:off x="4921170" y="3257259"/>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BDEB10B-6613-9034-9590-2018DFB29925}"/>
              </a:ext>
            </a:extLst>
          </p:cNvPr>
          <p:cNvCxnSpPr>
            <a:cxnSpLocks/>
          </p:cNvCxnSpPr>
          <p:nvPr/>
        </p:nvCxnSpPr>
        <p:spPr>
          <a:xfrm>
            <a:off x="5132691" y="3229395"/>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DF20763-322D-672D-B35F-9D3B6A560674}"/>
              </a:ext>
            </a:extLst>
          </p:cNvPr>
          <p:cNvCxnSpPr>
            <a:cxnSpLocks/>
          </p:cNvCxnSpPr>
          <p:nvPr/>
        </p:nvCxnSpPr>
        <p:spPr>
          <a:xfrm flipV="1">
            <a:off x="5127044" y="3229395"/>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9DCCDB6-F4EF-AD1F-6CA1-7E64279E8EF0}"/>
              </a:ext>
            </a:extLst>
          </p:cNvPr>
          <p:cNvCxnSpPr>
            <a:cxnSpLocks/>
          </p:cNvCxnSpPr>
          <p:nvPr/>
        </p:nvCxnSpPr>
        <p:spPr>
          <a:xfrm>
            <a:off x="5338565" y="3264824"/>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1CB23D2-DA4D-1696-AC95-1C98185B1C8F}"/>
              </a:ext>
            </a:extLst>
          </p:cNvPr>
          <p:cNvCxnSpPr>
            <a:cxnSpLocks/>
          </p:cNvCxnSpPr>
          <p:nvPr/>
        </p:nvCxnSpPr>
        <p:spPr>
          <a:xfrm flipV="1">
            <a:off x="5332918" y="3264824"/>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41269876-EE44-1871-5662-1A6F987763D5}"/>
              </a:ext>
            </a:extLst>
          </p:cNvPr>
          <p:cNvSpPr txBox="1"/>
          <p:nvPr/>
        </p:nvSpPr>
        <p:spPr>
          <a:xfrm>
            <a:off x="5656451" y="3057279"/>
            <a:ext cx="943592" cy="300082"/>
          </a:xfrm>
          <a:prstGeom prst="rect">
            <a:avLst/>
          </a:prstGeom>
          <a:noFill/>
        </p:spPr>
        <p:txBody>
          <a:bodyPr wrap="none" rtlCol="0">
            <a:spAutoFit/>
          </a:bodyPr>
          <a:lstStyle/>
          <a:p>
            <a:r>
              <a:rPr lang="en-US"/>
              <a:t>Overfitting</a:t>
            </a:r>
            <a:endParaRPr lang="en-NL"/>
          </a:p>
        </p:txBody>
      </p:sp>
      <p:sp>
        <p:nvSpPr>
          <p:cNvPr id="92" name="TextBox 91">
            <a:extLst>
              <a:ext uri="{FF2B5EF4-FFF2-40B4-BE49-F238E27FC236}">
                <a16:creationId xmlns:a16="http://schemas.microsoft.com/office/drawing/2014/main" id="{657E2475-2AC5-4752-EEE3-A78B3EB396D5}"/>
              </a:ext>
            </a:extLst>
          </p:cNvPr>
          <p:cNvSpPr txBox="1"/>
          <p:nvPr/>
        </p:nvSpPr>
        <p:spPr>
          <a:xfrm>
            <a:off x="5896699" y="1298754"/>
            <a:ext cx="1287019" cy="300082"/>
          </a:xfrm>
          <a:prstGeom prst="rect">
            <a:avLst/>
          </a:prstGeom>
          <a:noFill/>
        </p:spPr>
        <p:txBody>
          <a:bodyPr wrap="none" rtlCol="0">
            <a:spAutoFit/>
          </a:bodyPr>
          <a:lstStyle/>
          <a:p>
            <a:r>
              <a:rPr lang="en-US"/>
              <a:t>Validation data:</a:t>
            </a:r>
            <a:endParaRPr lang="en-NL"/>
          </a:p>
        </p:txBody>
      </p:sp>
      <p:cxnSp>
        <p:nvCxnSpPr>
          <p:cNvPr id="93" name="Straight Connector 92">
            <a:extLst>
              <a:ext uri="{FF2B5EF4-FFF2-40B4-BE49-F238E27FC236}">
                <a16:creationId xmlns:a16="http://schemas.microsoft.com/office/drawing/2014/main" id="{EA0932A8-2966-1250-0B0A-432340C5CF23}"/>
              </a:ext>
            </a:extLst>
          </p:cNvPr>
          <p:cNvCxnSpPr>
            <a:cxnSpLocks/>
          </p:cNvCxnSpPr>
          <p:nvPr/>
        </p:nvCxnSpPr>
        <p:spPr>
          <a:xfrm>
            <a:off x="7225919" y="1415785"/>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F4696F9-1A1A-2AE4-EBD8-B6853D15E76A}"/>
              </a:ext>
            </a:extLst>
          </p:cNvPr>
          <p:cNvCxnSpPr>
            <a:cxnSpLocks/>
          </p:cNvCxnSpPr>
          <p:nvPr/>
        </p:nvCxnSpPr>
        <p:spPr>
          <a:xfrm flipV="1">
            <a:off x="7220272" y="1415785"/>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5F8CAFED-CB74-AC1E-1831-027B69BB5670}"/>
              </a:ext>
            </a:extLst>
          </p:cNvPr>
          <p:cNvSpPr txBox="1"/>
          <p:nvPr/>
        </p:nvSpPr>
        <p:spPr>
          <a:xfrm>
            <a:off x="6015024" y="1069924"/>
            <a:ext cx="1134734" cy="300082"/>
          </a:xfrm>
          <a:prstGeom prst="rect">
            <a:avLst/>
          </a:prstGeom>
          <a:noFill/>
        </p:spPr>
        <p:txBody>
          <a:bodyPr wrap="none" rtlCol="0">
            <a:spAutoFit/>
          </a:bodyPr>
          <a:lstStyle/>
          <a:p>
            <a:r>
              <a:rPr lang="en-US"/>
              <a:t>Original data:</a:t>
            </a:r>
            <a:endParaRPr lang="en-NL"/>
          </a:p>
        </p:txBody>
      </p:sp>
      <p:cxnSp>
        <p:nvCxnSpPr>
          <p:cNvPr id="96" name="Straight Connector 95">
            <a:extLst>
              <a:ext uri="{FF2B5EF4-FFF2-40B4-BE49-F238E27FC236}">
                <a16:creationId xmlns:a16="http://schemas.microsoft.com/office/drawing/2014/main" id="{AE6DEB1B-AFD5-3BE3-A4FF-FC74A083E94C}"/>
              </a:ext>
            </a:extLst>
          </p:cNvPr>
          <p:cNvCxnSpPr>
            <a:cxnSpLocks/>
          </p:cNvCxnSpPr>
          <p:nvPr/>
        </p:nvCxnSpPr>
        <p:spPr>
          <a:xfrm>
            <a:off x="7225113" y="1199970"/>
            <a:ext cx="69091"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2CE1BE-4FAD-099B-D673-E0EC8E9EA9EC}"/>
              </a:ext>
            </a:extLst>
          </p:cNvPr>
          <p:cNvCxnSpPr>
            <a:cxnSpLocks/>
          </p:cNvCxnSpPr>
          <p:nvPr/>
        </p:nvCxnSpPr>
        <p:spPr>
          <a:xfrm flipV="1">
            <a:off x="7219466" y="1199970"/>
            <a:ext cx="74738" cy="762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55" grpId="0"/>
      <p:bldP spid="91" grpId="0"/>
      <p:bldP spid="9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47B2-6972-FEDF-56D0-9F95C050B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51406-0B64-0A74-3F90-78B1AD149A96}"/>
              </a:ext>
            </a:extLst>
          </p:cNvPr>
          <p:cNvSpPr>
            <a:spLocks noGrp="1"/>
          </p:cNvSpPr>
          <p:nvPr>
            <p:ph type="title"/>
          </p:nvPr>
        </p:nvSpPr>
        <p:spPr/>
        <p:txBody>
          <a:bodyPr/>
          <a:lstStyle/>
          <a:p>
            <a:r>
              <a:rPr lang="en-US"/>
              <a:t>Optimizing</a:t>
            </a:r>
            <a:endParaRPr lang="en-NL"/>
          </a:p>
        </p:txBody>
      </p:sp>
      <p:sp>
        <p:nvSpPr>
          <p:cNvPr id="4" name="Footer Placeholder 3">
            <a:extLst>
              <a:ext uri="{FF2B5EF4-FFF2-40B4-BE49-F238E27FC236}">
                <a16:creationId xmlns:a16="http://schemas.microsoft.com/office/drawing/2014/main" id="{E65F467D-4612-DCC8-CA08-CBAB886BC718}"/>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EA807265-8A64-5713-9001-B578E2A64BA4}"/>
              </a:ext>
            </a:extLst>
          </p:cNvPr>
          <p:cNvSpPr>
            <a:spLocks noGrp="1"/>
          </p:cNvSpPr>
          <p:nvPr>
            <p:ph type="sldNum" sz="quarter" idx="12"/>
          </p:nvPr>
        </p:nvSpPr>
        <p:spPr/>
        <p:txBody>
          <a:bodyPr/>
          <a:lstStyle/>
          <a:p>
            <a:fld id="{C194BDB0-F4EA-4DD6-8281-CCE2440D0CE0}" type="slidenum">
              <a:rPr lang="en-GB" smtClean="0"/>
              <a:t>7</a:t>
            </a:fld>
            <a:endParaRPr lang="en-GB"/>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3B61D4B8-D7D1-6403-E37E-10D935E6486C}"/>
                  </a:ext>
                </a:extLst>
              </p14:cNvPr>
              <p14:cNvContentPartPr/>
              <p14:nvPr/>
            </p14:nvContentPartPr>
            <p14:xfrm>
              <a:off x="1478093" y="2590803"/>
              <a:ext cx="26280" cy="10440"/>
            </p14:xfrm>
          </p:contentPart>
        </mc:Choice>
        <mc:Fallback xmlns="">
          <p:pic>
            <p:nvPicPr>
              <p:cNvPr id="7" name="Ink 6">
                <a:extLst>
                  <a:ext uri="{FF2B5EF4-FFF2-40B4-BE49-F238E27FC236}">
                    <a16:creationId xmlns:a16="http://schemas.microsoft.com/office/drawing/2014/main" id="{3B61D4B8-D7D1-6403-E37E-10D935E6486C}"/>
                  </a:ext>
                </a:extLst>
              </p:cNvPr>
              <p:cNvPicPr/>
              <p:nvPr/>
            </p:nvPicPr>
            <p:blipFill>
              <a:blip r:embed="rId3"/>
              <a:stretch>
                <a:fillRect/>
              </a:stretch>
            </p:blipFill>
            <p:spPr>
              <a:xfrm>
                <a:off x="1469093" y="2581803"/>
                <a:ext cx="43920" cy="28080"/>
              </a:xfrm>
              <a:prstGeom prst="rect">
                <a:avLst/>
              </a:prstGeom>
            </p:spPr>
          </p:pic>
        </mc:Fallback>
      </mc:AlternateContent>
      <p:sp>
        <p:nvSpPr>
          <p:cNvPr id="9" name="Rectangle: Rounded Corners 8">
            <a:extLst>
              <a:ext uri="{FF2B5EF4-FFF2-40B4-BE49-F238E27FC236}">
                <a16:creationId xmlns:a16="http://schemas.microsoft.com/office/drawing/2014/main" id="{FC82FD18-6240-8934-5C66-AC5F03C3AB7B}"/>
              </a:ext>
            </a:extLst>
          </p:cNvPr>
          <p:cNvSpPr/>
          <p:nvPr/>
        </p:nvSpPr>
        <p:spPr>
          <a:xfrm>
            <a:off x="1414232" y="1544187"/>
            <a:ext cx="2581619" cy="7212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Batch of data</a:t>
            </a:r>
            <a:endParaRPr lang="en-NL"/>
          </a:p>
        </p:txBody>
      </p:sp>
      <p:sp>
        <p:nvSpPr>
          <p:cNvPr id="11" name="Rectangle: Rounded Corners 10">
            <a:extLst>
              <a:ext uri="{FF2B5EF4-FFF2-40B4-BE49-F238E27FC236}">
                <a16:creationId xmlns:a16="http://schemas.microsoft.com/office/drawing/2014/main" id="{6266D418-DF34-38DA-44CC-550FF44BD453}"/>
              </a:ext>
            </a:extLst>
          </p:cNvPr>
          <p:cNvSpPr/>
          <p:nvPr/>
        </p:nvSpPr>
        <p:spPr>
          <a:xfrm>
            <a:off x="1414233" y="2452438"/>
            <a:ext cx="2581619" cy="7212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Parameterization</a:t>
            </a:r>
            <a:endParaRPr lang="en-NL"/>
          </a:p>
        </p:txBody>
      </p:sp>
      <mc:AlternateContent xmlns:mc="http://schemas.openxmlformats.org/markup-compatibility/2006" xmlns:a14="http://schemas.microsoft.com/office/drawing/2010/main">
        <mc:Choice Requires="a14">
          <p:sp>
            <p:nvSpPr>
              <p:cNvPr id="12" name="Rectangle: Rounded Corners 11">
                <a:extLst>
                  <a:ext uri="{FF2B5EF4-FFF2-40B4-BE49-F238E27FC236}">
                    <a16:creationId xmlns:a16="http://schemas.microsoft.com/office/drawing/2014/main" id="{1E006D15-FDBA-4B2B-888D-D75B672D46FE}"/>
                  </a:ext>
                </a:extLst>
              </p:cNvPr>
              <p:cNvSpPr/>
              <p:nvPr/>
            </p:nvSpPr>
            <p:spPr>
              <a:xfrm>
                <a:off x="1414232" y="3360689"/>
                <a:ext cx="2581619" cy="7212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Cost </a:t>
                </a:r>
                <a14:m>
                  <m:oMath xmlns:m="http://schemas.openxmlformats.org/officeDocument/2006/math">
                    <m:r>
                      <a:rPr lang="en-US" b="0" i="1" smtClean="0">
                        <a:latin typeface="Cambria Math" panose="02040503050406030204" pitchFamily="18" charset="0"/>
                      </a:rPr>
                      <m:t>𝐽</m:t>
                    </m:r>
                  </m:oMath>
                </a14:m>
                <a:endParaRPr lang="en-NL"/>
              </a:p>
            </p:txBody>
          </p:sp>
        </mc:Choice>
        <mc:Fallback xmlns="">
          <p:sp>
            <p:nvSpPr>
              <p:cNvPr id="12" name="Rectangle: Rounded Corners 11">
                <a:extLst>
                  <a:ext uri="{FF2B5EF4-FFF2-40B4-BE49-F238E27FC236}">
                    <a16:creationId xmlns:a16="http://schemas.microsoft.com/office/drawing/2014/main" id="{1E006D15-FDBA-4B2B-888D-D75B672D46FE}"/>
                  </a:ext>
                </a:extLst>
              </p:cNvPr>
              <p:cNvSpPr>
                <a:spLocks noRot="1" noChangeAspect="1" noMove="1" noResize="1" noEditPoints="1" noAdjustHandles="1" noChangeArrowheads="1" noChangeShapeType="1" noTextEdit="1"/>
              </p:cNvSpPr>
              <p:nvPr/>
            </p:nvSpPr>
            <p:spPr>
              <a:xfrm>
                <a:off x="1414232" y="3360689"/>
                <a:ext cx="2581619" cy="721272"/>
              </a:xfrm>
              <a:prstGeom prst="roundRect">
                <a:avLst/>
              </a:prstGeom>
              <a:blipFill>
                <a:blip r:embed="rId4"/>
                <a:stretch>
                  <a:fillRect/>
                </a:stretch>
              </a:blipFill>
            </p:spPr>
            <p:txBody>
              <a:bodyPr/>
              <a:lstStyle/>
              <a:p>
                <a:r>
                  <a:rPr lang="en-US">
                    <a:noFill/>
                  </a:rPr>
                  <a:t> </a:t>
                </a:r>
              </a:p>
            </p:txBody>
          </p:sp>
        </mc:Fallback>
      </mc:AlternateContent>
      <p:sp>
        <p:nvSpPr>
          <p:cNvPr id="13" name="Rectangle: Rounded Corners 12">
            <a:extLst>
              <a:ext uri="{FF2B5EF4-FFF2-40B4-BE49-F238E27FC236}">
                <a16:creationId xmlns:a16="http://schemas.microsoft.com/office/drawing/2014/main" id="{BC27A0FA-0388-81DA-ED1F-06A01BFE0CD6}"/>
              </a:ext>
            </a:extLst>
          </p:cNvPr>
          <p:cNvSpPr/>
          <p:nvPr/>
        </p:nvSpPr>
        <p:spPr>
          <a:xfrm>
            <a:off x="4748449" y="2452438"/>
            <a:ext cx="2581619" cy="7212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Optimization algorithm</a:t>
            </a:r>
            <a:endParaRPr lang="en-NL"/>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C55B87C-EB18-7EA0-266D-55277A4234D1}"/>
                  </a:ext>
                </a:extLst>
              </p:cNvPr>
              <p:cNvSpPr txBox="1"/>
              <p:nvPr/>
            </p:nvSpPr>
            <p:spPr>
              <a:xfrm>
                <a:off x="7611499" y="2919473"/>
                <a:ext cx="471166" cy="2542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ea typeface="Cambria Math" panose="02040503050406030204" pitchFamily="18" charset="0"/>
                            </a:rPr>
                          </m:ctrlPr>
                        </m:sSupPr>
                        <m:e>
                          <m:r>
                            <a:rPr lang="en-NL" sz="1600" i="1" smtClean="0">
                              <a:latin typeface="Cambria Math" panose="02040503050406030204" pitchFamily="18" charset="0"/>
                              <a:ea typeface="Cambria Math" panose="02040503050406030204" pitchFamily="18" charset="0"/>
                            </a:rPr>
                            <m:t>𝜃</m:t>
                          </m:r>
                        </m:e>
                        <m:sup>
                          <m:r>
                            <a:rPr lang="en-US" sz="1600" b="0" i="1" smtClean="0">
                              <a:latin typeface="Cambria Math" panose="02040503050406030204" pitchFamily="18" charset="0"/>
                              <a:ea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+1</m:t>
                          </m:r>
                        </m:sup>
                      </m:sSup>
                    </m:oMath>
                  </m:oMathPara>
                </a14:m>
                <a:endParaRPr lang="en-NL"/>
              </a:p>
            </p:txBody>
          </p:sp>
        </mc:Choice>
        <mc:Fallback xmlns="">
          <p:sp>
            <p:nvSpPr>
              <p:cNvPr id="14" name="TextBox 13">
                <a:extLst>
                  <a:ext uri="{FF2B5EF4-FFF2-40B4-BE49-F238E27FC236}">
                    <a16:creationId xmlns:a16="http://schemas.microsoft.com/office/drawing/2014/main" id="{6C55B87C-EB18-7EA0-266D-55277A4234D1}"/>
                  </a:ext>
                </a:extLst>
              </p:cNvPr>
              <p:cNvSpPr txBox="1">
                <a:spLocks noRot="1" noChangeAspect="1" noMove="1" noResize="1" noEditPoints="1" noAdjustHandles="1" noChangeArrowheads="1" noChangeShapeType="1" noTextEdit="1"/>
              </p:cNvSpPr>
              <p:nvPr/>
            </p:nvSpPr>
            <p:spPr>
              <a:xfrm>
                <a:off x="7611499" y="2919473"/>
                <a:ext cx="471166" cy="254237"/>
              </a:xfrm>
              <a:prstGeom prst="rect">
                <a:avLst/>
              </a:prstGeom>
              <a:blipFill>
                <a:blip r:embed="rId5"/>
                <a:stretch>
                  <a:fillRect l="-7792" t="-4762" r="-1299" b="-7143"/>
                </a:stretch>
              </a:blipFill>
            </p:spPr>
            <p:txBody>
              <a:bodyPr/>
              <a:lstStyle/>
              <a:p>
                <a:r>
                  <a:rPr lang="en-US">
                    <a:noFill/>
                  </a:rPr>
                  <a:t> </a:t>
                </a:r>
              </a:p>
            </p:txBody>
          </p:sp>
        </mc:Fallback>
      </mc:AlternateContent>
      <p:cxnSp>
        <p:nvCxnSpPr>
          <p:cNvPr id="16" name="Connector: Elbow 15">
            <a:extLst>
              <a:ext uri="{FF2B5EF4-FFF2-40B4-BE49-F238E27FC236}">
                <a16:creationId xmlns:a16="http://schemas.microsoft.com/office/drawing/2014/main" id="{D2A2DB7D-7853-8A97-E3AA-4549F020001A}"/>
              </a:ext>
            </a:extLst>
          </p:cNvPr>
          <p:cNvCxnSpPr>
            <a:cxnSpLocks/>
            <a:stCxn id="9" idx="3"/>
          </p:cNvCxnSpPr>
          <p:nvPr/>
        </p:nvCxnSpPr>
        <p:spPr>
          <a:xfrm>
            <a:off x="3995851" y="1904823"/>
            <a:ext cx="752598" cy="727933"/>
          </a:xfrm>
          <a:prstGeom prst="bentConnector3">
            <a:avLst>
              <a:gd name="adj1" fmla="val 50000"/>
            </a:avLst>
          </a:prstGeom>
          <a:ln w="15875">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7F22515D-43A6-17D0-3DCA-2525E793D1F9}"/>
              </a:ext>
            </a:extLst>
          </p:cNvPr>
          <p:cNvCxnSpPr>
            <a:cxnSpLocks/>
            <a:stCxn id="11" idx="3"/>
            <a:endCxn id="13" idx="1"/>
          </p:cNvCxnSpPr>
          <p:nvPr/>
        </p:nvCxnSpPr>
        <p:spPr>
          <a:xfrm>
            <a:off x="3995852" y="2813074"/>
            <a:ext cx="752597"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26" name="Connector: Elbow 25">
            <a:extLst>
              <a:ext uri="{FF2B5EF4-FFF2-40B4-BE49-F238E27FC236}">
                <a16:creationId xmlns:a16="http://schemas.microsoft.com/office/drawing/2014/main" id="{1A34B86C-60BB-8614-B087-DA82FFAD7439}"/>
              </a:ext>
            </a:extLst>
          </p:cNvPr>
          <p:cNvCxnSpPr>
            <a:cxnSpLocks/>
            <a:stCxn id="12" idx="3"/>
          </p:cNvCxnSpPr>
          <p:nvPr/>
        </p:nvCxnSpPr>
        <p:spPr>
          <a:xfrm flipV="1">
            <a:off x="3995851" y="2993391"/>
            <a:ext cx="752598" cy="727934"/>
          </a:xfrm>
          <a:prstGeom prst="bentConnector3">
            <a:avLst/>
          </a:prstGeom>
          <a:ln w="15875">
            <a:tailEnd type="triangle"/>
          </a:ln>
        </p:spPr>
        <p:style>
          <a:lnRef idx="1">
            <a:schemeClr val="dk1"/>
          </a:lnRef>
          <a:fillRef idx="0">
            <a:schemeClr val="dk1"/>
          </a:fillRef>
          <a:effectRef idx="0">
            <a:schemeClr val="dk1"/>
          </a:effectRef>
          <a:fontRef idx="minor">
            <a:schemeClr val="tx1"/>
          </a:fontRef>
        </p:style>
      </p:cxnSp>
      <p:cxnSp>
        <p:nvCxnSpPr>
          <p:cNvPr id="28" name="Connector: Elbow 27">
            <a:extLst>
              <a:ext uri="{FF2B5EF4-FFF2-40B4-BE49-F238E27FC236}">
                <a16:creationId xmlns:a16="http://schemas.microsoft.com/office/drawing/2014/main" id="{B4D88149-384F-8358-9E58-78B987DA06D9}"/>
              </a:ext>
            </a:extLst>
          </p:cNvPr>
          <p:cNvCxnSpPr>
            <a:stCxn id="13" idx="3"/>
            <a:endCxn id="9" idx="0"/>
          </p:cNvCxnSpPr>
          <p:nvPr/>
        </p:nvCxnSpPr>
        <p:spPr>
          <a:xfrm flipH="1" flipV="1">
            <a:off x="2705042" y="1544187"/>
            <a:ext cx="4625026" cy="1268887"/>
          </a:xfrm>
          <a:prstGeom prst="bentConnector4">
            <a:avLst>
              <a:gd name="adj1" fmla="val -4943"/>
              <a:gd name="adj2" fmla="val 118016"/>
            </a:avLst>
          </a:prstGeom>
          <a:ln w="15875">
            <a:prstDash val="dash"/>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1911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657A5-4FEB-E63C-D550-C40880450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33DEE-6497-B3C7-F689-F91C7578F981}"/>
              </a:ext>
            </a:extLst>
          </p:cNvPr>
          <p:cNvSpPr>
            <a:spLocks noGrp="1"/>
          </p:cNvSpPr>
          <p:nvPr>
            <p:ph type="title"/>
          </p:nvPr>
        </p:nvSpPr>
        <p:spPr/>
        <p:txBody>
          <a:bodyPr/>
          <a:lstStyle/>
          <a:p>
            <a:r>
              <a:rPr lang="en-US"/>
              <a:t>Optimizing – SIMO stacking</a:t>
            </a:r>
            <a:endParaRPr lang="en-NL"/>
          </a:p>
        </p:txBody>
      </p:sp>
      <p:sp>
        <p:nvSpPr>
          <p:cNvPr id="4" name="Footer Placeholder 3">
            <a:extLst>
              <a:ext uri="{FF2B5EF4-FFF2-40B4-BE49-F238E27FC236}">
                <a16:creationId xmlns:a16="http://schemas.microsoft.com/office/drawing/2014/main" id="{C9968BD0-F35C-6E12-D79D-FE60AE726243}"/>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806ADD99-6263-2F56-C80F-D2A34AA44D0B}"/>
              </a:ext>
            </a:extLst>
          </p:cNvPr>
          <p:cNvSpPr>
            <a:spLocks noGrp="1"/>
          </p:cNvSpPr>
          <p:nvPr>
            <p:ph type="sldNum" sz="quarter" idx="12"/>
          </p:nvPr>
        </p:nvSpPr>
        <p:spPr/>
        <p:txBody>
          <a:bodyPr/>
          <a:lstStyle/>
          <a:p>
            <a:fld id="{C194BDB0-F4EA-4DD6-8281-CCE2440D0CE0}" type="slidenum">
              <a:rPr lang="en-GB" smtClean="0"/>
              <a:t>8</a:t>
            </a:fld>
            <a:endParaRPr lang="en-GB"/>
          </a:p>
        </p:txBody>
      </p:sp>
      <p:sp>
        <p:nvSpPr>
          <p:cNvPr id="3" name="TextBox 2">
            <a:extLst>
              <a:ext uri="{FF2B5EF4-FFF2-40B4-BE49-F238E27FC236}">
                <a16:creationId xmlns:a16="http://schemas.microsoft.com/office/drawing/2014/main" id="{FAF43CBB-C032-5C19-54AF-2C250A9A855F}"/>
              </a:ext>
            </a:extLst>
          </p:cNvPr>
          <p:cNvSpPr txBox="1"/>
          <p:nvPr/>
        </p:nvSpPr>
        <p:spPr>
          <a:xfrm>
            <a:off x="557214" y="1208469"/>
            <a:ext cx="7556500" cy="341632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dirty="0">
                <a:ea typeface="Calibri"/>
                <a:cs typeface="Calibri"/>
              </a:rPr>
              <a:t>S and SP block Toeplitz</a:t>
            </a:r>
          </a:p>
          <a:p>
            <a:pPr marL="285750" indent="-285750">
              <a:buFont typeface="Arial" panose="020B0604020202020204" pitchFamily="34" charset="0"/>
              <a:buChar char="•"/>
            </a:pPr>
            <a:endParaRPr lang="en-US" dirty="0">
              <a:ea typeface="Calibri"/>
              <a:cs typeface="Calibri"/>
            </a:endParaRPr>
          </a:p>
          <a:p>
            <a:pPr marL="285750" indent="-285750">
              <a:buFont typeface="Arial" panose="020B0604020202020204" pitchFamily="34" charset="0"/>
              <a:buChar char="•"/>
            </a:pPr>
            <a:r>
              <a:rPr lang="en-US" dirty="0">
                <a:ea typeface="Calibri"/>
                <a:cs typeface="Calibri"/>
              </a:rPr>
              <a:t>Weighting matrices</a:t>
            </a:r>
          </a:p>
          <a:p>
            <a:pPr marL="285750" indent="-285750">
              <a:buFont typeface="Arial" panose="020B0604020202020204" pitchFamily="34" charset="0"/>
              <a:buChar char="•"/>
            </a:pPr>
            <a:endParaRPr lang="en-US" dirty="0">
              <a:ea typeface="Calibri"/>
              <a:cs typeface="Calibri"/>
            </a:endParaRPr>
          </a:p>
          <a:p>
            <a:pPr marL="285750" indent="-285750">
              <a:buFont typeface="Arial" panose="020B0604020202020204" pitchFamily="34" charset="0"/>
              <a:buChar char="•"/>
            </a:pPr>
            <a:endParaRPr lang="en-US" dirty="0">
              <a:ea typeface="Calibri"/>
              <a:cs typeface="Calibri"/>
            </a:endParaRPr>
          </a:p>
          <a:p>
            <a:pPr marL="285750" indent="-285750">
              <a:buFont typeface="Arial" panose="020B0604020202020204" pitchFamily="34" charset="0"/>
              <a:buChar char="•"/>
            </a:pPr>
            <a:endParaRPr lang="en-US" dirty="0">
              <a:ea typeface="Calibri"/>
              <a:cs typeface="Calibri"/>
            </a:endParaRPr>
          </a:p>
          <a:p>
            <a:pPr marL="285750" indent="-285750">
              <a:buFont typeface="Arial" panose="020B0604020202020204" pitchFamily="34" charset="0"/>
              <a:buChar char="•"/>
            </a:pPr>
            <a:endParaRPr lang="en-US" dirty="0">
              <a:ea typeface="Calibri"/>
              <a:cs typeface="Calibri"/>
            </a:endParaRPr>
          </a:p>
          <a:p>
            <a:pPr marL="285750" indent="-285750">
              <a:buFont typeface="Arial" panose="020B0604020202020204" pitchFamily="34" charset="0"/>
              <a:buChar char="•"/>
            </a:pPr>
            <a:endParaRPr lang="en-US" dirty="0">
              <a:ea typeface="Calibri"/>
              <a:cs typeface="Calibri"/>
            </a:endParaRPr>
          </a:p>
          <a:p>
            <a:pPr marL="285750" indent="-285750">
              <a:buFont typeface="Arial" panose="020B0604020202020204" pitchFamily="34" charset="0"/>
              <a:buChar char="•"/>
            </a:pPr>
            <a:endParaRPr lang="en-US" dirty="0">
              <a:ea typeface="Calibri"/>
              <a:cs typeface="Calibri"/>
            </a:endParaRPr>
          </a:p>
          <a:p>
            <a:pPr marL="285750" indent="-285750">
              <a:buFont typeface="Arial" panose="020B0604020202020204" pitchFamily="34" charset="0"/>
              <a:buChar char="•"/>
            </a:pPr>
            <a:endParaRPr lang="en-US" dirty="0">
              <a:ea typeface="Calibri"/>
              <a:cs typeface="Calibri"/>
            </a:endParaRPr>
          </a:p>
          <a:p>
            <a:pPr marL="285750" indent="-285750">
              <a:buFont typeface="Arial" panose="020B0604020202020204" pitchFamily="34" charset="0"/>
              <a:buChar char="•"/>
            </a:pPr>
            <a:endParaRPr lang="en-US" dirty="0">
              <a:ea typeface="Calibri"/>
              <a:cs typeface="Calibri"/>
            </a:endParaRPr>
          </a:p>
          <a:p>
            <a:pPr marL="285750" indent="-285750">
              <a:buFont typeface="Arial" panose="020B0604020202020204" pitchFamily="34" charset="0"/>
              <a:buChar char="•"/>
            </a:pPr>
            <a:endParaRPr lang="en-US" dirty="0">
              <a:ea typeface="Calibri"/>
              <a:cs typeface="Calibri"/>
            </a:endParaRPr>
          </a:p>
          <a:p>
            <a:pPr marL="285750" indent="-285750">
              <a:buFont typeface="Arial" panose="020B0604020202020204" pitchFamily="34" charset="0"/>
              <a:buChar char="•"/>
            </a:pPr>
            <a:endParaRPr lang="en-US" dirty="0">
              <a:ea typeface="Calibri"/>
              <a:cs typeface="Calibri"/>
            </a:endParaRPr>
          </a:p>
          <a:p>
            <a:pPr marL="285750" indent="-285750">
              <a:buFont typeface="Arial" panose="020B0604020202020204" pitchFamily="34" charset="0"/>
              <a:buChar char="•"/>
            </a:pPr>
            <a:endParaRPr lang="en-US" dirty="0">
              <a:ea typeface="Calibri"/>
              <a:cs typeface="Calibri"/>
            </a:endParaRPr>
          </a:p>
          <a:p>
            <a:r>
              <a:rPr lang="en-US" dirty="0">
                <a:ea typeface="Calibri"/>
                <a:cs typeface="Calibri"/>
              </a:rPr>
              <a:t> </a:t>
            </a:r>
          </a:p>
          <a:p>
            <a:pPr marL="285750" indent="-285750">
              <a:buFontTx/>
              <a:buChar char="-"/>
            </a:pPr>
            <a:endParaRPr lang="en-NL"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BF09E17-31A8-671D-F6E5-7CF2192C1209}"/>
                  </a:ext>
                </a:extLst>
              </p:cNvPr>
              <p:cNvSpPr txBox="1"/>
              <p:nvPr/>
            </p:nvSpPr>
            <p:spPr>
              <a:xfrm>
                <a:off x="937901" y="2391997"/>
                <a:ext cx="1260602" cy="14654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β</m:t>
                      </m:r>
                      <m:r>
                        <a:rPr lang="en-NL" i="0">
                          <a:latin typeface="Cambria Math" panose="02040503050406030204" pitchFamily="18" charset="0"/>
                        </a:rPr>
                        <m:t>=</m:t>
                      </m:r>
                      <m:d>
                        <m:dPr>
                          <m:begChr m:val="["/>
                          <m:endChr m:val="]"/>
                          <m:ctrlPr>
                            <a:rPr lang="en-NL" i="1">
                              <a:latin typeface="Cambria Math" panose="02040503050406030204" pitchFamily="18" charset="0"/>
                            </a:rPr>
                          </m:ctrlPr>
                        </m:dPr>
                        <m:e>
                          <m:m>
                            <m:mPr>
                              <m:plcHide m:val="on"/>
                              <m:mcs>
                                <m:mc>
                                  <m:mcPr>
                                    <m:count m:val="1"/>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m:rPr>
                                        <m:sty m:val="p"/>
                                      </m:rPr>
                                      <a:rPr lang="el-GR" b="0" i="1" smtClean="0">
                                        <a:latin typeface="Cambria Math" panose="02040503050406030204" pitchFamily="18" charset="0"/>
                                      </a:rPr>
                                      <m:t>β</m:t>
                                    </m:r>
                                  </m:e>
                                  <m:sub>
                                    <m:r>
                                      <a:rPr lang="en-NL" i="1">
                                        <a:latin typeface="Cambria Math" panose="02040503050406030204" pitchFamily="18" charset="0"/>
                                      </a:rPr>
                                      <m:t>𝑥</m:t>
                                    </m:r>
                                  </m:sub>
                                </m:sSub>
                                <m:d>
                                  <m:dPr>
                                    <m:ctrlPr>
                                      <a:rPr lang="en-NL" i="1">
                                        <a:latin typeface="Cambria Math" panose="02040503050406030204" pitchFamily="18" charset="0"/>
                                      </a:rPr>
                                    </m:ctrlPr>
                                  </m:dPr>
                                  <m:e>
                                    <m:r>
                                      <a:rPr lang="en-NL" i="0">
                                        <a:latin typeface="Cambria Math" panose="02040503050406030204" pitchFamily="18" charset="0"/>
                                      </a:rPr>
                                      <m:t>0</m:t>
                                    </m:r>
                                  </m:e>
                                </m:d>
                              </m:e>
                            </m:mr>
                            <m:mr>
                              <m:e>
                                <m:sSub>
                                  <m:sSubPr>
                                    <m:ctrlPr>
                                      <a:rPr lang="en-NL" i="1">
                                        <a:latin typeface="Cambria Math" panose="02040503050406030204" pitchFamily="18" charset="0"/>
                                      </a:rPr>
                                    </m:ctrlPr>
                                  </m:sSubPr>
                                  <m:e>
                                    <m:r>
                                      <m:rPr>
                                        <m:sty m:val="p"/>
                                      </m:rPr>
                                      <a:rPr lang="el-GR" i="1">
                                        <a:latin typeface="Cambria Math" panose="02040503050406030204" pitchFamily="18" charset="0"/>
                                      </a:rPr>
                                      <m:t>β</m:t>
                                    </m:r>
                                  </m:e>
                                  <m:sub>
                                    <m:r>
                                      <a:rPr lang="en-NL" i="1">
                                        <a:latin typeface="Cambria Math" panose="02040503050406030204" pitchFamily="18" charset="0"/>
                                      </a:rPr>
                                      <m:t>𝜑</m:t>
                                    </m:r>
                                  </m:sub>
                                </m:sSub>
                                <m:d>
                                  <m:dPr>
                                    <m:ctrlPr>
                                      <a:rPr lang="en-NL" i="1">
                                        <a:latin typeface="Cambria Math" panose="02040503050406030204" pitchFamily="18" charset="0"/>
                                      </a:rPr>
                                    </m:ctrlPr>
                                  </m:dPr>
                                  <m:e>
                                    <m:r>
                                      <a:rPr lang="en-NL" i="0">
                                        <a:latin typeface="Cambria Math" panose="02040503050406030204" pitchFamily="18" charset="0"/>
                                      </a:rPr>
                                      <m:t>0</m:t>
                                    </m:r>
                                  </m:e>
                                </m:d>
                              </m:e>
                            </m:mr>
                            <m:mr>
                              <m:e>
                                <m:r>
                                  <a:rPr lang="en-US" b="0" i="0" smtClean="0">
                                    <a:latin typeface="Cambria Math" panose="02040503050406030204" pitchFamily="18" charset="0"/>
                                  </a:rPr>
                                  <m:t>.</m:t>
                                </m:r>
                              </m:e>
                            </m:mr>
                            <m:mr>
                              <m:e>
                                <m:r>
                                  <a:rPr lang="en-US" b="0" i="0" smtClean="0">
                                    <a:latin typeface="Cambria Math" panose="02040503050406030204" pitchFamily="18" charset="0"/>
                                  </a:rPr>
                                  <m:t>.</m:t>
                                </m:r>
                              </m:e>
                            </m:mr>
                            <m:mr>
                              <m:e>
                                <m:r>
                                  <a:rPr lang="en-US" b="0" i="0" smtClean="0">
                                    <a:latin typeface="Cambria Math" panose="02040503050406030204" pitchFamily="18" charset="0"/>
                                  </a:rPr>
                                  <m:t>.</m:t>
                                </m:r>
                              </m:e>
                            </m:mr>
                            <m:mr>
                              <m:e>
                                <m:sSub>
                                  <m:sSubPr>
                                    <m:ctrlPr>
                                      <a:rPr lang="en-NL" i="1">
                                        <a:latin typeface="Cambria Math" panose="02040503050406030204" pitchFamily="18" charset="0"/>
                                      </a:rPr>
                                    </m:ctrlPr>
                                  </m:sSubPr>
                                  <m:e>
                                    <m:r>
                                      <m:rPr>
                                        <m:sty m:val="p"/>
                                      </m:rPr>
                                      <a:rPr lang="el-GR" i="1">
                                        <a:latin typeface="Cambria Math" panose="02040503050406030204" pitchFamily="18" charset="0"/>
                                      </a:rPr>
                                      <m:t>β</m:t>
                                    </m:r>
                                  </m:e>
                                  <m:sub>
                                    <m:r>
                                      <a:rPr lang="en-NL" i="1">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e>
                            </m:mr>
                            <m:mr>
                              <m:e>
                                <m:sSub>
                                  <m:sSubPr>
                                    <m:ctrlPr>
                                      <a:rPr lang="en-NL" i="1">
                                        <a:latin typeface="Cambria Math" panose="02040503050406030204" pitchFamily="18" charset="0"/>
                                      </a:rPr>
                                    </m:ctrlPr>
                                  </m:sSubPr>
                                  <m:e>
                                    <m:r>
                                      <m:rPr>
                                        <m:sty m:val="p"/>
                                      </m:rPr>
                                      <a:rPr lang="el-GR" i="1">
                                        <a:latin typeface="Cambria Math" panose="02040503050406030204" pitchFamily="18" charset="0"/>
                                      </a:rPr>
                                      <m:t>β</m:t>
                                    </m:r>
                                  </m:e>
                                  <m:sub>
                                    <m:r>
                                      <a:rPr lang="en-NL" i="1">
                                        <a:latin typeface="Cambria Math" panose="02040503050406030204" pitchFamily="18" charset="0"/>
                                      </a:rPr>
                                      <m:t>𝜑</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e>
                            </m:mr>
                          </m:m>
                        </m:e>
                      </m:d>
                    </m:oMath>
                  </m:oMathPara>
                </a14:m>
                <a:endParaRPr lang="en-NL" dirty="0"/>
              </a:p>
            </p:txBody>
          </p:sp>
        </mc:Choice>
        <mc:Fallback xmlns="">
          <p:sp>
            <p:nvSpPr>
              <p:cNvPr id="6" name="TextBox 5">
                <a:extLst>
                  <a:ext uri="{FF2B5EF4-FFF2-40B4-BE49-F238E27FC236}">
                    <a16:creationId xmlns:a16="http://schemas.microsoft.com/office/drawing/2014/main" id="{0BF09E17-31A8-671D-F6E5-7CF2192C1209}"/>
                  </a:ext>
                </a:extLst>
              </p:cNvPr>
              <p:cNvSpPr txBox="1">
                <a:spLocks noRot="1" noChangeAspect="1" noMove="1" noResize="1" noEditPoints="1" noAdjustHandles="1" noChangeArrowheads="1" noChangeShapeType="1" noTextEdit="1"/>
              </p:cNvSpPr>
              <p:nvPr/>
            </p:nvSpPr>
            <p:spPr>
              <a:xfrm>
                <a:off x="937901" y="2391997"/>
                <a:ext cx="1260602" cy="146540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028B3F4-E2B9-5CFA-FBEA-DB4DB2414626}"/>
                  </a:ext>
                </a:extLst>
              </p:cNvPr>
              <p:cNvSpPr txBox="1"/>
              <p:nvPr/>
            </p:nvSpPr>
            <p:spPr>
              <a:xfrm>
                <a:off x="2716448" y="2206502"/>
                <a:ext cx="5572482" cy="17940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NL" i="1" smtClean="0">
                          <a:latin typeface="Cambria Math" panose="02040503050406030204" pitchFamily="18" charset="0"/>
                        </a:rPr>
                        <m:t>𝛹</m:t>
                      </m:r>
                      <m:r>
                        <a:rPr lang="en-NL" i="1" smtClean="0">
                          <a:latin typeface="Cambria Math" panose="02040503050406030204" pitchFamily="18" charset="0"/>
                        </a:rPr>
                        <m:t>=</m:t>
                      </m:r>
                      <m:d>
                        <m:dPr>
                          <m:begChr m:val="["/>
                          <m:endChr m:val="]"/>
                          <m:ctrlPr>
                            <a:rPr lang="en-NL" i="1" smtClean="0">
                              <a:latin typeface="Cambria Math" panose="02040503050406030204" pitchFamily="18" charset="0"/>
                            </a:rPr>
                          </m:ctrlPr>
                        </m:dPr>
                        <m:e>
                          <m:eqArr>
                            <m:eqArrPr>
                              <m:ctrlPr>
                                <a:rPr lang="en-NL" i="1" smtClean="0">
                                  <a:latin typeface="Cambria Math" panose="02040503050406030204" pitchFamily="18" charset="0"/>
                                </a:rPr>
                              </m:ctrlPr>
                            </m:eqArrPr>
                            <m:e>
                              <m:m>
                                <m:mPr>
                                  <m:plcHide m:val="on"/>
                                  <m:mcs>
                                    <m:mc>
                                      <m:mcPr>
                                        <m:count m:val="4"/>
                                        <m:mcJc m:val="center"/>
                                      </m:mcPr>
                                    </m:mc>
                                  </m:mcs>
                                  <m:ctrlPr>
                                    <a:rPr lang="en-NL" i="1" smtClean="0">
                                      <a:latin typeface="Cambria Math" panose="02040503050406030204" pitchFamily="18" charset="0"/>
                                    </a:rPr>
                                  </m:ctrlPr>
                                </m:mPr>
                                <m:mr>
                                  <m:e>
                                    <m:m>
                                      <m:mPr>
                                        <m:mcs>
                                          <m:mc>
                                            <m:mcPr>
                                              <m:count m:val="2"/>
                                              <m:mcJc m:val="center"/>
                                            </m:mcPr>
                                          </m:mc>
                                        </m:mcs>
                                        <m:ctrlPr>
                                          <a:rPr lang="en-US" b="0" i="1" smtClean="0">
                                            <a:latin typeface="Cambria Math" panose="02040503050406030204" pitchFamily="18" charset="0"/>
                                          </a:rPr>
                                        </m:ctrlPr>
                                      </m:mPr>
                                      <m:mr>
                                        <m:e>
                                          <m:sSub>
                                            <m:sSubPr>
                                              <m:ctrlPr>
                                                <a:rPr lang="en-NL" i="1">
                                                  <a:latin typeface="Cambria Math" panose="02040503050406030204" pitchFamily="18" charset="0"/>
                                                </a:rPr>
                                              </m:ctrlPr>
                                            </m:sSubPr>
                                            <m:e>
                                              <m:r>
                                                <a:rPr lang="en-US" b="0" i="1" smtClean="0">
                                                  <a:latin typeface="Cambria Math" panose="02040503050406030204" pitchFamily="18" charset="0"/>
                                                </a:rPr>
                                                <m:t>   </m:t>
                                              </m:r>
                                              <m:r>
                                                <a:rPr lang="en-NL" i="1">
                                                  <a:latin typeface="Cambria Math" panose="02040503050406030204" pitchFamily="18" charset="0"/>
                                                </a:rPr>
                                                <m:t>𝜓</m:t>
                                              </m:r>
                                            </m:e>
                                            <m:sub>
                                              <m:r>
                                                <a:rPr lang="en-NL" i="1">
                                                  <a:latin typeface="Cambria Math" panose="02040503050406030204" pitchFamily="18" charset="0"/>
                                                </a:rPr>
                                                <m:t>𝑥</m:t>
                                              </m:r>
                                              <m:r>
                                                <a:rPr lang="en-NL" i="1">
                                                  <a:latin typeface="Cambria Math" panose="02040503050406030204" pitchFamily="18" charset="0"/>
                                                </a:rPr>
                                                <m:t>,1</m:t>
                                              </m:r>
                                            </m:sub>
                                          </m:sSub>
                                          <m:d>
                                            <m:dPr>
                                              <m:ctrlPr>
                                                <a:rPr lang="en-NL" i="1">
                                                  <a:latin typeface="Cambria Math" panose="02040503050406030204" pitchFamily="18" charset="0"/>
                                                </a:rPr>
                                              </m:ctrlPr>
                                            </m:dPr>
                                            <m:e>
                                              <m:r>
                                                <a:rPr lang="en-NL" i="1">
                                                  <a:latin typeface="Cambria Math" panose="02040503050406030204" pitchFamily="18" charset="0"/>
                                                </a:rPr>
                                                <m:t>0</m:t>
                                              </m:r>
                                            </m:e>
                                          </m:d>
                                        </m:e>
                                        <m:e>
                                          <m:r>
                                            <a:rPr lang="en-US" b="0" i="1" smtClean="0">
                                              <a:latin typeface="Cambria Math" panose="02040503050406030204" pitchFamily="18" charset="0"/>
                                            </a:rPr>
                                            <m:t>   ⋯</m:t>
                                          </m:r>
                                        </m:e>
                                      </m:mr>
                                    </m:m>
                                  </m:e>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𝑥</m:t>
                                        </m:r>
                                        <m:r>
                                          <a:rPr lang="en-US" i="1">
                                            <a:latin typeface="Cambria Math" panose="02040503050406030204" pitchFamily="18" charset="0"/>
                                          </a:rPr>
                                          <m:t>,</m:t>
                                        </m:r>
                                        <m:r>
                                          <a:rPr lang="en-NL" i="1">
                                            <a:latin typeface="Cambria Math" panose="02040503050406030204" pitchFamily="18" charset="0"/>
                                          </a:rPr>
                                          <m:t>𝑚</m:t>
                                        </m:r>
                                      </m:sub>
                                    </m:sSub>
                                    <m:d>
                                      <m:dPr>
                                        <m:ctrlPr>
                                          <a:rPr lang="en-NL" i="1" smtClean="0">
                                            <a:latin typeface="Cambria Math" panose="02040503050406030204" pitchFamily="18" charset="0"/>
                                          </a:rPr>
                                        </m:ctrlPr>
                                      </m:dPr>
                                      <m:e>
                                        <m:r>
                                          <a:rPr lang="en-NL" i="1" smtClean="0">
                                            <a:latin typeface="Cambria Math" panose="02040503050406030204" pitchFamily="18" charset="0"/>
                                          </a:rPr>
                                          <m:t>0</m:t>
                                        </m:r>
                                      </m:e>
                                    </m:d>
                                  </m:e>
                                  <m:e>
                                    <m:r>
                                      <a:rPr lang="en-US" b="0" i="1" smtClean="0">
                                        <a:latin typeface="Cambria Math" panose="02040503050406030204" pitchFamily="18" charset="0"/>
                                      </a:rPr>
                                      <m:t>  </m:t>
                                    </m:r>
                                    <m:r>
                                      <a:rPr lang="en-NL" i="1" smtClean="0">
                                        <a:latin typeface="Cambria Math" panose="02040503050406030204" pitchFamily="18" charset="0"/>
                                      </a:rPr>
                                      <m:t>0</m:t>
                                    </m:r>
                                  </m:e>
                                  <m:e>
                                    <m:r>
                                      <a:rPr lang="en-NL" i="1" smtClean="0">
                                        <a:latin typeface="Cambria Math" panose="02040503050406030204" pitchFamily="18" charset="0"/>
                                      </a:rPr>
                                      <m:t>0</m:t>
                                    </m:r>
                                  </m:e>
                                </m:mr>
                                <m:mr>
                                  <m:e>
                                    <m:r>
                                      <a:rPr lang="en-US" b="0" i="1" smtClean="0">
                                        <a:latin typeface="Cambria Math" panose="02040503050406030204" pitchFamily="18" charset="0"/>
                                      </a:rPr>
                                      <m:t>          </m:t>
                                    </m:r>
                                    <m:r>
                                      <a:rPr lang="en-NL" i="1" smtClean="0">
                                        <a:latin typeface="Cambria Math" panose="02040503050406030204" pitchFamily="18" charset="0"/>
                                      </a:rPr>
                                      <m:t>0</m:t>
                                    </m:r>
                                    <m:r>
                                      <a:rPr lang="en-US" b="0" i="1" smtClean="0">
                                        <a:latin typeface="Cambria Math" panose="02040503050406030204" pitchFamily="18" charset="0"/>
                                      </a:rPr>
                                      <m:t>               </m:t>
                                    </m:r>
                                  </m:e>
                                  <m:e>
                                    <m:r>
                                      <a:rPr lang="en-US" b="0" i="1" smtClean="0">
                                        <a:latin typeface="Cambria Math" panose="02040503050406030204" pitchFamily="18" charset="0"/>
                                      </a:rPr>
                                      <m:t>        </m:t>
                                    </m:r>
                                    <m:r>
                                      <a:rPr lang="en-NL" i="1" smtClean="0">
                                        <a:latin typeface="Cambria Math" panose="02040503050406030204" pitchFamily="18" charset="0"/>
                                      </a:rPr>
                                      <m:t>0</m:t>
                                    </m:r>
                                  </m:e>
                                  <m:e>
                                    <m:r>
                                      <a:rPr lang="en-US" b="0" i="1" smtClean="0">
                                        <a:latin typeface="Cambria Math" panose="02040503050406030204" pitchFamily="18" charset="0"/>
                                      </a:rPr>
                                      <m:t>           </m:t>
                                    </m:r>
                                    <m:m>
                                      <m:mPr>
                                        <m:mcs>
                                          <m:mc>
                                            <m:mcPr>
                                              <m:count m:val="2"/>
                                              <m:mcJc m:val="center"/>
                                            </m:mcPr>
                                          </m:mc>
                                        </m:mcs>
                                        <m:ctrlPr>
                                          <a:rPr lang="en-NL" i="1" smtClean="0">
                                            <a:latin typeface="Cambria Math" panose="02040503050406030204" pitchFamily="18" charset="0"/>
                                          </a:rPr>
                                        </m:ctrlPr>
                                      </m:mPr>
                                      <m:mr>
                                        <m:e>
                                          <m:sSub>
                                            <m:sSubPr>
                                              <m:ctrlPr>
                                                <a:rPr lang="en-NL" i="1" smtClean="0">
                                                  <a:latin typeface="Cambria Math" panose="02040503050406030204" pitchFamily="18" charset="0"/>
                                                </a:rPr>
                                              </m:ctrlPr>
                                            </m:sSubPr>
                                            <m:e>
                                              <m:r>
                                                <a:rPr lang="en-NL" i="1">
                                                  <a:latin typeface="Cambria Math" panose="02040503050406030204" pitchFamily="18" charset="0"/>
                                                </a:rPr>
                                                <m:t>𝜓</m:t>
                                              </m:r>
                                            </m:e>
                                            <m:sub>
                                              <m:r>
                                                <a:rPr lang="en-NL"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,1</m:t>
                                              </m:r>
                                            </m:sub>
                                          </m:sSub>
                                          <m:d>
                                            <m:dPr>
                                              <m:ctrlPr>
                                                <a:rPr lang="en-NL" i="1">
                                                  <a:latin typeface="Cambria Math" panose="02040503050406030204" pitchFamily="18" charset="0"/>
                                                </a:rPr>
                                              </m:ctrlPr>
                                            </m:dPr>
                                            <m:e>
                                              <m:r>
                                                <a:rPr lang="en-NL" i="1">
                                                  <a:latin typeface="Cambria Math" panose="02040503050406030204" pitchFamily="18" charset="0"/>
                                                </a:rPr>
                                                <m:t>0</m:t>
                                              </m:r>
                                            </m:e>
                                          </m:d>
                                        </m:e>
                                        <m:e>
                                          <m:r>
                                            <a:rPr lang="en-US" b="0" i="1" smtClean="0">
                                              <a:latin typeface="Cambria Math" panose="02040503050406030204" pitchFamily="18" charset="0"/>
                                            </a:rPr>
                                            <m:t>      </m:t>
                                          </m:r>
                                          <m:r>
                                            <a:rPr lang="en-NL" i="1" smtClean="0">
                                              <a:latin typeface="Cambria Math" panose="02040503050406030204" pitchFamily="18" charset="0"/>
                                            </a:rPr>
                                            <m:t>⋯</m:t>
                                          </m:r>
                                        </m:e>
                                      </m:mr>
                                    </m:m>
                                  </m:e>
                                  <m:e>
                                    <m:r>
                                      <a:rPr lang="en-US" b="0" i="1" smtClean="0">
                                        <a:latin typeface="Cambria Math" panose="02040503050406030204" pitchFamily="18" charset="0"/>
                                      </a:rPr>
                                      <m:t>       </m:t>
                                    </m:r>
                                    <m:sSub>
                                      <m:sSubPr>
                                        <m:ctrlPr>
                                          <a:rPr lang="en-NL" i="1" smtClean="0">
                                            <a:latin typeface="Cambria Math" panose="02040503050406030204" pitchFamily="18" charset="0"/>
                                          </a:rPr>
                                        </m:ctrlPr>
                                      </m:sSubPr>
                                      <m:e>
                                        <m:r>
                                          <a:rPr lang="en-NL" i="1" smtClean="0">
                                            <a:latin typeface="Cambria Math" panose="02040503050406030204" pitchFamily="18" charset="0"/>
                                          </a:rPr>
                                          <m:t>𝜓</m:t>
                                        </m:r>
                                      </m:e>
                                      <m:sub>
                                        <m:r>
                                          <a:rPr lang="en-NL" i="1" smtClean="0">
                                            <a:latin typeface="Cambria Math" panose="02040503050406030204" pitchFamily="18" charset="0"/>
                                          </a:rPr>
                                          <m:t>𝜑</m:t>
                                        </m:r>
                                        <m:r>
                                          <a:rPr lang="en-NL" i="1" smtClean="0">
                                            <a:latin typeface="Cambria Math" panose="02040503050406030204" pitchFamily="18" charset="0"/>
                                          </a:rPr>
                                          <m:t>,</m:t>
                                        </m:r>
                                        <m:r>
                                          <a:rPr lang="en-NL" i="1" smtClean="0">
                                            <a:latin typeface="Cambria Math" panose="02040503050406030204" pitchFamily="18" charset="0"/>
                                          </a:rPr>
                                          <m:t>𝑛</m:t>
                                        </m:r>
                                      </m:sub>
                                    </m:sSub>
                                    <m:d>
                                      <m:dPr>
                                        <m:ctrlPr>
                                          <a:rPr lang="en-NL" i="1" smtClean="0">
                                            <a:latin typeface="Cambria Math" panose="02040503050406030204" pitchFamily="18" charset="0"/>
                                          </a:rPr>
                                        </m:ctrlPr>
                                      </m:dPr>
                                      <m:e>
                                        <m:r>
                                          <a:rPr lang="en-NL" i="1" smtClean="0">
                                            <a:latin typeface="Cambria Math" panose="02040503050406030204" pitchFamily="18" charset="0"/>
                                          </a:rPr>
                                          <m:t>0</m:t>
                                        </m:r>
                                      </m:e>
                                    </m:d>
                                  </m:e>
                                </m:mr>
                              </m:m>
                            </m:e>
                            <m:e>
                              <m:m>
                                <m:mPr>
                                  <m:plcHide m:val="on"/>
                                  <m:mcs>
                                    <m:mc>
                                      <m:mcPr>
                                        <m:count m:val="4"/>
                                        <m:mcJc m:val="center"/>
                                      </m:mcPr>
                                    </m:mc>
                                  </m:mcs>
                                  <m:ctrlPr>
                                    <a:rPr lang="en-NL" i="1">
                                      <a:latin typeface="Cambria Math" panose="02040503050406030204" pitchFamily="18" charset="0"/>
                                    </a:rPr>
                                  </m:ctrlPr>
                                </m:mPr>
                                <m:mr>
                                  <m:e>
                                    <m:m>
                                      <m:mPr>
                                        <m:mcs>
                                          <m:mc>
                                            <m:mcPr>
                                              <m:count m:val="2"/>
                                              <m:mcJc m:val="center"/>
                                            </m:mcPr>
                                          </m:mc>
                                        </m:mcs>
                                        <m:ctrlPr>
                                          <a:rPr lang="en-US"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𝑥</m:t>
                                              </m:r>
                                              <m:r>
                                                <a:rPr lang="en-NL" i="1">
                                                  <a:latin typeface="Cambria Math" panose="02040503050406030204" pitchFamily="18" charset="0"/>
                                                </a:rPr>
                                                <m:t>,1</m:t>
                                              </m:r>
                                            </m:sub>
                                          </m:sSub>
                                          <m:d>
                                            <m:dPr>
                                              <m:ctrlPr>
                                                <a:rPr lang="en-NL" i="1">
                                                  <a:latin typeface="Cambria Math" panose="02040503050406030204" pitchFamily="18" charset="0"/>
                                                </a:rPr>
                                              </m:ctrlPr>
                                            </m:dPr>
                                            <m:e>
                                              <m:r>
                                                <a:rPr lang="en-US" b="0" i="1" smtClean="0">
                                                  <a:latin typeface="Cambria Math" panose="02040503050406030204" pitchFamily="18" charset="0"/>
                                                </a:rPr>
                                                <m:t>1</m:t>
                                              </m:r>
                                            </m:e>
                                          </m:d>
                                        </m:e>
                                        <m:e>
                                          <m:r>
                                            <a:rPr lang="en-US" b="0" i="1" smtClean="0">
                                              <a:latin typeface="Cambria Math" panose="02040503050406030204" pitchFamily="18" charset="0"/>
                                            </a:rPr>
                                            <m:t>   </m:t>
                                          </m:r>
                                          <m:r>
                                            <a:rPr lang="en-US" i="1">
                                              <a:latin typeface="Cambria Math" panose="02040503050406030204" pitchFamily="18" charset="0"/>
                                            </a:rPr>
                                            <m:t>⋯</m:t>
                                          </m:r>
                                        </m:e>
                                      </m:mr>
                                    </m:m>
                                  </m:e>
                                  <m:e>
                                    <m:r>
                                      <a:rPr lang="en-US" b="0" i="1" smtClean="0">
                                        <a:latin typeface="Cambria Math" panose="02040503050406030204" pitchFamily="18" charset="0"/>
                                      </a:rPr>
                                      <m:t> </m:t>
                                    </m:r>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𝑥</m:t>
                                        </m:r>
                                        <m:r>
                                          <a:rPr lang="en-US" b="0" i="1" smtClean="0">
                                            <a:latin typeface="Cambria Math" panose="02040503050406030204" pitchFamily="18" charset="0"/>
                                          </a:rPr>
                                          <m:t>,</m:t>
                                        </m:r>
                                        <m:r>
                                          <a:rPr lang="en-NL" i="1">
                                            <a:latin typeface="Cambria Math" panose="02040503050406030204" pitchFamily="18" charset="0"/>
                                          </a:rPr>
                                          <m:t>𝑚</m:t>
                                        </m:r>
                                      </m:sub>
                                    </m:sSub>
                                    <m:d>
                                      <m:dPr>
                                        <m:ctrlPr>
                                          <a:rPr lang="en-NL" i="1">
                                            <a:latin typeface="Cambria Math" panose="02040503050406030204" pitchFamily="18" charset="0"/>
                                          </a:rPr>
                                        </m:ctrlPr>
                                      </m:dPr>
                                      <m:e>
                                        <m:r>
                                          <a:rPr lang="en-US" b="0" i="1" smtClean="0">
                                            <a:latin typeface="Cambria Math" panose="02040503050406030204" pitchFamily="18" charset="0"/>
                                          </a:rPr>
                                          <m:t>1</m:t>
                                        </m:r>
                                      </m:e>
                                    </m:d>
                                  </m:e>
                                  <m:e>
                                    <m:r>
                                      <a:rPr lang="en-NL" i="1">
                                        <a:latin typeface="Cambria Math" panose="02040503050406030204" pitchFamily="18" charset="0"/>
                                      </a:rPr>
                                      <m:t>0</m:t>
                                    </m:r>
                                  </m:e>
                                  <m:e>
                                    <m:r>
                                      <a:rPr lang="en-NL" i="1">
                                        <a:latin typeface="Cambria Math" panose="02040503050406030204" pitchFamily="18" charset="0"/>
                                      </a:rPr>
                                      <m:t>0</m:t>
                                    </m:r>
                                  </m:e>
                                </m:mr>
                                <m:mr>
                                  <m:e>
                                    <m:r>
                                      <a:rPr lang="en-US" b="0" i="1" smtClean="0">
                                        <a:latin typeface="Cambria Math" panose="02040503050406030204" pitchFamily="18" charset="0"/>
                                      </a:rPr>
                                      <m:t>   </m:t>
                                    </m:r>
                                    <m:r>
                                      <a:rPr lang="en-NL" i="1">
                                        <a:latin typeface="Cambria Math" panose="02040503050406030204" pitchFamily="18" charset="0"/>
                                      </a:rPr>
                                      <m:t>0</m:t>
                                    </m:r>
                                    <m:r>
                                      <a:rPr lang="en-US" i="1">
                                        <a:latin typeface="Cambria Math" panose="02040503050406030204" pitchFamily="18" charset="0"/>
                                      </a:rPr>
                                      <m:t> </m:t>
                                    </m:r>
                                    <m:r>
                                      <a:rPr lang="en-US" b="0" i="1" smtClean="0">
                                        <a:latin typeface="Cambria Math" panose="02040503050406030204" pitchFamily="18" charset="0"/>
                                      </a:rPr>
                                      <m:t>          </m:t>
                                    </m:r>
                                    <m:r>
                                      <a:rPr lang="en-US" i="1">
                                        <a:latin typeface="Cambria Math" panose="02040503050406030204" pitchFamily="18" charset="0"/>
                                      </a:rPr>
                                      <m:t> </m:t>
                                    </m:r>
                                  </m:e>
                                  <m:e>
                                    <m:r>
                                      <a:rPr lang="en-US" b="0" i="1" smtClean="0">
                                        <a:latin typeface="Cambria Math" panose="02040503050406030204" pitchFamily="18" charset="0"/>
                                      </a:rPr>
                                      <m:t>       </m:t>
                                    </m:r>
                                    <m:r>
                                      <a:rPr lang="en-NL" i="1">
                                        <a:latin typeface="Cambria Math" panose="02040503050406030204" pitchFamily="18" charset="0"/>
                                      </a:rPr>
                                      <m:t>0</m:t>
                                    </m:r>
                                  </m:e>
                                  <m:e>
                                    <m:r>
                                      <a:rPr lang="en-US" b="0" i="1" smtClean="0">
                                        <a:latin typeface="Cambria Math" panose="02040503050406030204" pitchFamily="18" charset="0"/>
                                      </a:rPr>
                                      <m:t>           </m:t>
                                    </m:r>
                                    <m:m>
                                      <m:mPr>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,1</m:t>
                                              </m:r>
                                            </m:sub>
                                          </m:sSub>
                                          <m:d>
                                            <m:dPr>
                                              <m:ctrlPr>
                                                <a:rPr lang="en-NL"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    </m:t>
                                          </m:r>
                                        </m:e>
                                        <m:e>
                                          <m:r>
                                            <a:rPr lang="en-US" b="0" i="1" smtClean="0">
                                              <a:latin typeface="Cambria Math" panose="02040503050406030204" pitchFamily="18" charset="0"/>
                                            </a:rPr>
                                            <m:t> </m:t>
                                          </m:r>
                                          <m:r>
                                            <a:rPr lang="en-NL" i="1">
                                              <a:latin typeface="Cambria Math" panose="02040503050406030204" pitchFamily="18" charset="0"/>
                                            </a:rPr>
                                            <m:t>⋯</m:t>
                                          </m:r>
                                        </m:e>
                                      </m:mr>
                                    </m:m>
                                  </m:e>
                                  <m:e>
                                    <m:r>
                                      <a:rPr lang="en-US" b="0" i="1" smtClean="0">
                                        <a:latin typeface="Cambria Math" panose="02040503050406030204" pitchFamily="18" charset="0"/>
                                      </a:rPr>
                                      <m:t>   </m:t>
                                    </m:r>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𝜑</m:t>
                                        </m:r>
                                        <m:r>
                                          <a:rPr lang="en-NL" i="1">
                                            <a:latin typeface="Cambria Math" panose="02040503050406030204" pitchFamily="18" charset="0"/>
                                          </a:rPr>
                                          <m:t>,</m:t>
                                        </m:r>
                                        <m:r>
                                          <a:rPr lang="en-NL" i="1">
                                            <a:latin typeface="Cambria Math" panose="02040503050406030204" pitchFamily="18" charset="0"/>
                                          </a:rPr>
                                          <m:t>𝑛</m:t>
                                        </m:r>
                                      </m:sub>
                                    </m:sSub>
                                    <m:d>
                                      <m:dPr>
                                        <m:ctrlPr>
                                          <a:rPr lang="en-NL" i="1">
                                            <a:latin typeface="Cambria Math" panose="02040503050406030204" pitchFamily="18" charset="0"/>
                                          </a:rPr>
                                        </m:ctrlPr>
                                      </m:dPr>
                                      <m:e>
                                        <m:r>
                                          <a:rPr lang="en-US" b="0" i="1" smtClean="0">
                                            <a:latin typeface="Cambria Math" panose="02040503050406030204" pitchFamily="18" charset="0"/>
                                          </a:rPr>
                                          <m:t>1</m:t>
                                        </m:r>
                                      </m:e>
                                    </m:d>
                                  </m:e>
                                </m:mr>
                              </m:m>
                            </m:e>
                            <m:e>
                              <m:r>
                                <a:rPr lang="en-NL" i="1" smtClean="0">
                                  <a:latin typeface="Cambria Math" panose="02040503050406030204" pitchFamily="18" charset="0"/>
                                </a:rPr>
                                <m:t>⋮</m:t>
                              </m:r>
                            </m:e>
                            <m:e>
                              <m:m>
                                <m:mPr>
                                  <m:plcHide m:val="on"/>
                                  <m:mcs>
                                    <m:mc>
                                      <m:mcPr>
                                        <m:count m:val="4"/>
                                        <m:mcJc m:val="center"/>
                                      </m:mcPr>
                                    </m:mc>
                                  </m:mcs>
                                  <m:ctrlPr>
                                    <a:rPr lang="en-NL" i="1">
                                      <a:latin typeface="Cambria Math" panose="02040503050406030204" pitchFamily="18" charset="0"/>
                                    </a:rPr>
                                  </m:ctrlPr>
                                </m:mPr>
                                <m:mr>
                                  <m:e>
                                    <m:m>
                                      <m:mPr>
                                        <m:mcs>
                                          <m:mc>
                                            <m:mcPr>
                                              <m:count m:val="2"/>
                                              <m:mcJc m:val="center"/>
                                            </m:mcPr>
                                          </m:mc>
                                        </m:mcs>
                                        <m:ctrlPr>
                                          <a:rPr lang="en-US"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𝑥</m:t>
                                              </m:r>
                                              <m:r>
                                                <a:rPr lang="en-NL" i="1">
                                                  <a:latin typeface="Cambria Math" panose="02040503050406030204" pitchFamily="18" charset="0"/>
                                                </a:rPr>
                                                <m:t>,1</m:t>
                                              </m:r>
                                            </m:sub>
                                          </m:sSub>
                                          <m:d>
                                            <m:dPr>
                                              <m:ctrlPr>
                                                <a:rPr lang="en-NL" i="1">
                                                  <a:latin typeface="Cambria Math" panose="02040503050406030204" pitchFamily="18" charset="0"/>
                                                </a:rPr>
                                              </m:ctrlPr>
                                            </m:dPr>
                                            <m:e>
                                              <m:r>
                                                <m:rPr>
                                                  <m:sty m:val="p"/>
                                                </m:rPr>
                                                <a:rPr lang="en-US" b="0" i="1" smtClean="0">
                                                  <a:latin typeface="Cambria Math" panose="02040503050406030204" pitchFamily="18" charset="0"/>
                                                </a:rPr>
                                                <m:t>N</m:t>
                                              </m:r>
                                              <m:r>
                                                <a:rPr lang="en-US" b="0" i="1" smtClean="0">
                                                  <a:latin typeface="Cambria Math" panose="02040503050406030204" pitchFamily="18" charset="0"/>
                                                </a:rPr>
                                                <m:t>−1</m:t>
                                              </m:r>
                                            </m:e>
                                          </m:d>
                                        </m:e>
                                        <m:e>
                                          <m:r>
                                            <a:rPr lang="en-US" i="1">
                                              <a:latin typeface="Cambria Math" panose="02040503050406030204" pitchFamily="18" charset="0"/>
                                            </a:rPr>
                                            <m:t>⋯</m:t>
                                          </m:r>
                                        </m:e>
                                      </m:mr>
                                    </m:m>
                                  </m:e>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𝑥</m:t>
                                        </m:r>
                                        <m:r>
                                          <a:rPr lang="en-US" i="1">
                                            <a:latin typeface="Cambria Math" panose="02040503050406030204" pitchFamily="18" charset="0"/>
                                          </a:rPr>
                                          <m:t>,</m:t>
                                        </m:r>
                                        <m:r>
                                          <a:rPr lang="en-NL" i="1">
                                            <a:latin typeface="Cambria Math" panose="02040503050406030204" pitchFamily="18" charset="0"/>
                                          </a:rPr>
                                          <m:t>𝑚</m:t>
                                        </m:r>
                                      </m:sub>
                                    </m:sSub>
                                    <m:d>
                                      <m:dPr>
                                        <m:ctrlPr>
                                          <a:rPr lang="en-NL" i="1">
                                            <a:latin typeface="Cambria Math" panose="02040503050406030204" pitchFamily="18" charset="0"/>
                                          </a:rPr>
                                        </m:ctrlPr>
                                      </m:dPr>
                                      <m:e>
                                        <m:r>
                                          <m:rPr>
                                            <m:sty m:val="p"/>
                                          </m:rPr>
                                          <a:rPr lang="en-US" b="0" i="1" smtClean="0">
                                            <a:latin typeface="Cambria Math" panose="02040503050406030204" pitchFamily="18" charset="0"/>
                                          </a:rPr>
                                          <m:t>N</m:t>
                                        </m:r>
                                        <m:r>
                                          <a:rPr lang="en-US" b="0" i="1" smtClean="0">
                                            <a:latin typeface="Cambria Math" panose="02040503050406030204" pitchFamily="18" charset="0"/>
                                          </a:rPr>
                                          <m:t>−1</m:t>
                                        </m:r>
                                      </m:e>
                                    </m:d>
                                  </m:e>
                                  <m:e>
                                    <m:r>
                                      <a:rPr lang="en-NL" i="1">
                                        <a:latin typeface="Cambria Math" panose="02040503050406030204" pitchFamily="18" charset="0"/>
                                      </a:rPr>
                                      <m:t>0</m:t>
                                    </m:r>
                                    <m:r>
                                      <a:rPr lang="en-US" b="0" i="1" smtClean="0">
                                        <a:latin typeface="Cambria Math" panose="02040503050406030204" pitchFamily="18" charset="0"/>
                                      </a:rPr>
                                      <m:t>      </m:t>
                                    </m:r>
                                  </m:e>
                                  <m:e>
                                    <m:r>
                                      <a:rPr lang="en-NL" i="1">
                                        <a:latin typeface="Cambria Math" panose="02040503050406030204" pitchFamily="18" charset="0"/>
                                      </a:rPr>
                                      <m:t>0</m:t>
                                    </m:r>
                                  </m:e>
                                </m:mr>
                                <m:mr>
                                  <m:e>
                                    <m:r>
                                      <a:rPr lang="en-NL" i="1">
                                        <a:latin typeface="Cambria Math" panose="02040503050406030204" pitchFamily="18" charset="0"/>
                                      </a:rPr>
                                      <m:t>0</m:t>
                                    </m:r>
                                    <m:r>
                                      <a:rPr lang="en-US" i="1">
                                        <a:latin typeface="Cambria Math" panose="02040503050406030204" pitchFamily="18" charset="0"/>
                                      </a:rPr>
                                      <m:t>    </m:t>
                                    </m:r>
                                  </m:e>
                                  <m:e>
                                    <m:r>
                                      <a:rPr lang="en-NL" i="1">
                                        <a:latin typeface="Cambria Math" panose="02040503050406030204" pitchFamily="18" charset="0"/>
                                      </a:rPr>
                                      <m:t>0</m:t>
                                    </m:r>
                                  </m:e>
                                  <m:e>
                                    <m:m>
                                      <m:mPr>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,1</m:t>
                                              </m:r>
                                            </m:sub>
                                          </m:sSub>
                                          <m:d>
                                            <m:dPr>
                                              <m:ctrlPr>
                                                <a:rPr lang="en-NL" i="1">
                                                  <a:latin typeface="Cambria Math" panose="02040503050406030204" pitchFamily="18" charset="0"/>
                                                </a:rPr>
                                              </m:ctrlPr>
                                            </m:dPr>
                                            <m:e>
                                              <m:r>
                                                <m:rPr>
                                                  <m:sty m:val="p"/>
                                                </m:rPr>
                                                <a:rPr lang="en-US" b="0" i="1" smtClean="0">
                                                  <a:latin typeface="Cambria Math" panose="02040503050406030204" pitchFamily="18" charset="0"/>
                                                </a:rPr>
                                                <m:t>N</m:t>
                                              </m:r>
                                              <m:r>
                                                <a:rPr lang="en-US" b="0" i="1" smtClean="0">
                                                  <a:latin typeface="Cambria Math" panose="02040503050406030204" pitchFamily="18" charset="0"/>
                                                </a:rPr>
                                                <m:t>−1</m:t>
                                              </m:r>
                                            </m:e>
                                          </m:d>
                                        </m:e>
                                        <m:e>
                                          <m:r>
                                            <a:rPr lang="en-NL" i="1">
                                              <a:latin typeface="Cambria Math" panose="02040503050406030204" pitchFamily="18" charset="0"/>
                                            </a:rPr>
                                            <m:t>⋯</m:t>
                                          </m:r>
                                        </m:e>
                                      </m:mr>
                                    </m:m>
                                  </m:e>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𝜑</m:t>
                                        </m:r>
                                        <m:r>
                                          <a:rPr lang="en-NL" i="1">
                                            <a:latin typeface="Cambria Math" panose="02040503050406030204" pitchFamily="18" charset="0"/>
                                          </a:rPr>
                                          <m:t>,</m:t>
                                        </m:r>
                                        <m:r>
                                          <a:rPr lang="en-NL" i="1">
                                            <a:latin typeface="Cambria Math" panose="02040503050406030204" pitchFamily="18" charset="0"/>
                                          </a:rPr>
                                          <m:t>𝑛</m:t>
                                        </m:r>
                                      </m:sub>
                                    </m:sSub>
                                    <m:d>
                                      <m:dPr>
                                        <m:ctrlPr>
                                          <a:rPr lang="en-NL" i="1">
                                            <a:latin typeface="Cambria Math" panose="02040503050406030204" pitchFamily="18" charset="0"/>
                                          </a:rPr>
                                        </m:ctrlPr>
                                      </m:dPr>
                                      <m:e>
                                        <m:r>
                                          <m:rPr>
                                            <m:sty m:val="p"/>
                                          </m:rPr>
                                          <a:rPr lang="en-US" b="0" i="1" smtClean="0">
                                            <a:latin typeface="Cambria Math" panose="02040503050406030204" pitchFamily="18" charset="0"/>
                                          </a:rPr>
                                          <m:t>N</m:t>
                                        </m:r>
                                        <m:r>
                                          <a:rPr lang="en-US" b="0" i="1" smtClean="0">
                                            <a:latin typeface="Cambria Math" panose="02040503050406030204" pitchFamily="18" charset="0"/>
                                          </a:rPr>
                                          <m:t>−1</m:t>
                                        </m:r>
                                      </m:e>
                                    </m:d>
                                  </m:e>
                                </m:mr>
                              </m:m>
                            </m:e>
                          </m:eqArr>
                        </m:e>
                      </m:d>
                    </m:oMath>
                  </m:oMathPara>
                </a14:m>
                <a:endParaRPr lang="en-NL" dirty="0"/>
              </a:p>
            </p:txBody>
          </p:sp>
        </mc:Choice>
        <mc:Fallback xmlns="">
          <p:sp>
            <p:nvSpPr>
              <p:cNvPr id="10" name="TextBox 9">
                <a:extLst>
                  <a:ext uri="{FF2B5EF4-FFF2-40B4-BE49-F238E27FC236}">
                    <a16:creationId xmlns:a16="http://schemas.microsoft.com/office/drawing/2014/main" id="{D028B3F4-E2B9-5CFA-FBEA-DB4DB2414626}"/>
                  </a:ext>
                </a:extLst>
              </p:cNvPr>
              <p:cNvSpPr txBox="1">
                <a:spLocks noRot="1" noChangeAspect="1" noMove="1" noResize="1" noEditPoints="1" noAdjustHandles="1" noChangeArrowheads="1" noChangeShapeType="1" noTextEdit="1"/>
              </p:cNvSpPr>
              <p:nvPr/>
            </p:nvSpPr>
            <p:spPr>
              <a:xfrm>
                <a:off x="2716448" y="2206502"/>
                <a:ext cx="5572482" cy="1794017"/>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195658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82070-D7CF-02EB-19E9-C63C91478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B96D7-8149-1791-31D2-DD6BEAC1B5EB}"/>
              </a:ext>
            </a:extLst>
          </p:cNvPr>
          <p:cNvSpPr>
            <a:spLocks noGrp="1"/>
          </p:cNvSpPr>
          <p:nvPr>
            <p:ph type="title"/>
          </p:nvPr>
        </p:nvSpPr>
        <p:spPr/>
        <p:txBody>
          <a:bodyPr/>
          <a:lstStyle/>
          <a:p>
            <a:r>
              <a:rPr lang="en-US"/>
              <a:t>Optimizing – SIMO stacking</a:t>
            </a:r>
            <a:endParaRPr lang="en-NL"/>
          </a:p>
        </p:txBody>
      </p:sp>
      <p:sp>
        <p:nvSpPr>
          <p:cNvPr id="4" name="Footer Placeholder 3">
            <a:extLst>
              <a:ext uri="{FF2B5EF4-FFF2-40B4-BE49-F238E27FC236}">
                <a16:creationId xmlns:a16="http://schemas.microsoft.com/office/drawing/2014/main" id="{8D40FE82-4BCB-969F-E238-3EC7322F63E6}"/>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8CCA9F5C-1628-4387-E578-99807D11131A}"/>
              </a:ext>
            </a:extLst>
          </p:cNvPr>
          <p:cNvSpPr>
            <a:spLocks noGrp="1"/>
          </p:cNvSpPr>
          <p:nvPr>
            <p:ph type="sldNum" sz="quarter" idx="12"/>
          </p:nvPr>
        </p:nvSpPr>
        <p:spPr/>
        <p:txBody>
          <a:bodyPr/>
          <a:lstStyle/>
          <a:p>
            <a:fld id="{C194BDB0-F4EA-4DD6-8281-CCE2440D0CE0}" type="slidenum">
              <a:rPr lang="en-GB" smtClean="0"/>
              <a:t>9</a:t>
            </a:fld>
            <a:endParaRPr lang="en-GB"/>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498125DE-EF96-6415-819A-00064C5040EE}"/>
                  </a:ext>
                </a:extLst>
              </p14:cNvPr>
              <p14:cNvContentPartPr/>
              <p14:nvPr/>
            </p14:nvContentPartPr>
            <p14:xfrm>
              <a:off x="2362757" y="2896925"/>
              <a:ext cx="26280" cy="10440"/>
            </p14:xfrm>
          </p:contentPart>
        </mc:Choice>
        <mc:Fallback xmlns="">
          <p:pic>
            <p:nvPicPr>
              <p:cNvPr id="7" name="Ink 6">
                <a:extLst>
                  <a:ext uri="{FF2B5EF4-FFF2-40B4-BE49-F238E27FC236}">
                    <a16:creationId xmlns:a16="http://schemas.microsoft.com/office/drawing/2014/main" id="{498125DE-EF96-6415-819A-00064C5040EE}"/>
                  </a:ext>
                </a:extLst>
              </p:cNvPr>
              <p:cNvPicPr/>
              <p:nvPr/>
            </p:nvPicPr>
            <p:blipFill>
              <a:blip r:embed="rId3"/>
              <a:stretch>
                <a:fillRect/>
              </a:stretch>
            </p:blipFill>
            <p:spPr>
              <a:xfrm>
                <a:off x="2353757" y="2887925"/>
                <a:ext cx="43920" cy="28080"/>
              </a:xfrm>
              <a:prstGeom prst="rect">
                <a:avLst/>
              </a:prstGeom>
            </p:spPr>
          </p:pic>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186B2D3-5144-339A-6946-E2105DF82D8B}"/>
                  </a:ext>
                </a:extLst>
              </p:cNvPr>
              <p:cNvSpPr txBox="1"/>
              <p:nvPr/>
            </p:nvSpPr>
            <p:spPr>
              <a:xfrm>
                <a:off x="1114426" y="1426122"/>
                <a:ext cx="7556500" cy="341632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ea typeface="Calibri"/>
                    <a:cs typeface="Calibri"/>
                  </a:rPr>
                  <a:t>Cost function:</a:t>
                </a:r>
              </a:p>
              <a:p>
                <a:pPr marL="285750" indent="-285750">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r>
                  <a:rPr lang="en-US">
                    <a:ea typeface="Calibri"/>
                    <a:cs typeface="Calibri"/>
                  </a:rPr>
                  <a:t>Find </a:t>
                </a:r>
                <a14:m>
                  <m:oMath xmlns:m="http://schemas.openxmlformats.org/officeDocument/2006/math">
                    <m:r>
                      <a:rPr lang="en-US" i="1">
                        <a:latin typeface="Cambria Math" panose="02040503050406030204" pitchFamily="18" charset="0"/>
                        <a:ea typeface="Calibri"/>
                        <a:cs typeface="Calibri"/>
                      </a:rPr>
                      <m:t>𝑄</m:t>
                    </m:r>
                  </m:oMath>
                </a14:m>
                <a:r>
                  <a:rPr lang="en-US">
                    <a:ea typeface="Calibri"/>
                    <a:cs typeface="Calibri"/>
                  </a:rPr>
                  <a:t> and </a:t>
                </a:r>
                <a14:m>
                  <m:oMath xmlns:m="http://schemas.openxmlformats.org/officeDocument/2006/math">
                    <m:r>
                      <a:rPr lang="en-US" i="1">
                        <a:latin typeface="Cambria Math" panose="02040503050406030204" pitchFamily="18" charset="0"/>
                        <a:ea typeface="Calibri"/>
                        <a:cs typeface="Calibri"/>
                      </a:rPr>
                      <m:t>𝐿</m:t>
                    </m:r>
                  </m:oMath>
                </a14:m>
                <a:endParaRPr lang="en-US">
                  <a:ea typeface="Calibri"/>
                  <a:cs typeface="Calibri"/>
                </a:endParaRPr>
              </a:p>
              <a:p>
                <a:pPr marL="285750" indent="-285750">
                  <a:buFont typeface="Arial" panose="020B0604020202020204" pitchFamily="34" charset="0"/>
                  <a:buChar char="•"/>
                </a:pPr>
                <a:r>
                  <a:rPr lang="en-US">
                    <a:ea typeface="Calibri"/>
                    <a:cs typeface="Calibri"/>
                  </a:rPr>
                  <a:t>Stability</a:t>
                </a:r>
              </a:p>
              <a:p>
                <a:pPr marL="285750" indent="-285750">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endParaRPr lang="en-US">
                  <a:ea typeface="Calibri"/>
                  <a:cs typeface="Calibri"/>
                </a:endParaRPr>
              </a:p>
              <a:p>
                <a:r>
                  <a:rPr lang="en-US">
                    <a:ea typeface="Calibri"/>
                    <a:cs typeface="Calibri"/>
                  </a:rPr>
                  <a:t> </a:t>
                </a:r>
              </a:p>
              <a:p>
                <a:pPr marL="285750" indent="-285750">
                  <a:buFontTx/>
                  <a:buChar char="-"/>
                </a:pPr>
                <a:endParaRPr lang="en-NL"/>
              </a:p>
            </p:txBody>
          </p:sp>
        </mc:Choice>
        <mc:Fallback xmlns="">
          <p:sp>
            <p:nvSpPr>
              <p:cNvPr id="3" name="TextBox 2">
                <a:extLst>
                  <a:ext uri="{FF2B5EF4-FFF2-40B4-BE49-F238E27FC236}">
                    <a16:creationId xmlns:a16="http://schemas.microsoft.com/office/drawing/2014/main" id="{3186B2D3-5144-339A-6946-E2105DF82D8B}"/>
                  </a:ext>
                </a:extLst>
              </p:cNvPr>
              <p:cNvSpPr txBox="1">
                <a:spLocks noRot="1" noChangeAspect="1" noMove="1" noResize="1" noEditPoints="1" noAdjustHandles="1" noChangeArrowheads="1" noChangeShapeType="1" noTextEdit="1"/>
              </p:cNvSpPr>
              <p:nvPr/>
            </p:nvSpPr>
            <p:spPr>
              <a:xfrm>
                <a:off x="1114426" y="1426122"/>
                <a:ext cx="7556500" cy="3416320"/>
              </a:xfrm>
              <a:prstGeom prst="rect">
                <a:avLst/>
              </a:prstGeom>
              <a:blipFill>
                <a:blip r:embed="rId4"/>
                <a:stretch>
                  <a:fillRect l="-81" t="-35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8F654762-19CC-3CC1-7A21-9725513E67B0}"/>
                  </a:ext>
                </a:extLst>
              </p14:cNvPr>
              <p14:cNvContentPartPr/>
              <p14:nvPr/>
            </p14:nvContentPartPr>
            <p14:xfrm>
              <a:off x="3228511" y="590463"/>
              <a:ext cx="360" cy="360"/>
            </p14:xfrm>
          </p:contentPart>
        </mc:Choice>
        <mc:Fallback xmlns="">
          <p:pic>
            <p:nvPicPr>
              <p:cNvPr id="12" name="Ink 11">
                <a:extLst>
                  <a:ext uri="{FF2B5EF4-FFF2-40B4-BE49-F238E27FC236}">
                    <a16:creationId xmlns:a16="http://schemas.microsoft.com/office/drawing/2014/main" id="{8F654762-19CC-3CC1-7A21-9725513E67B0}"/>
                  </a:ext>
                </a:extLst>
              </p:cNvPr>
              <p:cNvPicPr/>
              <p:nvPr/>
            </p:nvPicPr>
            <p:blipFill>
              <a:blip r:embed="rId6"/>
              <a:stretch>
                <a:fillRect/>
              </a:stretch>
            </p:blipFill>
            <p:spPr>
              <a:xfrm>
                <a:off x="3219511" y="581463"/>
                <a:ext cx="18000" cy="18000"/>
              </a:xfrm>
              <a:prstGeom prst="rect">
                <a:avLst/>
              </a:prstGeom>
            </p:spPr>
          </p:pic>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6C3548C-97ED-5FB4-5E89-C3DCC9B28C22}"/>
                  </a:ext>
                </a:extLst>
              </p:cNvPr>
              <p:cNvSpPr txBox="1"/>
              <p:nvPr/>
            </p:nvSpPr>
            <p:spPr>
              <a:xfrm>
                <a:off x="3345086" y="3329942"/>
                <a:ext cx="1099019" cy="2077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NL" i="1" smtClean="0">
                              <a:latin typeface="Cambria Math" panose="02040503050406030204" pitchFamily="18" charset="0"/>
                            </a:rPr>
                          </m:ctrlPr>
                        </m:accPr>
                        <m:e>
                          <m:r>
                            <a:rPr lang="en-NL" i="1" smtClean="0">
                              <a:latin typeface="Cambria Math" panose="02040503050406030204" pitchFamily="18" charset="0"/>
                              <a:ea typeface="Cambria Math" panose="02040503050406030204" pitchFamily="18" charset="0"/>
                            </a:rPr>
                            <m:t>𝜎</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𝐿𝐽</m:t>
                          </m:r>
                        </m:e>
                      </m:d>
                      <m:r>
                        <a:rPr lang="en-US" b="0" i="1" smtClean="0">
                          <a:latin typeface="Cambria Math" panose="02040503050406030204" pitchFamily="18" charset="0"/>
                        </a:rPr>
                        <m:t>&lt;1</m:t>
                      </m:r>
                    </m:oMath>
                  </m:oMathPara>
                </a14:m>
                <a:endParaRPr lang="en-NL"/>
              </a:p>
            </p:txBody>
          </p:sp>
        </mc:Choice>
        <mc:Fallback xmlns="">
          <p:sp>
            <p:nvSpPr>
              <p:cNvPr id="10" name="TextBox 9">
                <a:extLst>
                  <a:ext uri="{FF2B5EF4-FFF2-40B4-BE49-F238E27FC236}">
                    <a16:creationId xmlns:a16="http://schemas.microsoft.com/office/drawing/2014/main" id="{96C3548C-97ED-5FB4-5E89-C3DCC9B28C22}"/>
                  </a:ext>
                </a:extLst>
              </p:cNvPr>
              <p:cNvSpPr txBox="1">
                <a:spLocks noRot="1" noChangeAspect="1" noMove="1" noResize="1" noEditPoints="1" noAdjustHandles="1" noChangeArrowheads="1" noChangeShapeType="1" noTextEdit="1"/>
              </p:cNvSpPr>
              <p:nvPr/>
            </p:nvSpPr>
            <p:spPr>
              <a:xfrm>
                <a:off x="3345086" y="3329942"/>
                <a:ext cx="1099019" cy="207749"/>
              </a:xfrm>
              <a:prstGeom prst="rect">
                <a:avLst/>
              </a:prstGeom>
              <a:blipFill>
                <a:blip r:embed="rId7"/>
                <a:stretch>
                  <a:fillRect l="-1667" r="-3889" b="-32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68134E4-135C-27F8-07B8-BF9A89280478}"/>
                  </a:ext>
                </a:extLst>
              </p:cNvPr>
              <p:cNvSpPr txBox="1"/>
              <p:nvPr/>
            </p:nvSpPr>
            <p:spPr>
              <a:xfrm>
                <a:off x="3243333" y="2054552"/>
                <a:ext cx="1396536" cy="2077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NL" i="1" smtClean="0">
                              <a:latin typeface="Cambria Math" panose="02040503050406030204" pitchFamily="18" charset="0"/>
                              <a:ea typeface="Cambria Math" panose="02040503050406030204" pitchFamily="18" charset="0"/>
                            </a:rPr>
                            <m:t>𝜃</m:t>
                          </m:r>
                        </m:e>
                        <m:sub>
                          <m:r>
                            <a:rPr lang="en-NL"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𝑇</m:t>
                                  </m:r>
                                </m:sup>
                              </m:sSup>
                              <m:r>
                                <a:rPr lang="en-US" b="0" i="1" smtClean="0">
                                  <a:latin typeface="Cambria Math" panose="02040503050406030204" pitchFamily="18" charset="0"/>
                                  <a:ea typeface="Cambria Math" panose="02040503050406030204" pitchFamily="18" charset="0"/>
                                </a:rPr>
                                <m:t>𝑋</m:t>
                              </m:r>
                            </m:e>
                          </m:d>
                        </m:e>
                        <m:sup>
                          <m:r>
                            <a:rPr lang="en-US" b="0" i="1" smtClean="0">
                              <a:latin typeface="Cambria Math" panose="02040503050406030204" pitchFamily="18" charset="0"/>
                              <a:ea typeface="Cambria Math" panose="02040503050406030204" pitchFamily="18" charset="0"/>
                            </a:rPr>
                            <m:t>−1</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𝑇</m:t>
                          </m:r>
                        </m:sup>
                      </m:sSup>
                      <m:r>
                        <a:rPr lang="en-US" b="0" i="1" smtClean="0">
                          <a:latin typeface="Cambria Math" panose="02040503050406030204" pitchFamily="18" charset="0"/>
                          <a:ea typeface="Cambria Math" panose="02040503050406030204" pitchFamily="18" charset="0"/>
                        </a:rPr>
                        <m:t>𝑌</m:t>
                      </m:r>
                    </m:oMath>
                  </m:oMathPara>
                </a14:m>
                <a:endParaRPr lang="en-NL"/>
              </a:p>
            </p:txBody>
          </p:sp>
        </mc:Choice>
        <mc:Fallback xmlns="">
          <p:sp>
            <p:nvSpPr>
              <p:cNvPr id="14" name="TextBox 13">
                <a:extLst>
                  <a:ext uri="{FF2B5EF4-FFF2-40B4-BE49-F238E27FC236}">
                    <a16:creationId xmlns:a16="http://schemas.microsoft.com/office/drawing/2014/main" id="{968134E4-135C-27F8-07B8-BF9A89280478}"/>
                  </a:ext>
                </a:extLst>
              </p:cNvPr>
              <p:cNvSpPr txBox="1">
                <a:spLocks noRot="1" noChangeAspect="1" noMove="1" noResize="1" noEditPoints="1" noAdjustHandles="1" noChangeArrowheads="1" noChangeShapeType="1" noTextEdit="1"/>
              </p:cNvSpPr>
              <p:nvPr/>
            </p:nvSpPr>
            <p:spPr>
              <a:xfrm>
                <a:off x="3243333" y="2054552"/>
                <a:ext cx="1396536" cy="207749"/>
              </a:xfrm>
              <a:prstGeom prst="rect">
                <a:avLst/>
              </a:prstGeom>
              <a:blipFill>
                <a:blip r:embed="rId8"/>
                <a:stretch>
                  <a:fillRect l="-2620" r="-2620" b="-205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20A2378-1F97-FA77-A7A4-587B2C39F32E}"/>
                  </a:ext>
                </a:extLst>
              </p:cNvPr>
              <p:cNvSpPr txBox="1"/>
              <p:nvPr/>
            </p:nvSpPr>
            <p:spPr>
              <a:xfrm>
                <a:off x="5025384" y="1057749"/>
                <a:ext cx="1261371" cy="15433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Y</m:t>
                      </m:r>
                      <m:r>
                        <a:rPr lang="en-NL" i="1" smtClean="0">
                          <a:latin typeface="Cambria Math" panose="02040503050406030204" pitchFamily="18" charset="0"/>
                        </a:rPr>
                        <m:t>=</m:t>
                      </m:r>
                      <m:d>
                        <m:dPr>
                          <m:begChr m:val="["/>
                          <m:endChr m:val="]"/>
                          <m:ctrlPr>
                            <a:rPr lang="en-NL" i="1" smtClean="0">
                              <a:latin typeface="Cambria Math" panose="02040503050406030204" pitchFamily="18" charset="0"/>
                            </a:rPr>
                          </m:ctrlPr>
                        </m:dPr>
                        <m:e>
                          <m:m>
                            <m:mPr>
                              <m:plcHide m:val="on"/>
                              <m:mcs>
                                <m:mc>
                                  <m:mcPr>
                                    <m:count m:val="1"/>
                                    <m:mcJc m:val="center"/>
                                  </m:mcPr>
                                </m:mc>
                              </m:mcs>
                              <m:ctrlPr>
                                <a:rPr lang="en-NL" i="1" smtClean="0">
                                  <a:latin typeface="Cambria Math" panose="02040503050406030204" pitchFamily="18" charset="0"/>
                                </a:rPr>
                              </m:ctrlPr>
                            </m:mPr>
                            <m:mr>
                              <m:e>
                                <m:sSubSup>
                                  <m:sSubSupPr>
                                    <m:ctrlPr>
                                      <a:rPr lang="en-NL" i="1" smtClean="0">
                                        <a:latin typeface="Cambria Math" panose="02040503050406030204" pitchFamily="18" charset="0"/>
                                      </a:rPr>
                                    </m:ctrlPr>
                                  </m:sSubSupPr>
                                  <m:e>
                                    <m:r>
                                      <a:rPr lang="en-NL" i="1" smtClean="0">
                                        <a:latin typeface="Cambria Math" panose="02040503050406030204" pitchFamily="18" charset="0"/>
                                      </a:rPr>
                                      <m:t>𝑊</m:t>
                                    </m:r>
                                  </m:e>
                                  <m:sub>
                                    <m:r>
                                      <a:rPr lang="en-NL" i="1" smtClean="0">
                                        <a:latin typeface="Cambria Math" panose="02040503050406030204" pitchFamily="18" charset="0"/>
                                      </a:rPr>
                                      <m:t>𝑒</m:t>
                                    </m:r>
                                  </m:sub>
                                  <m:sup>
                                    <m:f>
                                      <m:fPr>
                                        <m:ctrlPr>
                                          <a:rPr lang="en-NL" i="1" smtClean="0">
                                            <a:latin typeface="Cambria Math" panose="02040503050406030204" pitchFamily="18" charset="0"/>
                                          </a:rPr>
                                        </m:ctrlPr>
                                      </m:fPr>
                                      <m:num>
                                        <m:r>
                                          <a:rPr lang="en-NL" i="1" smtClean="0">
                                            <a:latin typeface="Cambria Math" panose="02040503050406030204" pitchFamily="18" charset="0"/>
                                          </a:rPr>
                                          <m:t>1</m:t>
                                        </m:r>
                                      </m:num>
                                      <m:den>
                                        <m:r>
                                          <a:rPr lang="en-NL" i="1" smtClean="0">
                                            <a:latin typeface="Cambria Math" panose="02040503050406030204" pitchFamily="18" charset="0"/>
                                          </a:rPr>
                                          <m:t>2</m:t>
                                        </m:r>
                                      </m:den>
                                    </m:f>
                                  </m:sup>
                                </m:sSubSup>
                                <m:sSup>
                                  <m:sSupPr>
                                    <m:ctrlPr>
                                      <a:rPr lang="en-NL" i="1" smtClean="0">
                                        <a:latin typeface="Cambria Math" panose="02040503050406030204" pitchFamily="18" charset="0"/>
                                      </a:rPr>
                                    </m:ctrlPr>
                                  </m:sSupPr>
                                  <m:e>
                                    <m:sSub>
                                      <m:sSubPr>
                                        <m:ctrlPr>
                                          <a:rPr lang="en-NL" i="1">
                                            <a:latin typeface="Cambria Math" panose="02040503050406030204" pitchFamily="18" charset="0"/>
                                          </a:rPr>
                                        </m:ctrlPr>
                                      </m:sSubPr>
                                      <m:e>
                                        <m:r>
                                          <a:rPr lang="en-NL" i="1">
                                            <a:latin typeface="Cambria Math" panose="02040503050406030204" pitchFamily="18" charset="0"/>
                                          </a:rPr>
                                          <m:t>𝑒</m:t>
                                        </m:r>
                                      </m:e>
                                      <m:sub>
                                        <m:r>
                                          <a:rPr lang="en-NL" i="1">
                                            <a:latin typeface="Cambria Math" panose="02040503050406030204" pitchFamily="18" charset="0"/>
                                          </a:rPr>
                                          <m:t>𝑗</m:t>
                                        </m:r>
                                      </m:sub>
                                    </m:sSub>
                                  </m:e>
                                  <m:sup>
                                    <m:r>
                                      <m:rPr>
                                        <m:sty m:val="p"/>
                                      </m:rPr>
                                      <a:rPr lang="en-US" b="0" i="1" smtClean="0">
                                        <a:latin typeface="Cambria Math" panose="02040503050406030204" pitchFamily="18" charset="0"/>
                                      </a:rPr>
                                      <m:t>y</m:t>
                                    </m:r>
                                  </m:sup>
                                </m:sSup>
                              </m:e>
                            </m:mr>
                            <m:mr>
                              <m:e>
                                <m:sSup>
                                  <m:sSupPr>
                                    <m:ctrlPr>
                                      <a:rPr lang="en-NL" i="1" smtClean="0">
                                        <a:latin typeface="Cambria Math" panose="02040503050406030204" pitchFamily="18" charset="0"/>
                                      </a:rPr>
                                    </m:ctrlPr>
                                  </m:sSupPr>
                                  <m:e>
                                    <m:sSub>
                                      <m:sSubPr>
                                        <m:ctrlPr>
                                          <a:rPr lang="en-NL" i="1">
                                            <a:latin typeface="Cambria Math" panose="02040503050406030204" pitchFamily="18" charset="0"/>
                                          </a:rPr>
                                        </m:ctrlPr>
                                      </m:sSubPr>
                                      <m:e>
                                        <m:r>
                                          <a:rPr lang="en-NL" i="1">
                                            <a:latin typeface="Cambria Math" panose="02040503050406030204" pitchFamily="18" charset="0"/>
                                          </a:rPr>
                                          <m:t>𝑊</m:t>
                                        </m:r>
                                      </m:e>
                                      <m:sub>
                                        <m:sSub>
                                          <m:sSubPr>
                                            <m:ctrlPr>
                                              <a:rPr lang="en-NL" i="1">
                                                <a:latin typeface="Cambria Math" panose="02040503050406030204" pitchFamily="18" charset="0"/>
                                              </a:rPr>
                                            </m:ctrlPr>
                                          </m:sSubPr>
                                          <m:e>
                                            <m:r>
                                              <a:rPr lang="en-NL" i="1">
                                                <a:latin typeface="Cambria Math" panose="02040503050406030204" pitchFamily="18" charset="0"/>
                                              </a:rPr>
                                              <m:t>𝑟</m:t>
                                            </m:r>
                                          </m:e>
                                          <m:sub>
                                            <m:r>
                                              <a:rPr lang="en-NL" i="1">
                                                <a:latin typeface="Cambria Math" panose="02040503050406030204" pitchFamily="18" charset="0"/>
                                              </a:rPr>
                                              <m:t>𝑦</m:t>
                                            </m:r>
                                          </m:sub>
                                        </m:sSub>
                                      </m:sub>
                                    </m:sSub>
                                  </m:e>
                                  <m:sup>
                                    <m:f>
                                      <m:fPr>
                                        <m:ctrlPr>
                                          <a:rPr lang="en-NL" i="1">
                                            <a:latin typeface="Cambria Math" panose="02040503050406030204" pitchFamily="18" charset="0"/>
                                          </a:rPr>
                                        </m:ctrlPr>
                                      </m:fPr>
                                      <m:num>
                                        <m:r>
                                          <a:rPr lang="en-NL" i="1">
                                            <a:latin typeface="Cambria Math" panose="02040503050406030204" pitchFamily="18" charset="0"/>
                                          </a:rPr>
                                          <m:t>1</m:t>
                                        </m:r>
                                      </m:num>
                                      <m:den>
                                        <m:r>
                                          <a:rPr lang="en-NL" i="1">
                                            <a:latin typeface="Cambria Math" panose="02040503050406030204" pitchFamily="18" charset="0"/>
                                          </a:rPr>
                                          <m:t>2</m:t>
                                        </m:r>
                                      </m:den>
                                    </m:f>
                                  </m:sup>
                                </m:sSup>
                                <m:sSup>
                                  <m:sSupPr>
                                    <m:ctrlPr>
                                      <a:rPr lang="en-NL" i="1">
                                        <a:latin typeface="Cambria Math" panose="02040503050406030204" pitchFamily="18" charset="0"/>
                                      </a:rPr>
                                    </m:ctrlPr>
                                  </m:sSupPr>
                                  <m:e>
                                    <m:sSub>
                                      <m:sSubPr>
                                        <m:ctrlPr>
                                          <a:rPr lang="en-NL" i="1">
                                            <a:latin typeface="Cambria Math" panose="02040503050406030204" pitchFamily="18" charset="0"/>
                                          </a:rPr>
                                        </m:ctrlPr>
                                      </m:sSubPr>
                                      <m:e>
                                        <m:r>
                                          <m:rPr>
                                            <m:sty m:val="p"/>
                                          </m:rPr>
                                          <a:rPr lang="en-US" b="0" i="1" smtClean="0">
                                            <a:latin typeface="Cambria Math" panose="02040503050406030204" pitchFamily="18" charset="0"/>
                                          </a:rPr>
                                          <m:t>r</m:t>
                                        </m:r>
                                      </m:e>
                                      <m:sub>
                                        <m:r>
                                          <a:rPr lang="en-NL" i="1">
                                            <a:latin typeface="Cambria Math" panose="02040503050406030204" pitchFamily="18" charset="0"/>
                                          </a:rPr>
                                          <m:t>𝑗</m:t>
                                        </m:r>
                                      </m:sub>
                                    </m:sSub>
                                  </m:e>
                                  <m:sup>
                                    <m:r>
                                      <m:rPr>
                                        <m:sty m:val="p"/>
                                      </m:rPr>
                                      <a:rPr lang="en-US" i="1">
                                        <a:latin typeface="Cambria Math" panose="02040503050406030204" pitchFamily="18" charset="0"/>
                                      </a:rPr>
                                      <m:t>y</m:t>
                                    </m:r>
                                  </m:sup>
                                </m:sSup>
                              </m:e>
                            </m:mr>
                            <m:mr>
                              <m:e>
                                <m:r>
                                  <a:rPr lang="en-NL" i="1" smtClean="0">
                                    <a:latin typeface="Cambria Math" panose="02040503050406030204" pitchFamily="18" charset="0"/>
                                  </a:rPr>
                                  <m:t>0</m:t>
                                </m:r>
                              </m:e>
                            </m:mr>
                            <m:mr>
                              <m:e>
                                <m:sSup>
                                  <m:sSupPr>
                                    <m:ctrlPr>
                                      <a:rPr lang="en-NL" i="1">
                                        <a:latin typeface="Cambria Math" panose="02040503050406030204" pitchFamily="18" charset="0"/>
                                      </a:rPr>
                                    </m:ctrlPr>
                                  </m:sSupPr>
                                  <m:e>
                                    <m:sSub>
                                      <m:sSubPr>
                                        <m:ctrlPr>
                                          <a:rPr lang="en-NL" i="1">
                                            <a:latin typeface="Cambria Math" panose="02040503050406030204" pitchFamily="18" charset="0"/>
                                          </a:rPr>
                                        </m:ctrlPr>
                                      </m:sSubPr>
                                      <m:e>
                                        <m:r>
                                          <a:rPr lang="en-NL" i="1">
                                            <a:latin typeface="Cambria Math" panose="02040503050406030204" pitchFamily="18" charset="0"/>
                                          </a:rPr>
                                          <m:t>𝑊</m:t>
                                        </m:r>
                                      </m:e>
                                      <m:sub>
                                        <m:r>
                                          <a:rPr lang="en-US" i="1">
                                            <a:latin typeface="Cambria Math" panose="02040503050406030204" pitchFamily="18" charset="0"/>
                                          </a:rPr>
                                          <m:t>𝑓</m:t>
                                        </m:r>
                                      </m:sub>
                                    </m:sSub>
                                  </m:e>
                                  <m:sup>
                                    <m:f>
                                      <m:fPr>
                                        <m:ctrlPr>
                                          <a:rPr lang="en-NL" i="1">
                                            <a:latin typeface="Cambria Math" panose="02040503050406030204" pitchFamily="18" charset="0"/>
                                          </a:rPr>
                                        </m:ctrlPr>
                                      </m:fPr>
                                      <m:num>
                                        <m:r>
                                          <a:rPr lang="en-NL" i="1">
                                            <a:latin typeface="Cambria Math" panose="02040503050406030204" pitchFamily="18" charset="0"/>
                                          </a:rPr>
                                          <m:t>1</m:t>
                                        </m:r>
                                      </m:num>
                                      <m:den>
                                        <m:r>
                                          <a:rPr lang="en-NL" i="1">
                                            <a:latin typeface="Cambria Math" panose="02040503050406030204" pitchFamily="18" charset="0"/>
                                          </a:rPr>
                                          <m:t>2</m:t>
                                        </m:r>
                                      </m:den>
                                    </m:f>
                                  </m:sup>
                                </m:sSup>
                                <m:sSub>
                                  <m:sSubPr>
                                    <m:ctrlPr>
                                      <a:rPr lang="en-NL" i="1" smtClean="0">
                                        <a:latin typeface="Cambria Math" panose="02040503050406030204" pitchFamily="18" charset="0"/>
                                      </a:rPr>
                                    </m:ctrlPr>
                                  </m:sSubPr>
                                  <m:e>
                                    <m:r>
                                      <a:rPr lang="en-US" i="1">
                                        <a:latin typeface="Cambria Math" panose="02040503050406030204" pitchFamily="18" charset="0"/>
                                      </a:rPr>
                                      <m:t>𝑓</m:t>
                                    </m:r>
                                  </m:e>
                                  <m:sub>
                                    <m:r>
                                      <m:rPr>
                                        <m:sty m:val="p"/>
                                      </m:rPr>
                                      <a:rPr lang="en-US" b="0" i="1" smtClean="0">
                                        <a:latin typeface="Cambria Math" panose="02040503050406030204" pitchFamily="18" charset="0"/>
                                      </a:rPr>
                                      <m:t>j</m:t>
                                    </m:r>
                                  </m:sub>
                                </m:sSub>
                              </m:e>
                            </m:mr>
                            <m:mr>
                              <m:e>
                                <m:r>
                                  <a:rPr lang="en-NL" i="1" smtClean="0">
                                    <a:latin typeface="Cambria Math" panose="02040503050406030204" pitchFamily="18" charset="0"/>
                                  </a:rPr>
                                  <m:t>0</m:t>
                                </m:r>
                              </m:e>
                            </m:mr>
                          </m:m>
                        </m:e>
                      </m:d>
                    </m:oMath>
                  </m:oMathPara>
                </a14:m>
                <a:endParaRPr lang="en-NL"/>
              </a:p>
            </p:txBody>
          </p:sp>
        </mc:Choice>
        <mc:Fallback xmlns="">
          <p:sp>
            <p:nvSpPr>
              <p:cNvPr id="16" name="TextBox 15">
                <a:extLst>
                  <a:ext uri="{FF2B5EF4-FFF2-40B4-BE49-F238E27FC236}">
                    <a16:creationId xmlns:a16="http://schemas.microsoft.com/office/drawing/2014/main" id="{020A2378-1F97-FA77-A7A4-587B2C39F32E}"/>
                  </a:ext>
                </a:extLst>
              </p:cNvPr>
              <p:cNvSpPr txBox="1">
                <a:spLocks noRot="1" noChangeAspect="1" noMove="1" noResize="1" noEditPoints="1" noAdjustHandles="1" noChangeArrowheads="1" noChangeShapeType="1" noTextEdit="1"/>
              </p:cNvSpPr>
              <p:nvPr/>
            </p:nvSpPr>
            <p:spPr>
              <a:xfrm>
                <a:off x="5025384" y="1057749"/>
                <a:ext cx="1261371" cy="154330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E2F797C-A45E-F649-EC30-4D35CF968F4A}"/>
                  </a:ext>
                </a:extLst>
              </p:cNvPr>
              <p:cNvSpPr txBox="1"/>
              <p:nvPr/>
            </p:nvSpPr>
            <p:spPr>
              <a:xfrm>
                <a:off x="2635034" y="1276709"/>
                <a:ext cx="2453695" cy="46102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𝐽</m:t>
                      </m:r>
                      <m:r>
                        <a:rPr lang="en-US" sz="1600" b="0" i="1" smtClean="0">
                          <a:latin typeface="Cambria Math" panose="02040503050406030204" pitchFamily="18" charset="0"/>
                        </a:rPr>
                        <m:t>(</m:t>
                      </m:r>
                      <m:sSub>
                        <m:sSubPr>
                          <m:ctrlPr>
                            <a:rPr lang="en-NL" sz="1600" i="1">
                              <a:latin typeface="Cambria Math" panose="02040503050406030204" pitchFamily="18" charset="0"/>
                            </a:rPr>
                          </m:ctrlPr>
                        </m:sSubPr>
                        <m:e>
                          <m:r>
                            <a:rPr lang="en-NL" sz="1600" i="1">
                              <a:latin typeface="Cambria Math" panose="02040503050406030204" pitchFamily="18" charset="0"/>
                            </a:rPr>
                            <m:t>𝜃</m:t>
                          </m:r>
                        </m:e>
                        <m:sub>
                          <m:r>
                            <m:rPr>
                              <m:sty m:val="p"/>
                            </m:rPr>
                            <a:rPr lang="en-NL" sz="1600">
                              <a:latin typeface="Cambria Math" panose="02040503050406030204" pitchFamily="18" charset="0"/>
                            </a:rPr>
                            <m:t>Δ</m:t>
                          </m:r>
                        </m:sub>
                      </m:sSub>
                      <m:r>
                        <a:rPr lang="en-US" sz="1600" b="0" i="1" smtClean="0">
                          <a:latin typeface="Cambria Math" panose="02040503050406030204" pitchFamily="18" charset="0"/>
                        </a:rPr>
                        <m:t>) = </m:t>
                      </m:r>
                      <m:f>
                        <m:fPr>
                          <m:ctrlPr>
                            <a:rPr lang="en-NL" sz="1600" i="1" smtClean="0">
                              <a:latin typeface="Cambria Math" panose="02040503050406030204" pitchFamily="18" charset="0"/>
                            </a:rPr>
                          </m:ctrlPr>
                        </m:fPr>
                        <m:num>
                          <m:r>
                            <a:rPr lang="en-NL" sz="1600">
                              <a:latin typeface="Cambria Math" panose="02040503050406030204" pitchFamily="18" charset="0"/>
                            </a:rPr>
                            <m:t>1</m:t>
                          </m:r>
                        </m:num>
                        <m:den>
                          <m:r>
                            <a:rPr lang="en-NL" sz="1600" i="0">
                              <a:latin typeface="Cambria Math" panose="02040503050406030204" pitchFamily="18" charset="0"/>
                            </a:rPr>
                            <m:t>2</m:t>
                          </m:r>
                        </m:den>
                      </m:f>
                      <m:sSubSup>
                        <m:sSubSupPr>
                          <m:ctrlPr>
                            <a:rPr lang="en-NL" sz="1600" i="1">
                              <a:latin typeface="Cambria Math" panose="02040503050406030204" pitchFamily="18" charset="0"/>
                            </a:rPr>
                          </m:ctrlPr>
                        </m:sSubSupPr>
                        <m:e>
                          <m:d>
                            <m:dPr>
                              <m:begChr m:val="‖"/>
                              <m:endChr m:val="‖"/>
                              <m:ctrlPr>
                                <a:rPr lang="en-NL" sz="1600" i="1">
                                  <a:latin typeface="Cambria Math" panose="02040503050406030204" pitchFamily="18" charset="0"/>
                                </a:rPr>
                              </m:ctrlPr>
                            </m:dPr>
                            <m:e>
                              <m:sSub>
                                <m:sSubPr>
                                  <m:ctrlPr>
                                    <a:rPr lang="en-NL" sz="1600" i="1">
                                      <a:latin typeface="Cambria Math" panose="02040503050406030204" pitchFamily="18" charset="0"/>
                                    </a:rPr>
                                  </m:ctrlPr>
                                </m:sSubPr>
                                <m:e>
                                  <m:r>
                                    <a:rPr lang="en-NL" sz="1600" i="1">
                                      <a:latin typeface="Cambria Math" panose="02040503050406030204" pitchFamily="18" charset="0"/>
                                    </a:rPr>
                                    <m:t>𝑌</m:t>
                                  </m:r>
                                  <m:r>
                                    <a:rPr lang="en-NL" sz="1600">
                                      <a:latin typeface="Cambria Math" panose="02040503050406030204" pitchFamily="18" charset="0"/>
                                    </a:rPr>
                                    <m:t>−</m:t>
                                  </m:r>
                                  <m:r>
                                    <a:rPr lang="en-NL" sz="1600" i="1">
                                      <a:latin typeface="Cambria Math" panose="02040503050406030204" pitchFamily="18" charset="0"/>
                                    </a:rPr>
                                    <m:t>𝑋</m:t>
                                  </m:r>
                                  <m:r>
                                    <a:rPr lang="en-NL" sz="1600" i="1">
                                      <a:latin typeface="Cambria Math" panose="02040503050406030204" pitchFamily="18" charset="0"/>
                                    </a:rPr>
                                    <m:t>𝜃</m:t>
                                  </m:r>
                                </m:e>
                                <m:sub>
                                  <m:r>
                                    <m:rPr>
                                      <m:sty m:val="p"/>
                                    </m:rPr>
                                    <a:rPr lang="en-NL" sz="1600" i="0">
                                      <a:latin typeface="Cambria Math" panose="02040503050406030204" pitchFamily="18" charset="0"/>
                                    </a:rPr>
                                    <m:t>Δ</m:t>
                                  </m:r>
                                </m:sub>
                              </m:sSub>
                            </m:e>
                          </m:d>
                        </m:e>
                        <m:sub>
                          <m:r>
                            <a:rPr lang="en-NL" sz="1600" i="0">
                              <a:latin typeface="Cambria Math" panose="02040503050406030204" pitchFamily="18" charset="0"/>
                            </a:rPr>
                            <m:t>2</m:t>
                          </m:r>
                        </m:sub>
                        <m:sup>
                          <m:r>
                            <a:rPr lang="en-NL" sz="1600" i="0">
                              <a:latin typeface="Cambria Math" panose="02040503050406030204" pitchFamily="18" charset="0"/>
                            </a:rPr>
                            <m:t>2</m:t>
                          </m:r>
                        </m:sup>
                      </m:sSubSup>
                    </m:oMath>
                  </m:oMathPara>
                </a14:m>
                <a:endParaRPr lang="en-NL"/>
              </a:p>
            </p:txBody>
          </p:sp>
        </mc:Choice>
        <mc:Fallback xmlns="">
          <p:sp>
            <p:nvSpPr>
              <p:cNvPr id="17" name="TextBox 16">
                <a:extLst>
                  <a:ext uri="{FF2B5EF4-FFF2-40B4-BE49-F238E27FC236}">
                    <a16:creationId xmlns:a16="http://schemas.microsoft.com/office/drawing/2014/main" id="{1E2F797C-A45E-F649-EC30-4D35CF968F4A}"/>
                  </a:ext>
                </a:extLst>
              </p:cNvPr>
              <p:cNvSpPr txBox="1">
                <a:spLocks noRot="1" noChangeAspect="1" noMove="1" noResize="1" noEditPoints="1" noAdjustHandles="1" noChangeArrowheads="1" noChangeShapeType="1" noTextEdit="1"/>
              </p:cNvSpPr>
              <p:nvPr/>
            </p:nvSpPr>
            <p:spPr>
              <a:xfrm>
                <a:off x="2635034" y="1276709"/>
                <a:ext cx="2453695" cy="46102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A1A2C9CD-3693-B163-B776-165E4C61EB8F}"/>
                  </a:ext>
                </a:extLst>
              </p14:cNvPr>
              <p14:cNvContentPartPr/>
              <p14:nvPr/>
            </p14:nvContentPartPr>
            <p14:xfrm>
              <a:off x="3489893" y="684461"/>
              <a:ext cx="360" cy="360"/>
            </p14:xfrm>
          </p:contentPart>
        </mc:Choice>
        <mc:Fallback xmlns="">
          <p:pic>
            <p:nvPicPr>
              <p:cNvPr id="18" name="Ink 17">
                <a:extLst>
                  <a:ext uri="{FF2B5EF4-FFF2-40B4-BE49-F238E27FC236}">
                    <a16:creationId xmlns:a16="http://schemas.microsoft.com/office/drawing/2014/main" id="{A1A2C9CD-3693-B163-B776-165E4C61EB8F}"/>
                  </a:ext>
                </a:extLst>
              </p:cNvPr>
              <p:cNvPicPr/>
              <p:nvPr/>
            </p:nvPicPr>
            <p:blipFill>
              <a:blip r:embed="rId6"/>
              <a:stretch>
                <a:fillRect/>
              </a:stretch>
            </p:blipFill>
            <p:spPr>
              <a:xfrm>
                <a:off x="3480893" y="675461"/>
                <a:ext cx="18000" cy="18000"/>
              </a:xfrm>
              <a:prstGeom prst="rect">
                <a:avLst/>
              </a:prstGeom>
            </p:spPr>
          </p:pic>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8A7D805-2241-3DC7-0C54-EBE6C9BF0374}"/>
                  </a:ext>
                </a:extLst>
              </p:cNvPr>
              <p:cNvSpPr txBox="1"/>
              <p:nvPr/>
            </p:nvSpPr>
            <p:spPr>
              <a:xfrm>
                <a:off x="6551436" y="929084"/>
                <a:ext cx="2228752" cy="17082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NL" i="1" smtClean="0">
                          <a:latin typeface="Cambria Math" panose="02040503050406030204" pitchFamily="18" charset="0"/>
                        </a:rPr>
                        <m:t>𝑋</m:t>
                      </m:r>
                      <m:r>
                        <a:rPr lang="en-NL" i="0">
                          <a:latin typeface="Cambria Math" panose="02040503050406030204" pitchFamily="18" charset="0"/>
                        </a:rPr>
                        <m:t>=</m:t>
                      </m:r>
                      <m:d>
                        <m:dPr>
                          <m:begChr m:val="["/>
                          <m:endChr m:val="]"/>
                          <m:ctrlPr>
                            <a:rPr lang="en-NL" i="1">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r>
                                  <a:rPr lang="en-US" b="0" i="1" smtClean="0">
                                    <a:latin typeface="Cambria Math" panose="02040503050406030204" pitchFamily="18" charset="0"/>
                                  </a:rPr>
                                  <m:t>−</m:t>
                                </m:r>
                                <m:sSup>
                                  <m:sSupPr>
                                    <m:ctrlPr>
                                      <a:rPr lang="en-NL" i="1" smtClean="0">
                                        <a:latin typeface="Cambria Math" panose="02040503050406030204" pitchFamily="18" charset="0"/>
                                      </a:rPr>
                                    </m:ctrlPr>
                                  </m:sSupPr>
                                  <m:e>
                                    <m:sSub>
                                      <m:sSubPr>
                                        <m:ctrlPr>
                                          <a:rPr lang="en-NL" i="1">
                                            <a:latin typeface="Cambria Math" panose="02040503050406030204" pitchFamily="18" charset="0"/>
                                          </a:rPr>
                                        </m:ctrlPr>
                                      </m:sSubPr>
                                      <m:e>
                                        <m:r>
                                          <a:rPr lang="en-NL" i="1">
                                            <a:latin typeface="Cambria Math" panose="02040503050406030204" pitchFamily="18" charset="0"/>
                                          </a:rPr>
                                          <m:t>𝑊</m:t>
                                        </m:r>
                                      </m:e>
                                      <m:sub>
                                        <m:r>
                                          <m:rPr>
                                            <m:sty m:val="p"/>
                                          </m:rPr>
                                          <a:rPr lang="en-US" i="1">
                                            <a:latin typeface="Cambria Math" panose="02040503050406030204" pitchFamily="18" charset="0"/>
                                          </a:rPr>
                                          <m:t>e</m:t>
                                        </m:r>
                                      </m:sub>
                                    </m:sSub>
                                  </m:e>
                                  <m:sup>
                                    <m:f>
                                      <m:fPr>
                                        <m:ctrlPr>
                                          <a:rPr lang="en-NL"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up>
                                </m:sSup>
                                <m:r>
                                  <a:rPr lang="en-NL" i="1">
                                    <a:latin typeface="Cambria Math" panose="02040503050406030204" pitchFamily="18" charset="0"/>
                                  </a:rPr>
                                  <m:t>𝑆</m:t>
                                </m:r>
                                <m:sSup>
                                  <m:sSupPr>
                                    <m:ctrlPr>
                                      <a:rPr lang="en-NL" i="1">
                                        <a:latin typeface="Cambria Math" panose="02040503050406030204" pitchFamily="18" charset="0"/>
                                      </a:rPr>
                                    </m:ctrlPr>
                                  </m:sSupPr>
                                  <m:e>
                                    <m:r>
                                      <a:rPr lang="en-NL" i="1">
                                        <a:latin typeface="Cambria Math" panose="02040503050406030204" pitchFamily="18" charset="0"/>
                                      </a:rPr>
                                      <m:t>𝜓</m:t>
                                    </m:r>
                                  </m:e>
                                  <m:sup>
                                    <m:r>
                                      <a:rPr lang="en-NL" i="1">
                                        <a:latin typeface="Cambria Math" panose="02040503050406030204" pitchFamily="18" charset="0"/>
                                      </a:rPr>
                                      <m:t>𝑦</m:t>
                                    </m:r>
                                  </m:sup>
                                </m:sSup>
                              </m:e>
                              <m:e>
                                <m:sSup>
                                  <m:sSupPr>
                                    <m:ctrlPr>
                                      <a:rPr lang="en-NL" i="1">
                                        <a:latin typeface="Cambria Math" panose="02040503050406030204" pitchFamily="18" charset="0"/>
                                      </a:rPr>
                                    </m:ctrlPr>
                                  </m:sSupPr>
                                  <m:e>
                                    <m:sSub>
                                      <m:sSubPr>
                                        <m:ctrlPr>
                                          <a:rPr lang="en-NL" i="1">
                                            <a:latin typeface="Cambria Math" panose="02040503050406030204" pitchFamily="18" charset="0"/>
                                          </a:rPr>
                                        </m:ctrlPr>
                                      </m:sSubPr>
                                      <m:e>
                                        <m:r>
                                          <a:rPr lang="en-NL" i="1">
                                            <a:latin typeface="Cambria Math" panose="02040503050406030204" pitchFamily="18" charset="0"/>
                                          </a:rPr>
                                          <m:t>𝑊</m:t>
                                        </m:r>
                                      </m:e>
                                      <m:sub>
                                        <m:r>
                                          <m:rPr>
                                            <m:sty m:val="p"/>
                                          </m:rPr>
                                          <a:rPr lang="en-US" i="1">
                                            <a:latin typeface="Cambria Math" panose="02040503050406030204" pitchFamily="18" charset="0"/>
                                          </a:rPr>
                                          <m:t>e</m:t>
                                        </m:r>
                                      </m:sub>
                                    </m:sSub>
                                  </m:e>
                                  <m:sup>
                                    <m:f>
                                      <m:fPr>
                                        <m:ctrlPr>
                                          <a:rPr lang="en-NL"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up>
                                </m:sSup>
                                <m:r>
                                  <a:rPr lang="en-US" b="0" i="1" smtClean="0">
                                    <a:latin typeface="Cambria Math" panose="02040503050406030204" pitchFamily="18" charset="0"/>
                                  </a:rPr>
                                  <m:t>𝑆𝑃</m:t>
                                </m:r>
                                <m:sSup>
                                  <m:sSupPr>
                                    <m:ctrlPr>
                                      <a:rPr lang="en-NL" i="1">
                                        <a:latin typeface="Cambria Math" panose="02040503050406030204" pitchFamily="18" charset="0"/>
                                      </a:rPr>
                                    </m:ctrlPr>
                                  </m:sSupPr>
                                  <m:e>
                                    <m:r>
                                      <a:rPr lang="en-NL" i="1">
                                        <a:latin typeface="Cambria Math" panose="02040503050406030204" pitchFamily="18" charset="0"/>
                                      </a:rPr>
                                      <m:t>𝜓</m:t>
                                    </m:r>
                                  </m:e>
                                  <m:sup>
                                    <m:r>
                                      <a:rPr lang="en-US" i="1">
                                        <a:latin typeface="Cambria Math" panose="02040503050406030204" pitchFamily="18" charset="0"/>
                                      </a:rPr>
                                      <m:t>𝑓𝑓</m:t>
                                    </m:r>
                                  </m:sup>
                                </m:sSup>
                              </m:e>
                            </m:mr>
                            <m:mr>
                              <m:e>
                                <m:r>
                                  <a:rPr lang="en-US" b="0" i="1" smtClean="0">
                                    <a:latin typeface="Cambria Math" panose="02040503050406030204" pitchFamily="18" charset="0"/>
                                  </a:rPr>
                                  <m:t>−</m:t>
                                </m:r>
                                <m:sSup>
                                  <m:sSupPr>
                                    <m:ctrlPr>
                                      <a:rPr lang="en-NL" i="1">
                                        <a:latin typeface="Cambria Math" panose="02040503050406030204" pitchFamily="18" charset="0"/>
                                      </a:rPr>
                                    </m:ctrlPr>
                                  </m:sSupPr>
                                  <m:e>
                                    <m:sSub>
                                      <m:sSubPr>
                                        <m:ctrlPr>
                                          <a:rPr lang="en-NL" i="1">
                                            <a:latin typeface="Cambria Math" panose="02040503050406030204" pitchFamily="18" charset="0"/>
                                          </a:rPr>
                                        </m:ctrlPr>
                                      </m:sSubPr>
                                      <m:e>
                                        <m:r>
                                          <a:rPr lang="en-NL" i="1">
                                            <a:latin typeface="Cambria Math" panose="02040503050406030204" pitchFamily="18" charset="0"/>
                                          </a:rPr>
                                          <m:t>𝑊</m:t>
                                        </m:r>
                                      </m:e>
                                      <m:sub>
                                        <m:sSub>
                                          <m:sSubPr>
                                            <m:ctrlPr>
                                              <a:rPr lang="en-NL" i="1" smtClean="0">
                                                <a:latin typeface="Cambria Math" panose="02040503050406030204" pitchFamily="18" charset="0"/>
                                              </a:rPr>
                                            </m:ctrlPr>
                                          </m:sSubPr>
                                          <m:e>
                                            <m:r>
                                              <m:rPr>
                                                <m:sty m:val="p"/>
                                              </m:rPr>
                                              <a:rPr lang="en-US" b="0" i="1" smtClean="0">
                                                <a:latin typeface="Cambria Math" panose="02040503050406030204" pitchFamily="18" charset="0"/>
                                              </a:rPr>
                                              <m:t>r</m:t>
                                            </m:r>
                                          </m:e>
                                          <m:sub>
                                            <m:r>
                                              <m:rPr>
                                                <m:sty m:val="p"/>
                                              </m:rPr>
                                              <a:rPr lang="en-US" b="0" i="1" smtClean="0">
                                                <a:latin typeface="Cambria Math" panose="02040503050406030204" pitchFamily="18" charset="0"/>
                                              </a:rPr>
                                              <m:t>y</m:t>
                                            </m:r>
                                          </m:sub>
                                        </m:sSub>
                                      </m:sub>
                                    </m:sSub>
                                  </m:e>
                                  <m:sup>
                                    <m:f>
                                      <m:fPr>
                                        <m:ctrlPr>
                                          <a:rPr lang="en-NL"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up>
                                </m:sSup>
                                <m:sSup>
                                  <m:sSupPr>
                                    <m:ctrlPr>
                                      <a:rPr lang="en-NL" i="1">
                                        <a:latin typeface="Cambria Math" panose="02040503050406030204" pitchFamily="18" charset="0"/>
                                      </a:rPr>
                                    </m:ctrlPr>
                                  </m:sSupPr>
                                  <m:e>
                                    <m:r>
                                      <a:rPr lang="en-NL" i="1">
                                        <a:latin typeface="Cambria Math" panose="02040503050406030204" pitchFamily="18" charset="0"/>
                                      </a:rPr>
                                      <m:t>𝜓</m:t>
                                    </m:r>
                                  </m:e>
                                  <m:sup>
                                    <m:r>
                                      <a:rPr lang="en-NL" i="1">
                                        <a:latin typeface="Cambria Math" panose="02040503050406030204" pitchFamily="18" charset="0"/>
                                      </a:rPr>
                                      <m:t>𝑦</m:t>
                                    </m:r>
                                  </m:sup>
                                </m:sSup>
                              </m:e>
                              <m:e>
                                <m:r>
                                  <a:rPr lang="en-NL" i="0">
                                    <a:latin typeface="Cambria Math" panose="02040503050406030204" pitchFamily="18" charset="0"/>
                                  </a:rPr>
                                  <m:t>0</m:t>
                                </m:r>
                              </m:e>
                            </m:mr>
                            <m:mr>
                              <m:e>
                                <m:r>
                                  <a:rPr lang="en-US" b="0" i="0" smtClean="0">
                                    <a:latin typeface="Cambria Math" panose="02040503050406030204" pitchFamily="18" charset="0"/>
                                  </a:rPr>
                                  <m:t>−</m:t>
                                </m:r>
                                <m:sSup>
                                  <m:sSupPr>
                                    <m:ctrlPr>
                                      <a:rPr lang="en-NL" i="1">
                                        <a:latin typeface="Cambria Math" panose="02040503050406030204" pitchFamily="18" charset="0"/>
                                      </a:rPr>
                                    </m:ctrlPr>
                                  </m:sSupPr>
                                  <m:e>
                                    <m:sSub>
                                      <m:sSubPr>
                                        <m:ctrlPr>
                                          <a:rPr lang="en-NL" i="1" smtClean="0">
                                            <a:latin typeface="Cambria Math" panose="02040503050406030204" pitchFamily="18" charset="0"/>
                                          </a:rPr>
                                        </m:ctrlPr>
                                      </m:sSubPr>
                                      <m:e>
                                        <m:r>
                                          <a:rPr lang="en-NL" i="1">
                                            <a:latin typeface="Cambria Math" panose="02040503050406030204" pitchFamily="18" charset="0"/>
                                          </a:rPr>
                                          <m:t>𝑊</m:t>
                                        </m:r>
                                      </m:e>
                                      <m:sub>
                                        <m:r>
                                          <m:rPr>
                                            <m:sty m:val="p"/>
                                          </m:rPr>
                                          <a:rPr lang="en-US" b="0" i="1" smtClean="0">
                                            <a:latin typeface="Cambria Math" panose="02040503050406030204" pitchFamily="18" charset="0"/>
                                          </a:rPr>
                                          <m:t>r</m:t>
                                        </m:r>
                                      </m:sub>
                                    </m:sSub>
                                  </m:e>
                                  <m:sup>
                                    <m:f>
                                      <m:fPr>
                                        <m:ctrlPr>
                                          <a:rPr lang="en-NL"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up>
                                </m:sSup>
                                <m:sSup>
                                  <m:sSupPr>
                                    <m:ctrlPr>
                                      <a:rPr lang="en-NL" i="1">
                                        <a:latin typeface="Cambria Math" panose="02040503050406030204" pitchFamily="18" charset="0"/>
                                      </a:rPr>
                                    </m:ctrlPr>
                                  </m:sSupPr>
                                  <m:e>
                                    <m:r>
                                      <a:rPr lang="en-NL" i="1">
                                        <a:latin typeface="Cambria Math" panose="02040503050406030204" pitchFamily="18" charset="0"/>
                                      </a:rPr>
                                      <m:t>𝜓</m:t>
                                    </m:r>
                                  </m:e>
                                  <m:sup>
                                    <m:r>
                                      <a:rPr lang="en-NL" i="1">
                                        <a:latin typeface="Cambria Math" panose="02040503050406030204" pitchFamily="18" charset="0"/>
                                      </a:rPr>
                                      <m:t>𝑦</m:t>
                                    </m:r>
                                  </m:sup>
                                </m:sSup>
                              </m:e>
                              <m:e>
                                <m:r>
                                  <a:rPr lang="en-NL" i="0">
                                    <a:latin typeface="Cambria Math" panose="02040503050406030204" pitchFamily="18" charset="0"/>
                                  </a:rPr>
                                  <m:t>0</m:t>
                                </m:r>
                              </m:e>
                            </m:mr>
                            <m:mr>
                              <m:e>
                                <m:r>
                                  <a:rPr lang="en-NL" i="0">
                                    <a:latin typeface="Cambria Math" panose="02040503050406030204" pitchFamily="18" charset="0"/>
                                  </a:rPr>
                                  <m:t>0</m:t>
                                </m:r>
                              </m:e>
                              <m:e>
                                <m:sSup>
                                  <m:sSupPr>
                                    <m:ctrlPr>
                                      <a:rPr lang="en-NL" i="1">
                                        <a:latin typeface="Cambria Math" panose="02040503050406030204" pitchFamily="18" charset="0"/>
                                      </a:rPr>
                                    </m:ctrlPr>
                                  </m:sSupPr>
                                  <m:e>
                                    <m:sSub>
                                      <m:sSubPr>
                                        <m:ctrlPr>
                                          <a:rPr lang="en-NL" i="1">
                                            <a:latin typeface="Cambria Math" panose="02040503050406030204" pitchFamily="18" charset="0"/>
                                          </a:rPr>
                                        </m:ctrlPr>
                                      </m:sSubPr>
                                      <m:e>
                                        <m:r>
                                          <a:rPr lang="en-US" b="0" i="1" smtClean="0">
                                            <a:latin typeface="Cambria Math" panose="02040503050406030204" pitchFamily="18" charset="0"/>
                                          </a:rPr>
                                          <m:t>−</m:t>
                                        </m:r>
                                        <m:r>
                                          <a:rPr lang="en-NL" i="1">
                                            <a:latin typeface="Cambria Math" panose="02040503050406030204" pitchFamily="18" charset="0"/>
                                          </a:rPr>
                                          <m:t>𝑊</m:t>
                                        </m:r>
                                      </m:e>
                                      <m:sub>
                                        <m:r>
                                          <a:rPr lang="en-US" i="1">
                                            <a:latin typeface="Cambria Math" panose="02040503050406030204" pitchFamily="18" charset="0"/>
                                          </a:rPr>
                                          <m:t>𝑓</m:t>
                                        </m:r>
                                      </m:sub>
                                    </m:sSub>
                                  </m:e>
                                  <m:sup>
                                    <m:f>
                                      <m:fPr>
                                        <m:ctrlPr>
                                          <a:rPr lang="en-NL"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up>
                                </m:sSup>
                                <m:sSup>
                                  <m:sSupPr>
                                    <m:ctrlPr>
                                      <a:rPr lang="en-NL" i="1">
                                        <a:latin typeface="Cambria Math" panose="02040503050406030204" pitchFamily="18" charset="0"/>
                                      </a:rPr>
                                    </m:ctrlPr>
                                  </m:sSupPr>
                                  <m:e>
                                    <m:r>
                                      <a:rPr lang="en-NL" i="1">
                                        <a:latin typeface="Cambria Math" panose="02040503050406030204" pitchFamily="18" charset="0"/>
                                      </a:rPr>
                                      <m:t>𝜓</m:t>
                                    </m:r>
                                  </m:e>
                                  <m:sup>
                                    <m:r>
                                      <a:rPr lang="en-US" i="1">
                                        <a:latin typeface="Cambria Math" panose="02040503050406030204" pitchFamily="18" charset="0"/>
                                      </a:rPr>
                                      <m:t>𝑓𝑓</m:t>
                                    </m:r>
                                  </m:sup>
                                </m:sSup>
                              </m:e>
                            </m:mr>
                            <m:mr>
                              <m:e>
                                <m:r>
                                  <a:rPr lang="en-NL" i="0">
                                    <a:latin typeface="Cambria Math" panose="02040503050406030204" pitchFamily="18" charset="0"/>
                                  </a:rPr>
                                  <m:t>0</m:t>
                                </m:r>
                              </m:e>
                              <m:e>
                                <m:sSup>
                                  <m:sSupPr>
                                    <m:ctrlPr>
                                      <a:rPr lang="en-NL" i="1">
                                        <a:latin typeface="Cambria Math" panose="02040503050406030204" pitchFamily="18" charset="0"/>
                                      </a:rPr>
                                    </m:ctrlPr>
                                  </m:sSupPr>
                                  <m:e>
                                    <m:sSub>
                                      <m:sSubPr>
                                        <m:ctrlPr>
                                          <a:rPr lang="en-NL" i="1">
                                            <a:latin typeface="Cambria Math" panose="02040503050406030204" pitchFamily="18" charset="0"/>
                                          </a:rPr>
                                        </m:ctrlPr>
                                      </m:sSubPr>
                                      <m:e>
                                        <m:r>
                                          <a:rPr lang="en-US" i="1">
                                            <a:latin typeface="Cambria Math" panose="02040503050406030204" pitchFamily="18" charset="0"/>
                                          </a:rPr>
                                          <m:t>−</m:t>
                                        </m:r>
                                        <m:r>
                                          <a:rPr lang="en-NL" i="1">
                                            <a:latin typeface="Cambria Math" panose="02040503050406030204" pitchFamily="18" charset="0"/>
                                          </a:rPr>
                                          <m:t>𝑊</m:t>
                                        </m:r>
                                      </m:e>
                                      <m:sub>
                                        <m:r>
                                          <m:rPr>
                                            <m:sty m:val="p"/>
                                          </m:rPr>
                                          <a:rPr lang="el-GR" i="1" smtClean="0">
                                            <a:latin typeface="Cambria Math" panose="02040503050406030204" pitchFamily="18" charset="0"/>
                                            <a:ea typeface="Cambria Math" panose="02040503050406030204" pitchFamily="18" charset="0"/>
                                          </a:rPr>
                                          <m:t>Δ</m:t>
                                        </m:r>
                                        <m:r>
                                          <a:rPr lang="en-US" i="1">
                                            <a:latin typeface="Cambria Math" panose="02040503050406030204" pitchFamily="18" charset="0"/>
                                          </a:rPr>
                                          <m:t>𝑓</m:t>
                                        </m:r>
                                      </m:sub>
                                    </m:sSub>
                                  </m:e>
                                  <m:sup>
                                    <m:f>
                                      <m:fPr>
                                        <m:ctrlPr>
                                          <a:rPr lang="en-NL"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up>
                                </m:sSup>
                                <m:sSup>
                                  <m:sSupPr>
                                    <m:ctrlPr>
                                      <a:rPr lang="en-NL" i="1">
                                        <a:latin typeface="Cambria Math" panose="02040503050406030204" pitchFamily="18" charset="0"/>
                                      </a:rPr>
                                    </m:ctrlPr>
                                  </m:sSupPr>
                                  <m:e>
                                    <m:r>
                                      <a:rPr lang="en-NL" i="1">
                                        <a:latin typeface="Cambria Math" panose="02040503050406030204" pitchFamily="18" charset="0"/>
                                      </a:rPr>
                                      <m:t>𝜓</m:t>
                                    </m:r>
                                  </m:e>
                                  <m:sup>
                                    <m:r>
                                      <a:rPr lang="en-US" i="1">
                                        <a:latin typeface="Cambria Math" panose="02040503050406030204" pitchFamily="18" charset="0"/>
                                      </a:rPr>
                                      <m:t>𝑓𝑓</m:t>
                                    </m:r>
                                  </m:sup>
                                </m:sSup>
                              </m:e>
                            </m:mr>
                          </m:m>
                        </m:e>
                      </m:d>
                    </m:oMath>
                  </m:oMathPara>
                </a14:m>
                <a:endParaRPr lang="en-NL"/>
              </a:p>
            </p:txBody>
          </p:sp>
        </mc:Choice>
        <mc:Fallback xmlns="">
          <p:sp>
            <p:nvSpPr>
              <p:cNvPr id="20" name="TextBox 19">
                <a:extLst>
                  <a:ext uri="{FF2B5EF4-FFF2-40B4-BE49-F238E27FC236}">
                    <a16:creationId xmlns:a16="http://schemas.microsoft.com/office/drawing/2014/main" id="{D8A7D805-2241-3DC7-0C54-EBE6C9BF0374}"/>
                  </a:ext>
                </a:extLst>
              </p:cNvPr>
              <p:cNvSpPr txBox="1">
                <a:spLocks noRot="1" noChangeAspect="1" noMove="1" noResize="1" noEditPoints="1" noAdjustHandles="1" noChangeArrowheads="1" noChangeShapeType="1" noTextEdit="1"/>
              </p:cNvSpPr>
              <p:nvPr/>
            </p:nvSpPr>
            <p:spPr>
              <a:xfrm>
                <a:off x="6551436" y="929084"/>
                <a:ext cx="2228752" cy="1708288"/>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07699194-9009-8EC5-4678-348397E17DFB}"/>
                  </a:ext>
                </a:extLst>
              </p14:cNvPr>
              <p14:cNvContentPartPr/>
              <p14:nvPr/>
            </p14:nvContentPartPr>
            <p14:xfrm>
              <a:off x="3946796" y="1721313"/>
              <a:ext cx="720" cy="292680"/>
            </p14:xfrm>
          </p:contentPart>
        </mc:Choice>
        <mc:Fallback xmlns="">
          <p:pic>
            <p:nvPicPr>
              <p:cNvPr id="21" name="Ink 20">
                <a:extLst>
                  <a:ext uri="{FF2B5EF4-FFF2-40B4-BE49-F238E27FC236}">
                    <a16:creationId xmlns:a16="http://schemas.microsoft.com/office/drawing/2014/main" id="{07699194-9009-8EC5-4678-348397E17DFB}"/>
                  </a:ext>
                </a:extLst>
              </p:cNvPr>
              <p:cNvPicPr/>
              <p:nvPr/>
            </p:nvPicPr>
            <p:blipFill>
              <a:blip r:embed="rId14"/>
              <a:stretch>
                <a:fillRect/>
              </a:stretch>
            </p:blipFill>
            <p:spPr>
              <a:xfrm>
                <a:off x="3928796" y="1712324"/>
                <a:ext cx="36000" cy="310298"/>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2" name="Ink 21">
                <a:extLst>
                  <a:ext uri="{FF2B5EF4-FFF2-40B4-BE49-F238E27FC236}">
                    <a16:creationId xmlns:a16="http://schemas.microsoft.com/office/drawing/2014/main" id="{24BF8B3F-7411-0E6A-E613-5BAF95C02D17}"/>
                  </a:ext>
                </a:extLst>
              </p14:cNvPr>
              <p14:cNvContentPartPr/>
              <p14:nvPr/>
            </p14:nvContentPartPr>
            <p14:xfrm>
              <a:off x="3894596" y="1940913"/>
              <a:ext cx="91800" cy="74520"/>
            </p14:xfrm>
          </p:contentPart>
        </mc:Choice>
        <mc:Fallback xmlns="">
          <p:pic>
            <p:nvPicPr>
              <p:cNvPr id="22" name="Ink 21">
                <a:extLst>
                  <a:ext uri="{FF2B5EF4-FFF2-40B4-BE49-F238E27FC236}">
                    <a16:creationId xmlns:a16="http://schemas.microsoft.com/office/drawing/2014/main" id="{24BF8B3F-7411-0E6A-E613-5BAF95C02D17}"/>
                  </a:ext>
                </a:extLst>
              </p:cNvPr>
              <p:cNvPicPr/>
              <p:nvPr/>
            </p:nvPicPr>
            <p:blipFill>
              <a:blip r:embed="rId16"/>
              <a:stretch>
                <a:fillRect/>
              </a:stretch>
            </p:blipFill>
            <p:spPr>
              <a:xfrm>
                <a:off x="3885561" y="1931913"/>
                <a:ext cx="109509" cy="92160"/>
              </a:xfrm>
              <a:prstGeom prst="rect">
                <a:avLst/>
              </a:prstGeom>
            </p:spPr>
          </p:pic>
        </mc:Fallback>
      </mc:AlternateContent>
    </p:spTree>
    <p:extLst>
      <p:ext uri="{BB962C8B-B14F-4D97-AF65-F5344CB8AC3E}">
        <p14:creationId xmlns:p14="http://schemas.microsoft.com/office/powerpoint/2010/main" val="6595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1264D-B21F-925C-FC32-C6AE8D0EC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278D8-3227-F654-DD1A-5A82C68AD8EF}"/>
              </a:ext>
            </a:extLst>
          </p:cNvPr>
          <p:cNvSpPr>
            <a:spLocks noGrp="1"/>
          </p:cNvSpPr>
          <p:nvPr>
            <p:ph type="title"/>
          </p:nvPr>
        </p:nvSpPr>
        <p:spPr/>
        <p:txBody>
          <a:bodyPr/>
          <a:lstStyle/>
          <a:p>
            <a:r>
              <a:rPr lang="en-US"/>
              <a:t>Optimizing – Sequential update</a:t>
            </a:r>
            <a:endParaRPr lang="en-NL"/>
          </a:p>
        </p:txBody>
      </p:sp>
      <p:sp>
        <p:nvSpPr>
          <p:cNvPr id="4" name="Footer Placeholder 3">
            <a:extLst>
              <a:ext uri="{FF2B5EF4-FFF2-40B4-BE49-F238E27FC236}">
                <a16:creationId xmlns:a16="http://schemas.microsoft.com/office/drawing/2014/main" id="{52EC37A6-F783-84D4-F4E3-ADBE37BC852A}"/>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DE1BC846-0846-E3B0-A626-AC6474B7BB85}"/>
              </a:ext>
            </a:extLst>
          </p:cNvPr>
          <p:cNvSpPr>
            <a:spLocks noGrp="1"/>
          </p:cNvSpPr>
          <p:nvPr>
            <p:ph type="sldNum" sz="quarter" idx="12"/>
          </p:nvPr>
        </p:nvSpPr>
        <p:spPr/>
        <p:txBody>
          <a:bodyPr/>
          <a:lstStyle/>
          <a:p>
            <a:fld id="{C194BDB0-F4EA-4DD6-8281-CCE2440D0CE0}" type="slidenum">
              <a:rPr lang="en-GB" smtClean="0"/>
              <a:t>10</a:t>
            </a:fld>
            <a:endParaRPr lang="en-GB"/>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C410844D-EAE3-00FA-A053-659DD957E073}"/>
                  </a:ext>
                </a:extLst>
              </p14:cNvPr>
              <p14:cNvContentPartPr/>
              <p14:nvPr/>
            </p14:nvContentPartPr>
            <p14:xfrm>
              <a:off x="2362757" y="2896925"/>
              <a:ext cx="26280" cy="10440"/>
            </p14:xfrm>
          </p:contentPart>
        </mc:Choice>
        <mc:Fallback xmlns="">
          <p:pic>
            <p:nvPicPr>
              <p:cNvPr id="7" name="Ink 6">
                <a:extLst>
                  <a:ext uri="{FF2B5EF4-FFF2-40B4-BE49-F238E27FC236}">
                    <a16:creationId xmlns:a16="http://schemas.microsoft.com/office/drawing/2014/main" id="{C410844D-EAE3-00FA-A053-659DD957E073}"/>
                  </a:ext>
                </a:extLst>
              </p:cNvPr>
              <p:cNvPicPr/>
              <p:nvPr/>
            </p:nvPicPr>
            <p:blipFill>
              <a:blip r:embed="rId3"/>
              <a:stretch>
                <a:fillRect/>
              </a:stretch>
            </p:blipFill>
            <p:spPr>
              <a:xfrm>
                <a:off x="2353757" y="2887925"/>
                <a:ext cx="43920" cy="28080"/>
              </a:xfrm>
              <a:prstGeom prst="rect">
                <a:avLst/>
              </a:prstGeom>
            </p:spPr>
          </p:pic>
        </mc:Fallback>
      </mc:AlternateContent>
      <p:sp>
        <p:nvSpPr>
          <p:cNvPr id="3" name="TextBox 2">
            <a:extLst>
              <a:ext uri="{FF2B5EF4-FFF2-40B4-BE49-F238E27FC236}">
                <a16:creationId xmlns:a16="http://schemas.microsoft.com/office/drawing/2014/main" id="{CCE44C96-7666-1435-1868-BFB51AA0803C}"/>
              </a:ext>
            </a:extLst>
          </p:cNvPr>
          <p:cNvSpPr txBox="1"/>
          <p:nvPr/>
        </p:nvSpPr>
        <p:spPr>
          <a:xfrm>
            <a:off x="849745" y="1348509"/>
            <a:ext cx="7556500" cy="92333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Sequential updates</a:t>
            </a:r>
          </a:p>
          <a:p>
            <a:pPr marL="285750" indent="-285750">
              <a:buFont typeface="Arial" panose="020B0604020202020204" pitchFamily="34" charset="0"/>
              <a:buChar char="•"/>
            </a:pPr>
            <a:r>
              <a:rPr lang="en-US"/>
              <a:t>SISO implementation</a:t>
            </a:r>
          </a:p>
          <a:p>
            <a:endParaRPr lang="en-US">
              <a:ea typeface="Calibri"/>
              <a:cs typeface="Calibri"/>
            </a:endParaRPr>
          </a:p>
          <a:p>
            <a:pPr marL="285750" indent="-285750">
              <a:buFontTx/>
              <a:buChar char="-"/>
            </a:pPr>
            <a:endParaRPr lang="en-NL"/>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B6C414D-6C97-DFEA-E099-34C0A18E591B}"/>
                  </a:ext>
                </a:extLst>
              </p:cNvPr>
              <p:cNvSpPr txBox="1"/>
              <p:nvPr/>
            </p:nvSpPr>
            <p:spPr>
              <a:xfrm>
                <a:off x="3333750" y="1202870"/>
                <a:ext cx="4900050" cy="46102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ea typeface="Cambria Math" panose="02040503050406030204" pitchFamily="18" charset="0"/>
                        </a:rPr>
                        <m:t>𝐽</m:t>
                      </m:r>
                      <m:d>
                        <m:dPr>
                          <m:ctrlPr>
                            <a:rPr lang="en-US" sz="1600" b="0" i="1" smtClean="0">
                              <a:latin typeface="Cambria Math" panose="02040503050406030204" pitchFamily="18" charset="0"/>
                              <a:ea typeface="Cambria Math" panose="02040503050406030204" pitchFamily="18" charset="0"/>
                            </a:rPr>
                          </m:ctrlPr>
                        </m:dPr>
                        <m:e>
                          <m:sSub>
                            <m:sSubPr>
                              <m:ctrlPr>
                                <a:rPr lang="en-NL" sz="1600" i="1">
                                  <a:latin typeface="Cambria Math" panose="02040503050406030204" pitchFamily="18" charset="0"/>
                                </a:rPr>
                              </m:ctrlPr>
                            </m:sSubPr>
                            <m:e>
                              <m:r>
                                <a:rPr lang="en-NL" sz="1600" i="1">
                                  <a:latin typeface="Cambria Math" panose="02040503050406030204" pitchFamily="18" charset="0"/>
                                </a:rPr>
                                <m:t>𝜃</m:t>
                              </m:r>
                            </m:e>
                            <m:sub>
                              <m:r>
                                <m:rPr>
                                  <m:sty m:val="p"/>
                                </m:rPr>
                                <a:rPr lang="en-NL" sz="1600">
                                  <a:latin typeface="Cambria Math" panose="02040503050406030204" pitchFamily="18" charset="0"/>
                                </a:rPr>
                                <m:t>Δ</m:t>
                              </m:r>
                              <m:r>
                                <a:rPr lang="en-US" sz="1600" i="1">
                                  <a:latin typeface="Cambria Math" panose="02040503050406030204" pitchFamily="18" charset="0"/>
                                </a:rPr>
                                <m:t>,</m:t>
                              </m:r>
                              <m:r>
                                <a:rPr lang="en-US" sz="1600" i="1">
                                  <a:latin typeface="Cambria Math" panose="02040503050406030204" pitchFamily="18" charset="0"/>
                                </a:rPr>
                                <m:t>𝑥𝑥</m:t>
                              </m:r>
                            </m:sub>
                          </m:sSub>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𝜃</m:t>
                              </m:r>
                            </m:e>
                            <m: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r>
                                <a:rPr lang="en-US" sz="1600" i="1">
                                  <a:latin typeface="Cambria Math" panose="02040503050406030204" pitchFamily="18" charset="0"/>
                                  <a:ea typeface="Cambria Math" panose="02040503050406030204" pitchFamily="18" charset="0"/>
                                </a:rPr>
                                <m:t>𝜑</m:t>
                              </m:r>
                            </m:sub>
                          </m:sSub>
                        </m:e>
                      </m:d>
                      <m:r>
                        <a:rPr lang="en-US" sz="1600" b="0" i="1" smtClean="0">
                          <a:latin typeface="Cambria Math" panose="02040503050406030204" pitchFamily="18" charset="0"/>
                          <a:ea typeface="Cambria Math" panose="02040503050406030204" pitchFamily="18" charset="0"/>
                        </a:rPr>
                        <m:t>=</m:t>
                      </m:r>
                      <m:f>
                        <m:fPr>
                          <m:ctrlPr>
                            <a:rPr lang="en-NL" sz="1600" i="1" smtClean="0">
                              <a:latin typeface="Cambria Math" panose="02040503050406030204" pitchFamily="18" charset="0"/>
                            </a:rPr>
                          </m:ctrlPr>
                        </m:fPr>
                        <m:num>
                          <m:r>
                            <a:rPr lang="en-NL" sz="1600">
                              <a:latin typeface="Cambria Math" panose="02040503050406030204" pitchFamily="18" charset="0"/>
                            </a:rPr>
                            <m:t>1</m:t>
                          </m:r>
                        </m:num>
                        <m:den>
                          <m:r>
                            <a:rPr lang="en-NL" sz="1600" i="0">
                              <a:latin typeface="Cambria Math" panose="02040503050406030204" pitchFamily="18" charset="0"/>
                            </a:rPr>
                            <m:t>2</m:t>
                          </m:r>
                        </m:den>
                      </m:f>
                      <m:sSubSup>
                        <m:sSubSupPr>
                          <m:ctrlPr>
                            <a:rPr lang="en-NL" sz="1600" i="1">
                              <a:latin typeface="Cambria Math" panose="02040503050406030204" pitchFamily="18" charset="0"/>
                            </a:rPr>
                          </m:ctrlPr>
                        </m:sSubSupPr>
                        <m:e>
                          <m:d>
                            <m:dPr>
                              <m:begChr m:val="‖"/>
                              <m:endChr m:val="‖"/>
                              <m:ctrlPr>
                                <a:rPr lang="en-NL" sz="1600" i="1">
                                  <a:latin typeface="Cambria Math" panose="02040503050406030204" pitchFamily="18" charset="0"/>
                                </a:rPr>
                              </m:ctrlPr>
                            </m:dPr>
                            <m:e>
                              <m:r>
                                <a:rPr lang="en-NL" sz="1600" i="1">
                                  <a:latin typeface="Cambria Math" panose="02040503050406030204" pitchFamily="18" charset="0"/>
                                </a:rPr>
                                <m:t>𝑌</m:t>
                              </m:r>
                              <m:r>
                                <a:rPr lang="en-NL" sz="1600" i="0">
                                  <a:latin typeface="Cambria Math" panose="02040503050406030204" pitchFamily="18" charset="0"/>
                                </a:rPr>
                                <m:t>−</m:t>
                              </m:r>
                              <m:sSub>
                                <m:sSubPr>
                                  <m:ctrlPr>
                                    <a:rPr lang="en-US" sz="1600" b="0" i="1" smtClean="0">
                                      <a:latin typeface="Cambria Math" panose="02040503050406030204" pitchFamily="18" charset="0"/>
                                    </a:rPr>
                                  </m:ctrlPr>
                                </m:sSubPr>
                                <m:e>
                                  <m:r>
                                    <a:rPr lang="en-NL" sz="1600" i="1">
                                      <a:latin typeface="Cambria Math" panose="02040503050406030204" pitchFamily="18" charset="0"/>
                                    </a:rPr>
                                    <m:t>𝑋</m:t>
                                  </m:r>
                                </m:e>
                                <m:sub>
                                  <m:r>
                                    <a:rPr lang="en-US" sz="1600" b="0" i="1" smtClean="0">
                                      <a:latin typeface="Cambria Math" panose="02040503050406030204" pitchFamily="18" charset="0"/>
                                    </a:rPr>
                                    <m:t>𝑥𝑥</m:t>
                                  </m:r>
                                </m:sub>
                              </m:sSub>
                              <m:sSub>
                                <m:sSubPr>
                                  <m:ctrlPr>
                                    <a:rPr lang="en-NL" sz="1600" i="1">
                                      <a:latin typeface="Cambria Math" panose="02040503050406030204" pitchFamily="18" charset="0"/>
                                    </a:rPr>
                                  </m:ctrlPr>
                                </m:sSubPr>
                                <m:e>
                                  <m:r>
                                    <a:rPr lang="en-NL" sz="1600" i="1">
                                      <a:latin typeface="Cambria Math" panose="02040503050406030204" pitchFamily="18" charset="0"/>
                                    </a:rPr>
                                    <m:t>𝜃</m:t>
                                  </m:r>
                                </m:e>
                                <m:sub>
                                  <m:r>
                                    <m:rPr>
                                      <m:sty m:val="p"/>
                                    </m:rPr>
                                    <a:rPr lang="en-NL" sz="1600" i="0">
                                      <a:latin typeface="Cambria Math" panose="02040503050406030204" pitchFamily="18" charset="0"/>
                                    </a:rPr>
                                    <m:t>Δ</m:t>
                                  </m:r>
                                  <m:r>
                                    <a:rPr lang="en-US" sz="1600" b="0" i="1" smtClean="0">
                                      <a:latin typeface="Cambria Math" panose="02040503050406030204" pitchFamily="18" charset="0"/>
                                    </a:rPr>
                                    <m:t>,</m:t>
                                  </m:r>
                                  <m:r>
                                    <a:rPr lang="en-US" sz="1600" b="0" i="1" smtClean="0">
                                      <a:latin typeface="Cambria Math" panose="02040503050406030204" pitchFamily="18" charset="0"/>
                                    </a:rPr>
                                    <m:t>𝑥𝑥</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𝑋</m:t>
                                  </m:r>
                                </m:e>
                                <m:sub>
                                  <m:r>
                                    <a:rPr lang="en-US" sz="1600" b="0" i="1" smtClean="0">
                                      <a:latin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𝜑</m:t>
                                  </m:r>
                                </m:sub>
                              </m:sSub>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𝜃</m:t>
                                  </m:r>
                                </m:e>
                                <m: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𝜑</m:t>
                                  </m:r>
                                </m:sub>
                              </m:sSub>
                            </m:e>
                          </m:d>
                        </m:e>
                        <m:sub>
                          <m:r>
                            <a:rPr lang="en-NL" sz="1600" i="0">
                              <a:latin typeface="Cambria Math" panose="02040503050406030204" pitchFamily="18" charset="0"/>
                            </a:rPr>
                            <m:t>2</m:t>
                          </m:r>
                        </m:sub>
                        <m:sup>
                          <m:r>
                            <a:rPr lang="en-NL" sz="1600" i="0">
                              <a:latin typeface="Cambria Math" panose="02040503050406030204" pitchFamily="18" charset="0"/>
                            </a:rPr>
                            <m:t>2</m:t>
                          </m:r>
                        </m:sup>
                      </m:sSubSup>
                    </m:oMath>
                  </m:oMathPara>
                </a14:m>
                <a:endParaRPr lang="en-NL"/>
              </a:p>
            </p:txBody>
          </p:sp>
        </mc:Choice>
        <mc:Fallback xmlns="">
          <p:sp>
            <p:nvSpPr>
              <p:cNvPr id="9" name="TextBox 8">
                <a:extLst>
                  <a:ext uri="{FF2B5EF4-FFF2-40B4-BE49-F238E27FC236}">
                    <a16:creationId xmlns:a16="http://schemas.microsoft.com/office/drawing/2014/main" id="{6B6C414D-6C97-DFEA-E099-34C0A18E591B}"/>
                  </a:ext>
                </a:extLst>
              </p:cNvPr>
              <p:cNvSpPr txBox="1">
                <a:spLocks noRot="1" noChangeAspect="1" noMove="1" noResize="1" noEditPoints="1" noAdjustHandles="1" noChangeArrowheads="1" noChangeShapeType="1" noTextEdit="1"/>
              </p:cNvSpPr>
              <p:nvPr/>
            </p:nvSpPr>
            <p:spPr>
              <a:xfrm>
                <a:off x="3333750" y="1202870"/>
                <a:ext cx="4900050" cy="46102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24ABD4D-1AA1-A1B0-5FE4-ADE908A29502}"/>
                  </a:ext>
                </a:extLst>
              </p:cNvPr>
              <p:cNvSpPr txBox="1"/>
              <p:nvPr/>
            </p:nvSpPr>
            <p:spPr>
              <a:xfrm>
                <a:off x="4460240" y="2121178"/>
                <a:ext cx="2322302" cy="4473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acc>
                            <m:accPr>
                              <m:chr m:val="̂"/>
                              <m:ctrlPr>
                                <a:rPr lang="en-NL" i="1" smtClean="0">
                                  <a:latin typeface="Cambria Math" panose="02040503050406030204" pitchFamily="18" charset="0"/>
                                </a:rPr>
                              </m:ctrlPr>
                            </m:accPr>
                            <m:e>
                              <m:r>
                                <a:rPr lang="en-NL" i="1" smtClean="0">
                                  <a:latin typeface="Cambria Math" panose="02040503050406030204" pitchFamily="18" charset="0"/>
                                  <a:ea typeface="Cambria Math" panose="02040503050406030204" pitchFamily="18" charset="0"/>
                                </a:rPr>
                                <m:t>𝜃</m:t>
                              </m:r>
                            </m:e>
                          </m:acc>
                        </m:e>
                        <m:sub>
                          <m:r>
                            <a:rPr lang="en-NL"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𝑥𝑥</m:t>
                          </m:r>
                        </m:sub>
                        <m:sup>
                          <m:r>
                            <a:rPr lang="en-US" b="0" i="1" smtClean="0">
                              <a:latin typeface="Cambria Math" panose="02040503050406030204" pitchFamily="18" charset="0"/>
                            </a:rPr>
                            <m:t>𝑗</m:t>
                          </m:r>
                          <m:r>
                            <a:rPr lang="en-US" b="0" i="1" smtClean="0">
                              <a:latin typeface="Cambria Math" panose="02040503050406030204" pitchFamily="18" charset="0"/>
                            </a:rPr>
                            <m:t>+1</m:t>
                          </m:r>
                        </m:sup>
                      </m:sSubSup>
                      <m:r>
                        <a:rPr lang="en-US" b="0" i="1" smtClean="0">
                          <a:latin typeface="Cambria Math" panose="02040503050406030204" pitchFamily="18" charset="0"/>
                        </a:rPr>
                        <m:t>=</m:t>
                      </m:r>
                      <m:r>
                        <m:rPr>
                          <m:sty m:val="p"/>
                        </m:rPr>
                        <a:rPr lang="en-US" b="0" i="0" smtClean="0">
                          <a:latin typeface="Cambria Math" panose="02040503050406030204" pitchFamily="18" charset="0"/>
                        </a:rPr>
                        <m:t>arg</m:t>
                      </m:r>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r>
                            <a:rPr lang="en-US" b="0" i="0" smtClean="0">
                              <a:latin typeface="Cambria Math" panose="02040503050406030204" pitchFamily="18" charset="0"/>
                            </a:rPr>
                            <m:t>  </m:t>
                          </m:r>
                        </m:e>
                        <m:lim>
                          <m:sSubSup>
                            <m:sSubSupPr>
                              <m:ctrlPr>
                                <a:rPr lang="en-US" sz="1400" b="0" i="1" smtClean="0">
                                  <a:latin typeface="Cambria Math" panose="02040503050406030204" pitchFamily="18" charset="0"/>
                                </a:rPr>
                              </m:ctrlPr>
                            </m:sSubSupPr>
                            <m:e>
                              <m:r>
                                <a:rPr lang="en-NL" sz="1400" i="1">
                                  <a:latin typeface="Cambria Math" panose="02040503050406030204" pitchFamily="18" charset="0"/>
                                </a:rPr>
                                <m:t>𝜃</m:t>
                              </m:r>
                            </m:e>
                            <m:sub>
                              <m:r>
                                <m:rPr>
                                  <m:sty m:val="p"/>
                                </m:rPr>
                                <a:rPr lang="en-NL" sz="1400">
                                  <a:latin typeface="Cambria Math" panose="02040503050406030204" pitchFamily="18" charset="0"/>
                                </a:rPr>
                                <m:t>Δ</m:t>
                              </m:r>
                              <m:r>
                                <a:rPr lang="en-US" sz="1400" i="1">
                                  <a:latin typeface="Cambria Math" panose="02040503050406030204" pitchFamily="18" charset="0"/>
                                </a:rPr>
                                <m:t>,</m:t>
                              </m:r>
                              <m:r>
                                <a:rPr lang="en-US" sz="1400" i="1">
                                  <a:latin typeface="Cambria Math" panose="02040503050406030204" pitchFamily="18" charset="0"/>
                                </a:rPr>
                                <m:t>𝑥𝑥</m:t>
                              </m:r>
                            </m:sub>
                            <m:sup>
                              <m:r>
                                <a:rPr lang="en-US" sz="1400" b="0" i="1" smtClean="0">
                                  <a:latin typeface="Cambria Math" panose="02040503050406030204" pitchFamily="18" charset="0"/>
                                </a:rPr>
                                <m:t>𝑗</m:t>
                              </m:r>
                              <m:r>
                                <a:rPr lang="en-US" sz="1400" b="0" i="1" smtClean="0">
                                  <a:latin typeface="Cambria Math" panose="02040503050406030204" pitchFamily="18" charset="0"/>
                                </a:rPr>
                                <m:t>+1</m:t>
                              </m:r>
                            </m:sup>
                          </m:sSubSup>
                        </m:lim>
                      </m:limLow>
                      <m:r>
                        <a:rPr lang="en-US" sz="1400" i="1">
                          <a:latin typeface="Cambria Math" panose="02040503050406030204" pitchFamily="18" charset="0"/>
                          <a:ea typeface="Cambria Math" panose="02040503050406030204" pitchFamily="18" charset="0"/>
                        </a:rPr>
                        <m:t>𝐽</m:t>
                      </m:r>
                      <m:d>
                        <m:dPr>
                          <m:ctrlPr>
                            <a:rPr lang="en-US" sz="1400" i="1">
                              <a:latin typeface="Cambria Math" panose="02040503050406030204" pitchFamily="18" charset="0"/>
                              <a:ea typeface="Cambria Math" panose="02040503050406030204" pitchFamily="18" charset="0"/>
                            </a:rPr>
                          </m:ctrlPr>
                        </m:dPr>
                        <m:e>
                          <m:sSubSup>
                            <m:sSubSupPr>
                              <m:ctrlPr>
                                <a:rPr lang="en-US" sz="1400" b="0" i="1" smtClean="0">
                                  <a:latin typeface="Cambria Math" panose="02040503050406030204" pitchFamily="18" charset="0"/>
                                </a:rPr>
                              </m:ctrlPr>
                            </m:sSubSupPr>
                            <m:e>
                              <m:r>
                                <a:rPr lang="en-NL" sz="1400" i="1">
                                  <a:latin typeface="Cambria Math" panose="02040503050406030204" pitchFamily="18" charset="0"/>
                                </a:rPr>
                                <m:t>𝜃</m:t>
                              </m:r>
                            </m:e>
                            <m:sub>
                              <m:r>
                                <m:rPr>
                                  <m:sty m:val="p"/>
                                </m:rPr>
                                <a:rPr lang="en-NL" sz="1400">
                                  <a:latin typeface="Cambria Math" panose="02040503050406030204" pitchFamily="18" charset="0"/>
                                </a:rPr>
                                <m:t>Δ</m:t>
                              </m:r>
                              <m:r>
                                <a:rPr lang="en-US" sz="1400" i="1">
                                  <a:latin typeface="Cambria Math" panose="02040503050406030204" pitchFamily="18" charset="0"/>
                                </a:rPr>
                                <m:t>,</m:t>
                              </m:r>
                              <m:r>
                                <a:rPr lang="en-US" sz="1400" i="1">
                                  <a:latin typeface="Cambria Math" panose="02040503050406030204" pitchFamily="18" charset="0"/>
                                </a:rPr>
                                <m:t>𝑥𝑥</m:t>
                              </m:r>
                            </m:sub>
                            <m:sup>
                              <m:r>
                                <a:rPr lang="en-US" sz="1400" b="0" i="1" smtClean="0">
                                  <a:latin typeface="Cambria Math" panose="02040503050406030204" pitchFamily="18" charset="0"/>
                                </a:rPr>
                                <m:t>𝑗</m:t>
                              </m:r>
                              <m:r>
                                <a:rPr lang="en-US" sz="1400" b="0" i="1" smtClean="0">
                                  <a:latin typeface="Cambria Math" panose="02040503050406030204" pitchFamily="18" charset="0"/>
                                </a:rPr>
                                <m:t>+1</m:t>
                              </m:r>
                            </m:sup>
                          </m:sSubSup>
                          <m:r>
                            <a:rPr lang="en-US" sz="1400" i="1">
                              <a:latin typeface="Cambria Math" panose="02040503050406030204" pitchFamily="18" charset="0"/>
                              <a:ea typeface="Cambria Math" panose="02040503050406030204" pitchFamily="18" charset="0"/>
                            </a:rPr>
                            <m:t>,</m:t>
                          </m:r>
                          <m:sSubSup>
                            <m:sSubSupPr>
                              <m:ctrlPr>
                                <a:rPr lang="en-US" sz="1400" b="0" i="1" smtClean="0">
                                  <a:latin typeface="Cambria Math" panose="02040503050406030204" pitchFamily="18" charset="0"/>
                                  <a:ea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𝜃</m:t>
                              </m:r>
                            </m:e>
                            <m:sub>
                              <m:r>
                                <a:rPr lang="en-US" sz="1400" i="1">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𝑥</m:t>
                              </m:r>
                              <m:r>
                                <a:rPr lang="en-US" sz="1400" i="1">
                                  <a:latin typeface="Cambria Math" panose="02040503050406030204" pitchFamily="18" charset="0"/>
                                  <a:ea typeface="Cambria Math" panose="02040503050406030204" pitchFamily="18" charset="0"/>
                                </a:rPr>
                                <m:t>𝜑</m:t>
                              </m:r>
                            </m:sub>
                            <m:sup>
                              <m:r>
                                <a:rPr lang="en-US" sz="1400" b="0" i="1" smtClean="0">
                                  <a:latin typeface="Cambria Math" panose="02040503050406030204" pitchFamily="18" charset="0"/>
                                  <a:ea typeface="Cambria Math" panose="02040503050406030204" pitchFamily="18" charset="0"/>
                                </a:rPr>
                                <m:t>𝑗</m:t>
                              </m:r>
                            </m:sup>
                          </m:sSubSup>
                        </m:e>
                      </m:d>
                    </m:oMath>
                  </m:oMathPara>
                </a14:m>
                <a:endParaRPr lang="en-NL"/>
              </a:p>
            </p:txBody>
          </p:sp>
        </mc:Choice>
        <mc:Fallback xmlns="">
          <p:sp>
            <p:nvSpPr>
              <p:cNvPr id="10" name="TextBox 9">
                <a:extLst>
                  <a:ext uri="{FF2B5EF4-FFF2-40B4-BE49-F238E27FC236}">
                    <a16:creationId xmlns:a16="http://schemas.microsoft.com/office/drawing/2014/main" id="{824ABD4D-1AA1-A1B0-5FE4-ADE908A29502}"/>
                  </a:ext>
                </a:extLst>
              </p:cNvPr>
              <p:cNvSpPr txBox="1">
                <a:spLocks noRot="1" noChangeAspect="1" noMove="1" noResize="1" noEditPoints="1" noAdjustHandles="1" noChangeArrowheads="1" noChangeShapeType="1" noTextEdit="1"/>
              </p:cNvSpPr>
              <p:nvPr/>
            </p:nvSpPr>
            <p:spPr>
              <a:xfrm>
                <a:off x="4460240" y="2121178"/>
                <a:ext cx="2322302" cy="447302"/>
              </a:xfrm>
              <a:prstGeom prst="rect">
                <a:avLst/>
              </a:prstGeom>
              <a:blipFill>
                <a:blip r:embed="rId5"/>
                <a:stretch>
                  <a:fillRect l="-1312" b="-5479"/>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C6342D6F-FC87-58FD-DEB5-951D8062D31C}"/>
              </a:ext>
            </a:extLst>
          </p:cNvPr>
          <p:cNvCxnSpPr/>
          <p:nvPr/>
        </p:nvCxnSpPr>
        <p:spPr>
          <a:xfrm>
            <a:off x="5501640" y="1722120"/>
            <a:ext cx="0" cy="2958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4" name="Left Brace 13">
            <a:extLst>
              <a:ext uri="{FF2B5EF4-FFF2-40B4-BE49-F238E27FC236}">
                <a16:creationId xmlns:a16="http://schemas.microsoft.com/office/drawing/2014/main" id="{000A0809-D6CB-20FB-3E1F-67757CE7A5BA}"/>
              </a:ext>
            </a:extLst>
          </p:cNvPr>
          <p:cNvSpPr/>
          <p:nvPr/>
        </p:nvSpPr>
        <p:spPr>
          <a:xfrm rot="16200000">
            <a:off x="6369448" y="2345480"/>
            <a:ext cx="191228" cy="420116"/>
          </a:xfrm>
          <a:prstGeom prst="leftBrace">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15" name="TextBox 14">
            <a:extLst>
              <a:ext uri="{FF2B5EF4-FFF2-40B4-BE49-F238E27FC236}">
                <a16:creationId xmlns:a16="http://schemas.microsoft.com/office/drawing/2014/main" id="{99A0827A-A43D-5FD7-1C70-057B9204817A}"/>
              </a:ext>
            </a:extLst>
          </p:cNvPr>
          <p:cNvSpPr txBox="1"/>
          <p:nvPr/>
        </p:nvSpPr>
        <p:spPr>
          <a:xfrm>
            <a:off x="6188255" y="2638730"/>
            <a:ext cx="553613" cy="300082"/>
          </a:xfrm>
          <a:prstGeom prst="rect">
            <a:avLst/>
          </a:prstGeom>
          <a:noFill/>
        </p:spPr>
        <p:txBody>
          <a:bodyPr wrap="none" rtlCol="0">
            <a:spAutoFit/>
          </a:bodyPr>
          <a:lstStyle/>
          <a:p>
            <a:r>
              <a:rPr lang="en-US"/>
              <a:t>Fixed</a:t>
            </a:r>
            <a:endParaRPr lang="en-NL"/>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B91278C-EA0B-2FA9-4530-11FEA8E8BD9F}"/>
                  </a:ext>
                </a:extLst>
              </p:cNvPr>
              <p:cNvSpPr txBox="1"/>
              <p:nvPr/>
            </p:nvSpPr>
            <p:spPr>
              <a:xfrm>
                <a:off x="4460240" y="3101278"/>
                <a:ext cx="2340834" cy="4551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acc>
                            <m:accPr>
                              <m:chr m:val="̂"/>
                              <m:ctrlPr>
                                <a:rPr lang="en-NL" i="1" smtClean="0">
                                  <a:latin typeface="Cambria Math" panose="02040503050406030204" pitchFamily="18" charset="0"/>
                                </a:rPr>
                              </m:ctrlPr>
                            </m:accPr>
                            <m:e>
                              <m:r>
                                <a:rPr lang="en-NL" i="1" smtClean="0">
                                  <a:latin typeface="Cambria Math" panose="02040503050406030204" pitchFamily="18" charset="0"/>
                                  <a:ea typeface="Cambria Math" panose="02040503050406030204" pitchFamily="18" charset="0"/>
                                </a:rPr>
                                <m:t>𝜃</m:t>
                              </m:r>
                            </m:e>
                          </m:acc>
                        </m:e>
                        <m:sub>
                          <m:r>
                            <a:rPr lang="en-NL"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𝜑</m:t>
                          </m:r>
                        </m:sub>
                        <m:sup>
                          <m:r>
                            <a:rPr lang="en-US" b="0" i="1" smtClean="0">
                              <a:latin typeface="Cambria Math" panose="02040503050406030204" pitchFamily="18" charset="0"/>
                            </a:rPr>
                            <m:t>𝑗</m:t>
                          </m:r>
                          <m:r>
                            <a:rPr lang="en-US" b="0" i="1" smtClean="0">
                              <a:latin typeface="Cambria Math" panose="02040503050406030204" pitchFamily="18" charset="0"/>
                            </a:rPr>
                            <m:t>+1</m:t>
                          </m:r>
                        </m:sup>
                      </m:sSubSup>
                      <m:r>
                        <a:rPr lang="en-US" b="0" i="1" smtClean="0">
                          <a:latin typeface="Cambria Math" panose="02040503050406030204" pitchFamily="18" charset="0"/>
                        </a:rPr>
                        <m:t>=</m:t>
                      </m:r>
                      <m:r>
                        <m:rPr>
                          <m:sty m:val="p"/>
                        </m:rPr>
                        <a:rPr lang="en-US" b="0" i="0" smtClean="0">
                          <a:latin typeface="Cambria Math" panose="02040503050406030204" pitchFamily="18" charset="0"/>
                        </a:rPr>
                        <m:t>arg</m:t>
                      </m:r>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r>
                            <a:rPr lang="en-US" b="0" i="0" smtClean="0">
                              <a:latin typeface="Cambria Math" panose="02040503050406030204" pitchFamily="18" charset="0"/>
                            </a:rPr>
                            <m:t>  </m:t>
                          </m:r>
                        </m:e>
                        <m:lim>
                          <m:sSubSup>
                            <m:sSubSupPr>
                              <m:ctrlPr>
                                <a:rPr lang="en-US" sz="1400" b="0" i="1" smtClean="0">
                                  <a:latin typeface="Cambria Math" panose="02040503050406030204" pitchFamily="18" charset="0"/>
                                </a:rPr>
                              </m:ctrlPr>
                            </m:sSubSupPr>
                            <m:e>
                              <m:r>
                                <a:rPr lang="en-NL" sz="1400" i="1">
                                  <a:latin typeface="Cambria Math" panose="02040503050406030204" pitchFamily="18" charset="0"/>
                                </a:rPr>
                                <m:t>𝜃</m:t>
                              </m:r>
                            </m:e>
                            <m:sub>
                              <m:r>
                                <m:rPr>
                                  <m:sty m:val="p"/>
                                </m:rPr>
                                <a:rPr lang="en-NL" sz="1400">
                                  <a:latin typeface="Cambria Math" panose="02040503050406030204" pitchFamily="18" charset="0"/>
                                </a:rPr>
                                <m:t>Δ</m:t>
                              </m:r>
                              <m:r>
                                <a:rPr lang="en-US" sz="1400" i="1">
                                  <a:latin typeface="Cambria Math" panose="02040503050406030204" pitchFamily="18" charset="0"/>
                                </a:rPr>
                                <m:t>,</m:t>
                              </m:r>
                              <m:r>
                                <a:rPr lang="en-US" sz="1400" i="1">
                                  <a:latin typeface="Cambria Math" panose="02040503050406030204" pitchFamily="18" charset="0"/>
                                </a:rPr>
                                <m:t>𝑥</m:t>
                              </m:r>
                              <m:r>
                                <a:rPr lang="en-US" sz="1400" i="1" smtClean="0">
                                  <a:latin typeface="Cambria Math" panose="02040503050406030204" pitchFamily="18" charset="0"/>
                                  <a:ea typeface="Cambria Math" panose="02040503050406030204" pitchFamily="18" charset="0"/>
                                </a:rPr>
                                <m:t>𝜑</m:t>
                              </m:r>
                            </m:sub>
                            <m:sup>
                              <m:r>
                                <a:rPr lang="en-US" sz="1400" b="0" i="1" smtClean="0">
                                  <a:latin typeface="Cambria Math" panose="02040503050406030204" pitchFamily="18" charset="0"/>
                                </a:rPr>
                                <m:t>𝑗</m:t>
                              </m:r>
                              <m:r>
                                <a:rPr lang="en-US" sz="1400" b="0" i="1" smtClean="0">
                                  <a:latin typeface="Cambria Math" panose="02040503050406030204" pitchFamily="18" charset="0"/>
                                </a:rPr>
                                <m:t>+1</m:t>
                              </m:r>
                            </m:sup>
                          </m:sSubSup>
                        </m:lim>
                      </m:limLow>
                      <m:r>
                        <a:rPr lang="en-US" sz="1400" i="1">
                          <a:latin typeface="Cambria Math" panose="02040503050406030204" pitchFamily="18" charset="0"/>
                          <a:ea typeface="Cambria Math" panose="02040503050406030204" pitchFamily="18" charset="0"/>
                        </a:rPr>
                        <m:t>𝐽</m:t>
                      </m:r>
                      <m:d>
                        <m:dPr>
                          <m:ctrlPr>
                            <a:rPr lang="en-US" sz="1400" i="1">
                              <a:latin typeface="Cambria Math" panose="02040503050406030204" pitchFamily="18" charset="0"/>
                              <a:ea typeface="Cambria Math" panose="02040503050406030204" pitchFamily="18" charset="0"/>
                            </a:rPr>
                          </m:ctrlPr>
                        </m:dPr>
                        <m:e>
                          <m:sSubSup>
                            <m:sSubSupPr>
                              <m:ctrlPr>
                                <a:rPr lang="en-US" sz="1400" b="0" i="1" smtClean="0">
                                  <a:latin typeface="Cambria Math" panose="02040503050406030204" pitchFamily="18" charset="0"/>
                                </a:rPr>
                              </m:ctrlPr>
                            </m:sSubSupPr>
                            <m:e>
                              <m:r>
                                <a:rPr lang="en-NL" sz="1400" i="1">
                                  <a:latin typeface="Cambria Math" panose="02040503050406030204" pitchFamily="18" charset="0"/>
                                </a:rPr>
                                <m:t>𝜃</m:t>
                              </m:r>
                            </m:e>
                            <m:sub>
                              <m:r>
                                <m:rPr>
                                  <m:sty m:val="p"/>
                                </m:rPr>
                                <a:rPr lang="en-NL" sz="1400">
                                  <a:latin typeface="Cambria Math" panose="02040503050406030204" pitchFamily="18" charset="0"/>
                                </a:rPr>
                                <m:t>Δ</m:t>
                              </m:r>
                              <m:r>
                                <a:rPr lang="en-US" sz="1400" i="1">
                                  <a:latin typeface="Cambria Math" panose="02040503050406030204" pitchFamily="18" charset="0"/>
                                </a:rPr>
                                <m:t>,</m:t>
                              </m:r>
                              <m:r>
                                <a:rPr lang="en-US" sz="1400" i="1">
                                  <a:latin typeface="Cambria Math" panose="02040503050406030204" pitchFamily="18" charset="0"/>
                                </a:rPr>
                                <m:t>𝑥𝑥</m:t>
                              </m:r>
                            </m:sub>
                            <m:sup>
                              <m:r>
                                <a:rPr lang="en-US" sz="1400" b="0" i="1" smtClean="0">
                                  <a:latin typeface="Cambria Math" panose="02040503050406030204" pitchFamily="18" charset="0"/>
                                </a:rPr>
                                <m:t>𝑗</m:t>
                              </m:r>
                            </m:sup>
                          </m:sSubSup>
                          <m:r>
                            <a:rPr lang="en-US" sz="1400" i="1">
                              <a:latin typeface="Cambria Math" panose="02040503050406030204" pitchFamily="18" charset="0"/>
                              <a:ea typeface="Cambria Math" panose="02040503050406030204" pitchFamily="18" charset="0"/>
                            </a:rPr>
                            <m:t>,</m:t>
                          </m:r>
                          <m:sSubSup>
                            <m:sSubSupPr>
                              <m:ctrlPr>
                                <a:rPr lang="en-US" sz="1400" b="0" i="1" smtClean="0">
                                  <a:latin typeface="Cambria Math" panose="02040503050406030204" pitchFamily="18" charset="0"/>
                                  <a:ea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𝜃</m:t>
                              </m:r>
                            </m:e>
                            <m:sub>
                              <m:r>
                                <a:rPr lang="en-US" sz="1400" i="1">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𝑥</m:t>
                              </m:r>
                              <m:r>
                                <a:rPr lang="en-US" sz="1400" i="1">
                                  <a:latin typeface="Cambria Math" panose="02040503050406030204" pitchFamily="18" charset="0"/>
                                  <a:ea typeface="Cambria Math" panose="02040503050406030204" pitchFamily="18" charset="0"/>
                                </a:rPr>
                                <m:t>𝜑</m:t>
                              </m:r>
                            </m:sub>
                            <m:sup>
                              <m:r>
                                <a:rPr lang="en-US" sz="1400" b="0" i="1" smtClean="0">
                                  <a:latin typeface="Cambria Math" panose="02040503050406030204" pitchFamily="18" charset="0"/>
                                  <a:ea typeface="Cambria Math" panose="02040503050406030204" pitchFamily="18" charset="0"/>
                                </a:rPr>
                                <m:t>𝑗</m:t>
                              </m:r>
                              <m:r>
                                <a:rPr lang="en-US" sz="1400" b="0" i="1" smtClean="0">
                                  <a:latin typeface="Cambria Math" panose="02040503050406030204" pitchFamily="18" charset="0"/>
                                  <a:ea typeface="Cambria Math" panose="02040503050406030204" pitchFamily="18" charset="0"/>
                                </a:rPr>
                                <m:t>+1</m:t>
                              </m:r>
                            </m:sup>
                          </m:sSubSup>
                        </m:e>
                      </m:d>
                    </m:oMath>
                  </m:oMathPara>
                </a14:m>
                <a:endParaRPr lang="en-NL"/>
              </a:p>
            </p:txBody>
          </p:sp>
        </mc:Choice>
        <mc:Fallback xmlns="">
          <p:sp>
            <p:nvSpPr>
              <p:cNvPr id="16" name="TextBox 15">
                <a:extLst>
                  <a:ext uri="{FF2B5EF4-FFF2-40B4-BE49-F238E27FC236}">
                    <a16:creationId xmlns:a16="http://schemas.microsoft.com/office/drawing/2014/main" id="{9B91278C-EA0B-2FA9-4530-11FEA8E8BD9F}"/>
                  </a:ext>
                </a:extLst>
              </p:cNvPr>
              <p:cNvSpPr txBox="1">
                <a:spLocks noRot="1" noChangeAspect="1" noMove="1" noResize="1" noEditPoints="1" noAdjustHandles="1" noChangeArrowheads="1" noChangeShapeType="1" noTextEdit="1"/>
              </p:cNvSpPr>
              <p:nvPr/>
            </p:nvSpPr>
            <p:spPr>
              <a:xfrm>
                <a:off x="4460240" y="3101278"/>
                <a:ext cx="2340834" cy="455125"/>
              </a:xfrm>
              <a:prstGeom prst="rect">
                <a:avLst/>
              </a:prstGeom>
              <a:blipFill>
                <a:blip r:embed="rId6"/>
                <a:stretch>
                  <a:fillRect l="-1302" b="-10811"/>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0B3749CB-D391-D232-6F9C-F6D23D0FEB5B}"/>
              </a:ext>
            </a:extLst>
          </p:cNvPr>
          <p:cNvSpPr txBox="1"/>
          <p:nvPr/>
        </p:nvSpPr>
        <p:spPr>
          <a:xfrm>
            <a:off x="3881120" y="2154302"/>
            <a:ext cx="316112" cy="300082"/>
          </a:xfrm>
          <a:prstGeom prst="rect">
            <a:avLst/>
          </a:prstGeom>
          <a:noFill/>
        </p:spPr>
        <p:txBody>
          <a:bodyPr wrap="none" rtlCol="0">
            <a:spAutoFit/>
          </a:bodyPr>
          <a:lstStyle/>
          <a:p>
            <a:r>
              <a:rPr lang="en-US"/>
              <a:t>1.</a:t>
            </a:r>
            <a:endParaRPr lang="en-NL"/>
          </a:p>
        </p:txBody>
      </p:sp>
      <p:sp>
        <p:nvSpPr>
          <p:cNvPr id="18" name="TextBox 17">
            <a:extLst>
              <a:ext uri="{FF2B5EF4-FFF2-40B4-BE49-F238E27FC236}">
                <a16:creationId xmlns:a16="http://schemas.microsoft.com/office/drawing/2014/main" id="{CA7CA268-6E84-895C-5158-46CE72887AF2}"/>
              </a:ext>
            </a:extLst>
          </p:cNvPr>
          <p:cNvSpPr txBox="1"/>
          <p:nvPr/>
        </p:nvSpPr>
        <p:spPr>
          <a:xfrm>
            <a:off x="3881120" y="3146722"/>
            <a:ext cx="316112" cy="300082"/>
          </a:xfrm>
          <a:prstGeom prst="rect">
            <a:avLst/>
          </a:prstGeom>
          <a:noFill/>
        </p:spPr>
        <p:txBody>
          <a:bodyPr wrap="none" rtlCol="0">
            <a:spAutoFit/>
          </a:bodyPr>
          <a:lstStyle/>
          <a:p>
            <a:r>
              <a:rPr lang="en-US"/>
              <a:t>2.</a:t>
            </a:r>
            <a:endParaRPr lang="en-NL"/>
          </a:p>
        </p:txBody>
      </p:sp>
      <p:sp>
        <p:nvSpPr>
          <p:cNvPr id="19" name="Left Brace 18">
            <a:extLst>
              <a:ext uri="{FF2B5EF4-FFF2-40B4-BE49-F238E27FC236}">
                <a16:creationId xmlns:a16="http://schemas.microsoft.com/office/drawing/2014/main" id="{70CF8272-7851-3B1E-BE5F-611E89D16871}"/>
              </a:ext>
            </a:extLst>
          </p:cNvPr>
          <p:cNvSpPr/>
          <p:nvPr/>
        </p:nvSpPr>
        <p:spPr>
          <a:xfrm rot="16200000">
            <a:off x="5961778" y="3324867"/>
            <a:ext cx="191228" cy="420116"/>
          </a:xfrm>
          <a:prstGeom prst="leftBrace">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20" name="TextBox 19">
            <a:extLst>
              <a:ext uri="{FF2B5EF4-FFF2-40B4-BE49-F238E27FC236}">
                <a16:creationId xmlns:a16="http://schemas.microsoft.com/office/drawing/2014/main" id="{5800B949-9332-C8DA-DD77-6547FE609AA5}"/>
              </a:ext>
            </a:extLst>
          </p:cNvPr>
          <p:cNvSpPr txBox="1"/>
          <p:nvPr/>
        </p:nvSpPr>
        <p:spPr>
          <a:xfrm>
            <a:off x="5780585" y="3618117"/>
            <a:ext cx="553613" cy="300082"/>
          </a:xfrm>
          <a:prstGeom prst="rect">
            <a:avLst/>
          </a:prstGeom>
          <a:noFill/>
        </p:spPr>
        <p:txBody>
          <a:bodyPr wrap="none" rtlCol="0">
            <a:spAutoFit/>
          </a:bodyPr>
          <a:lstStyle/>
          <a:p>
            <a:r>
              <a:rPr lang="en-US"/>
              <a:t>Fixed</a:t>
            </a:r>
            <a:endParaRPr lang="en-NL"/>
          </a:p>
        </p:txBody>
      </p:sp>
      <p:sp>
        <p:nvSpPr>
          <p:cNvPr id="21" name="TextBox 20">
            <a:extLst>
              <a:ext uri="{FF2B5EF4-FFF2-40B4-BE49-F238E27FC236}">
                <a16:creationId xmlns:a16="http://schemas.microsoft.com/office/drawing/2014/main" id="{A5762ED9-33C6-4BD2-AC83-5A5684FD28AF}"/>
              </a:ext>
            </a:extLst>
          </p:cNvPr>
          <p:cNvSpPr txBox="1"/>
          <p:nvPr/>
        </p:nvSpPr>
        <p:spPr>
          <a:xfrm>
            <a:off x="7848600" y="2194788"/>
            <a:ext cx="908326" cy="300082"/>
          </a:xfrm>
          <a:prstGeom prst="rect">
            <a:avLst/>
          </a:prstGeom>
          <a:noFill/>
        </p:spPr>
        <p:txBody>
          <a:bodyPr wrap="none" rtlCol="0">
            <a:spAutoFit/>
          </a:bodyPr>
          <a:lstStyle/>
          <a:p>
            <a:r>
              <a:rPr lang="en-US"/>
              <a:t>Even trials</a:t>
            </a:r>
            <a:endParaRPr lang="en-NL"/>
          </a:p>
        </p:txBody>
      </p:sp>
      <p:sp>
        <p:nvSpPr>
          <p:cNvPr id="22" name="TextBox 21">
            <a:extLst>
              <a:ext uri="{FF2B5EF4-FFF2-40B4-BE49-F238E27FC236}">
                <a16:creationId xmlns:a16="http://schemas.microsoft.com/office/drawing/2014/main" id="{4C94499D-0887-65C7-673E-3D6B83189241}"/>
              </a:ext>
            </a:extLst>
          </p:cNvPr>
          <p:cNvSpPr txBox="1"/>
          <p:nvPr/>
        </p:nvSpPr>
        <p:spPr>
          <a:xfrm>
            <a:off x="7848600" y="3177745"/>
            <a:ext cx="870751" cy="300082"/>
          </a:xfrm>
          <a:prstGeom prst="rect">
            <a:avLst/>
          </a:prstGeom>
          <a:noFill/>
        </p:spPr>
        <p:txBody>
          <a:bodyPr wrap="none" rtlCol="0">
            <a:spAutoFit/>
          </a:bodyPr>
          <a:lstStyle/>
          <a:p>
            <a:r>
              <a:rPr lang="en-US"/>
              <a:t>Odd trials</a:t>
            </a:r>
            <a:endParaRPr lang="en-NL"/>
          </a:p>
        </p:txBody>
      </p:sp>
    </p:spTree>
    <p:extLst>
      <p:ext uri="{BB962C8B-B14F-4D97-AF65-F5344CB8AC3E}">
        <p14:creationId xmlns:p14="http://schemas.microsoft.com/office/powerpoint/2010/main" val="385273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F4844-BF18-2AA4-8B94-C1FE6031189E}"/>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60" name="Ink 59">
                <a:extLst>
                  <a:ext uri="{FF2B5EF4-FFF2-40B4-BE49-F238E27FC236}">
                    <a16:creationId xmlns:a16="http://schemas.microsoft.com/office/drawing/2014/main" id="{4DF4B64E-3695-E507-7CC1-B15339216296}"/>
                  </a:ext>
                </a:extLst>
              </p14:cNvPr>
              <p14:cNvContentPartPr/>
              <p14:nvPr/>
            </p14:nvContentPartPr>
            <p14:xfrm>
              <a:off x="1538753" y="2237590"/>
              <a:ext cx="3663360" cy="1604520"/>
            </p14:xfrm>
          </p:contentPart>
        </mc:Choice>
        <mc:Fallback xmlns="">
          <p:pic>
            <p:nvPicPr>
              <p:cNvPr id="60" name="Ink 59">
                <a:extLst>
                  <a:ext uri="{FF2B5EF4-FFF2-40B4-BE49-F238E27FC236}">
                    <a16:creationId xmlns:a16="http://schemas.microsoft.com/office/drawing/2014/main" id="{4DF4B64E-3695-E507-7CC1-B15339216296}"/>
                  </a:ext>
                </a:extLst>
              </p:cNvPr>
              <p:cNvPicPr/>
              <p:nvPr/>
            </p:nvPicPr>
            <p:blipFill>
              <a:blip r:embed="rId3"/>
              <a:stretch>
                <a:fillRect/>
              </a:stretch>
            </p:blipFill>
            <p:spPr>
              <a:xfrm>
                <a:off x="1524353" y="2223190"/>
                <a:ext cx="3691440" cy="1632600"/>
              </a:xfrm>
              <a:prstGeom prst="rect">
                <a:avLst/>
              </a:prstGeom>
            </p:spPr>
          </p:pic>
        </mc:Fallback>
      </mc:AlternateContent>
      <p:sp>
        <p:nvSpPr>
          <p:cNvPr id="2" name="Title 1">
            <a:extLst>
              <a:ext uri="{FF2B5EF4-FFF2-40B4-BE49-F238E27FC236}">
                <a16:creationId xmlns:a16="http://schemas.microsoft.com/office/drawing/2014/main" id="{57EFD3A9-22FF-0EAB-061C-561A0FFB506D}"/>
              </a:ext>
            </a:extLst>
          </p:cNvPr>
          <p:cNvSpPr>
            <a:spLocks noGrp="1"/>
          </p:cNvSpPr>
          <p:nvPr>
            <p:ph type="title"/>
          </p:nvPr>
        </p:nvSpPr>
        <p:spPr/>
        <p:txBody>
          <a:bodyPr/>
          <a:lstStyle/>
          <a:p>
            <a:r>
              <a:rPr lang="en-US"/>
              <a:t>Optimizing – Sequential update</a:t>
            </a:r>
            <a:endParaRPr lang="en-NL"/>
          </a:p>
        </p:txBody>
      </p:sp>
      <p:sp>
        <p:nvSpPr>
          <p:cNvPr id="4" name="Footer Placeholder 3">
            <a:extLst>
              <a:ext uri="{FF2B5EF4-FFF2-40B4-BE49-F238E27FC236}">
                <a16:creationId xmlns:a16="http://schemas.microsoft.com/office/drawing/2014/main" id="{4B36D6B3-0C76-06A8-B191-898E50B0C267}"/>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D58F25D6-3D36-EA5E-4132-B914284CA37A}"/>
              </a:ext>
            </a:extLst>
          </p:cNvPr>
          <p:cNvSpPr>
            <a:spLocks noGrp="1"/>
          </p:cNvSpPr>
          <p:nvPr>
            <p:ph type="sldNum" sz="quarter" idx="12"/>
          </p:nvPr>
        </p:nvSpPr>
        <p:spPr/>
        <p:txBody>
          <a:bodyPr/>
          <a:lstStyle/>
          <a:p>
            <a:fld id="{C194BDB0-F4EA-4DD6-8281-CCE2440D0CE0}" type="slidenum">
              <a:rPr lang="en-GB" smtClean="0"/>
              <a:t>11</a:t>
            </a:fld>
            <a:endParaRPr lang="en-GB"/>
          </a:p>
        </p:txBody>
      </p:sp>
      <p:sp>
        <p:nvSpPr>
          <p:cNvPr id="3" name="TextBox 2">
            <a:extLst>
              <a:ext uri="{FF2B5EF4-FFF2-40B4-BE49-F238E27FC236}">
                <a16:creationId xmlns:a16="http://schemas.microsoft.com/office/drawing/2014/main" id="{EB1AD101-CC8C-D364-66CC-D5038589DE57}"/>
              </a:ext>
            </a:extLst>
          </p:cNvPr>
          <p:cNvSpPr txBox="1"/>
          <p:nvPr/>
        </p:nvSpPr>
        <p:spPr>
          <a:xfrm>
            <a:off x="849745" y="1348509"/>
            <a:ext cx="7556500" cy="50783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ea typeface="Calibri"/>
                <a:cs typeface="Calibri"/>
              </a:rPr>
              <a:t>Stability</a:t>
            </a:r>
          </a:p>
          <a:p>
            <a:pPr marL="285750" indent="-285750">
              <a:buFontTx/>
              <a:buChar char="-"/>
            </a:pPr>
            <a:endParaRPr lang="en-NL"/>
          </a:p>
        </p:txBody>
      </p:sp>
      <p:cxnSp>
        <p:nvCxnSpPr>
          <p:cNvPr id="8" name="Straight Arrow Connector 7">
            <a:extLst>
              <a:ext uri="{FF2B5EF4-FFF2-40B4-BE49-F238E27FC236}">
                <a16:creationId xmlns:a16="http://schemas.microsoft.com/office/drawing/2014/main" id="{F4A516F1-5553-FFE3-4D70-61A7D0B7C04A}"/>
              </a:ext>
            </a:extLst>
          </p:cNvPr>
          <p:cNvCxnSpPr/>
          <p:nvPr/>
        </p:nvCxnSpPr>
        <p:spPr>
          <a:xfrm flipV="1">
            <a:off x="1400780" y="2064090"/>
            <a:ext cx="0" cy="206929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08C59CE3-5E04-8632-B094-17DFAD1B7765}"/>
              </a:ext>
            </a:extLst>
          </p:cNvPr>
          <p:cNvCxnSpPr>
            <a:cxnSpLocks/>
          </p:cNvCxnSpPr>
          <p:nvPr/>
        </p:nvCxnSpPr>
        <p:spPr>
          <a:xfrm>
            <a:off x="1397620" y="4133385"/>
            <a:ext cx="403302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BE979050-3066-0F9B-5E82-A5AA63401A96}"/>
              </a:ext>
            </a:extLst>
          </p:cNvPr>
          <p:cNvSpPr txBox="1"/>
          <p:nvPr/>
        </p:nvSpPr>
        <p:spPr>
          <a:xfrm>
            <a:off x="907078" y="2948696"/>
            <a:ext cx="492122" cy="300082"/>
          </a:xfrm>
          <a:prstGeom prst="rect">
            <a:avLst/>
          </a:prstGeom>
          <a:noFill/>
        </p:spPr>
        <p:txBody>
          <a:bodyPr wrap="none" rtlCol="0">
            <a:spAutoFit/>
          </a:bodyPr>
          <a:lstStyle/>
          <a:p>
            <a:r>
              <a:rPr lang="en-US"/>
              <a:t>Cost</a:t>
            </a:r>
            <a:endParaRPr lang="en-NL"/>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893B165-A60A-5782-05C6-90D677DDE64D}"/>
                  </a:ext>
                </a:extLst>
              </p:cNvPr>
              <p:cNvSpPr txBox="1"/>
              <p:nvPr/>
            </p:nvSpPr>
            <p:spPr>
              <a:xfrm>
                <a:off x="3157555" y="4247018"/>
                <a:ext cx="513153" cy="2077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𝑡𝑟𝑖𝑎𝑙𝑠</m:t>
                          </m:r>
                        </m:sub>
                      </m:sSub>
                    </m:oMath>
                  </m:oMathPara>
                </a14:m>
                <a:endParaRPr lang="en-NL"/>
              </a:p>
            </p:txBody>
          </p:sp>
        </mc:Choice>
        <mc:Fallback xmlns="">
          <p:sp>
            <p:nvSpPr>
              <p:cNvPr id="14" name="TextBox 13">
                <a:extLst>
                  <a:ext uri="{FF2B5EF4-FFF2-40B4-BE49-F238E27FC236}">
                    <a16:creationId xmlns:a16="http://schemas.microsoft.com/office/drawing/2014/main" id="{0893B165-A60A-5782-05C6-90D677DDE64D}"/>
                  </a:ext>
                </a:extLst>
              </p:cNvPr>
              <p:cNvSpPr txBox="1">
                <a:spLocks noRot="1" noChangeAspect="1" noMove="1" noResize="1" noEditPoints="1" noAdjustHandles="1" noChangeArrowheads="1" noChangeShapeType="1" noTextEdit="1"/>
              </p:cNvSpPr>
              <p:nvPr/>
            </p:nvSpPr>
            <p:spPr>
              <a:xfrm>
                <a:off x="3157555" y="4247018"/>
                <a:ext cx="513153" cy="207749"/>
              </a:xfrm>
              <a:prstGeom prst="rect">
                <a:avLst/>
              </a:prstGeom>
              <a:blipFill>
                <a:blip r:embed="rId4"/>
                <a:stretch>
                  <a:fillRect l="-7143" r="-3571" b="-14706"/>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1AAF45B3-C4E8-3966-1ED6-7C8A120A098E}"/>
              </a:ext>
            </a:extLst>
          </p:cNvPr>
          <p:cNvCxnSpPr>
            <a:cxnSpLocks/>
          </p:cNvCxnSpPr>
          <p:nvPr/>
        </p:nvCxnSpPr>
        <p:spPr>
          <a:xfrm>
            <a:off x="1783204" y="2430193"/>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6405F4F-EBE1-2F1D-B619-E215062594D5}"/>
              </a:ext>
            </a:extLst>
          </p:cNvPr>
          <p:cNvCxnSpPr>
            <a:cxnSpLocks/>
          </p:cNvCxnSpPr>
          <p:nvPr/>
        </p:nvCxnSpPr>
        <p:spPr>
          <a:xfrm flipV="1">
            <a:off x="1777557" y="2430193"/>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1020714-40F6-5245-9EB1-A49D3C9C09EE}"/>
              </a:ext>
            </a:extLst>
          </p:cNvPr>
          <p:cNvCxnSpPr>
            <a:cxnSpLocks/>
          </p:cNvCxnSpPr>
          <p:nvPr/>
        </p:nvCxnSpPr>
        <p:spPr>
          <a:xfrm>
            <a:off x="2174364" y="2195604"/>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2073F14-37D7-3D68-00F5-94DA39C3F347}"/>
              </a:ext>
            </a:extLst>
          </p:cNvPr>
          <p:cNvCxnSpPr>
            <a:cxnSpLocks/>
          </p:cNvCxnSpPr>
          <p:nvPr/>
        </p:nvCxnSpPr>
        <p:spPr>
          <a:xfrm flipV="1">
            <a:off x="2168717" y="2195604"/>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D89EB64-8739-F523-6415-1CF50096E979}"/>
              </a:ext>
            </a:extLst>
          </p:cNvPr>
          <p:cNvCxnSpPr>
            <a:cxnSpLocks/>
          </p:cNvCxnSpPr>
          <p:nvPr/>
        </p:nvCxnSpPr>
        <p:spPr>
          <a:xfrm>
            <a:off x="2509644" y="2880478"/>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EE2D164-2535-B575-8B1B-8C16CA712142}"/>
              </a:ext>
            </a:extLst>
          </p:cNvPr>
          <p:cNvCxnSpPr>
            <a:cxnSpLocks/>
          </p:cNvCxnSpPr>
          <p:nvPr/>
        </p:nvCxnSpPr>
        <p:spPr>
          <a:xfrm flipV="1">
            <a:off x="2503997" y="2880478"/>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930932C-5E38-3E5F-F389-D19F37DD047E}"/>
              </a:ext>
            </a:extLst>
          </p:cNvPr>
          <p:cNvCxnSpPr>
            <a:cxnSpLocks/>
          </p:cNvCxnSpPr>
          <p:nvPr/>
        </p:nvCxnSpPr>
        <p:spPr>
          <a:xfrm>
            <a:off x="2870324" y="2608541"/>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45C055F-CFF3-73AC-955F-1D2660C1F768}"/>
              </a:ext>
            </a:extLst>
          </p:cNvPr>
          <p:cNvCxnSpPr>
            <a:cxnSpLocks/>
          </p:cNvCxnSpPr>
          <p:nvPr/>
        </p:nvCxnSpPr>
        <p:spPr>
          <a:xfrm flipV="1">
            <a:off x="2864677" y="2608541"/>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EC47937-476C-0777-D7DF-C684F1E27C2A}"/>
              </a:ext>
            </a:extLst>
          </p:cNvPr>
          <p:cNvCxnSpPr>
            <a:cxnSpLocks/>
          </p:cNvCxnSpPr>
          <p:nvPr/>
        </p:nvCxnSpPr>
        <p:spPr>
          <a:xfrm>
            <a:off x="3231004" y="3227072"/>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A1F510E-BF10-841B-0856-0A016FFA8824}"/>
              </a:ext>
            </a:extLst>
          </p:cNvPr>
          <p:cNvCxnSpPr>
            <a:cxnSpLocks/>
          </p:cNvCxnSpPr>
          <p:nvPr/>
        </p:nvCxnSpPr>
        <p:spPr>
          <a:xfrm flipV="1">
            <a:off x="3225357" y="3227072"/>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A3A7DC4-6364-191C-E460-9C027F3D957E}"/>
              </a:ext>
            </a:extLst>
          </p:cNvPr>
          <p:cNvCxnSpPr>
            <a:cxnSpLocks/>
          </p:cNvCxnSpPr>
          <p:nvPr/>
        </p:nvCxnSpPr>
        <p:spPr>
          <a:xfrm>
            <a:off x="3601617" y="2516209"/>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DB0CEDD-2DF5-9D26-D33B-9E0753EBE500}"/>
              </a:ext>
            </a:extLst>
          </p:cNvPr>
          <p:cNvCxnSpPr>
            <a:cxnSpLocks/>
          </p:cNvCxnSpPr>
          <p:nvPr/>
        </p:nvCxnSpPr>
        <p:spPr>
          <a:xfrm flipV="1">
            <a:off x="3595970" y="2516209"/>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527D58F-8393-97CC-E768-5709C82E997A}"/>
              </a:ext>
            </a:extLst>
          </p:cNvPr>
          <p:cNvCxnSpPr>
            <a:cxnSpLocks/>
          </p:cNvCxnSpPr>
          <p:nvPr/>
        </p:nvCxnSpPr>
        <p:spPr>
          <a:xfrm>
            <a:off x="3997630" y="3504778"/>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DD9D287-2579-133F-128B-4E45B9C7AA34}"/>
              </a:ext>
            </a:extLst>
          </p:cNvPr>
          <p:cNvCxnSpPr>
            <a:cxnSpLocks/>
          </p:cNvCxnSpPr>
          <p:nvPr/>
        </p:nvCxnSpPr>
        <p:spPr>
          <a:xfrm flipV="1">
            <a:off x="3991983" y="3504778"/>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7DBC78D-F22A-095F-D71C-4CC25811B52E}"/>
              </a:ext>
            </a:extLst>
          </p:cNvPr>
          <p:cNvCxnSpPr>
            <a:cxnSpLocks/>
          </p:cNvCxnSpPr>
          <p:nvPr/>
        </p:nvCxnSpPr>
        <p:spPr>
          <a:xfrm>
            <a:off x="4388563" y="3266156"/>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845EA7E-703F-83FA-45DE-3E7A907059EC}"/>
              </a:ext>
            </a:extLst>
          </p:cNvPr>
          <p:cNvCxnSpPr>
            <a:cxnSpLocks/>
          </p:cNvCxnSpPr>
          <p:nvPr/>
        </p:nvCxnSpPr>
        <p:spPr>
          <a:xfrm flipV="1">
            <a:off x="4382916" y="3266156"/>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5856092-E1CA-3E66-235E-C667E7DC26F9}"/>
              </a:ext>
            </a:extLst>
          </p:cNvPr>
          <p:cNvCxnSpPr>
            <a:cxnSpLocks/>
          </p:cNvCxnSpPr>
          <p:nvPr/>
        </p:nvCxnSpPr>
        <p:spPr>
          <a:xfrm>
            <a:off x="4743936" y="3715365"/>
            <a:ext cx="69091"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6293659-307B-2183-3860-7FBFF927A3F9}"/>
              </a:ext>
            </a:extLst>
          </p:cNvPr>
          <p:cNvCxnSpPr>
            <a:cxnSpLocks/>
          </p:cNvCxnSpPr>
          <p:nvPr/>
        </p:nvCxnSpPr>
        <p:spPr>
          <a:xfrm flipV="1">
            <a:off x="4738289" y="3715365"/>
            <a:ext cx="74738" cy="762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5705099-186B-43AF-1747-3EDFE8E071F5}"/>
              </a:ext>
            </a:extLst>
          </p:cNvPr>
          <p:cNvCxnSpPr>
            <a:cxnSpLocks/>
          </p:cNvCxnSpPr>
          <p:nvPr/>
        </p:nvCxnSpPr>
        <p:spPr>
          <a:xfrm flipV="1">
            <a:off x="1881868" y="2271804"/>
            <a:ext cx="253093" cy="158389"/>
          </a:xfrm>
          <a:prstGeom prst="straightConnector1">
            <a:avLst/>
          </a:prstGeom>
          <a:ln>
            <a:solidFill>
              <a:schemeClr val="bg1">
                <a:lumMod val="6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66" name="Straight Arrow Connector 65">
            <a:extLst>
              <a:ext uri="{FF2B5EF4-FFF2-40B4-BE49-F238E27FC236}">
                <a16:creationId xmlns:a16="http://schemas.microsoft.com/office/drawing/2014/main" id="{5533EE1F-871B-7215-23E9-ED718885E4BC}"/>
              </a:ext>
            </a:extLst>
          </p:cNvPr>
          <p:cNvCxnSpPr>
            <a:cxnSpLocks/>
          </p:cNvCxnSpPr>
          <p:nvPr/>
        </p:nvCxnSpPr>
        <p:spPr>
          <a:xfrm>
            <a:off x="2272933" y="2313790"/>
            <a:ext cx="268433" cy="525339"/>
          </a:xfrm>
          <a:prstGeom prst="straightConnector1">
            <a:avLst/>
          </a:prstGeom>
          <a:ln>
            <a:solidFill>
              <a:schemeClr val="bg1">
                <a:lumMod val="65000"/>
              </a:schemeClr>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D7450599-0382-17CE-8786-4DDF067D38CC}"/>
                  </a:ext>
                </a:extLst>
              </p:cNvPr>
              <p:cNvSpPr txBox="1"/>
              <p:nvPr/>
            </p:nvSpPr>
            <p:spPr>
              <a:xfrm>
                <a:off x="5430644" y="1171601"/>
                <a:ext cx="1488484" cy="6847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rPr>
                          </m:ctrlPr>
                        </m:dPr>
                        <m:e>
                          <m:m>
                            <m:mPr>
                              <m:mcs>
                                <m:mc>
                                  <m:mcPr>
                                    <m:count m:val="1"/>
                                    <m:mcJc m:val="center"/>
                                  </m:mcPr>
                                </m:mc>
                              </m:mcs>
                              <m:ctrlPr>
                                <a:rPr lang="en-NL" sz="1400" i="1" smtClean="0">
                                  <a:latin typeface="Cambria Math" panose="02040503050406030204" pitchFamily="18" charset="0"/>
                                </a:rPr>
                              </m:ctrlPr>
                            </m:mPr>
                            <m:mr>
                              <m:e>
                                <m:sSubSup>
                                  <m:sSubSupPr>
                                    <m:ctrlPr>
                                      <a:rPr lang="en-US" sz="1400" i="1">
                                        <a:latin typeface="Cambria Math" panose="02040503050406030204" pitchFamily="18" charset="0"/>
                                      </a:rPr>
                                    </m:ctrlPr>
                                  </m:sSubSupPr>
                                  <m:e>
                                    <m:r>
                                      <a:rPr lang="en-NL" sz="1400" i="1">
                                        <a:latin typeface="Cambria Math" panose="02040503050406030204" pitchFamily="18" charset="0"/>
                                      </a:rPr>
                                      <m:t>𝜃</m:t>
                                    </m:r>
                                  </m:e>
                                  <m:sub>
                                    <m:r>
                                      <m:rPr>
                                        <m:sty m:val="p"/>
                                      </m:rPr>
                                      <a:rPr lang="en-NL" sz="1400">
                                        <a:latin typeface="Cambria Math" panose="02040503050406030204" pitchFamily="18" charset="0"/>
                                      </a:rPr>
                                      <m:t>Δ</m:t>
                                    </m:r>
                                    <m:r>
                                      <a:rPr lang="en-US" sz="1400" i="1">
                                        <a:latin typeface="Cambria Math" panose="02040503050406030204" pitchFamily="18" charset="0"/>
                                      </a:rPr>
                                      <m:t>,</m:t>
                                    </m:r>
                                    <m:r>
                                      <a:rPr lang="en-US" sz="1400" i="1">
                                        <a:latin typeface="Cambria Math" panose="02040503050406030204" pitchFamily="18" charset="0"/>
                                      </a:rPr>
                                      <m:t>𝑥𝑥</m:t>
                                    </m:r>
                                  </m:sub>
                                  <m:sup>
                                    <m:r>
                                      <a:rPr lang="en-US" sz="1400" i="1">
                                        <a:latin typeface="Cambria Math" panose="02040503050406030204" pitchFamily="18" charset="0"/>
                                      </a:rPr>
                                      <m:t>𝑗</m:t>
                                    </m:r>
                                    <m:r>
                                      <a:rPr lang="en-US" sz="1400" i="1">
                                        <a:latin typeface="Cambria Math" panose="02040503050406030204" pitchFamily="18" charset="0"/>
                                      </a:rPr>
                                      <m:t>+1</m:t>
                                    </m:r>
                                  </m:sup>
                                </m:sSubSup>
                              </m:e>
                            </m:mr>
                            <m:mr>
                              <m:e>
                                <m:sSubSup>
                                  <m:sSubSupPr>
                                    <m:ctrlPr>
                                      <a:rPr lang="en-US" sz="1400" i="1">
                                        <a:latin typeface="Cambria Math" panose="02040503050406030204" pitchFamily="18" charset="0"/>
                                        <a:ea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𝜃</m:t>
                                    </m:r>
                                  </m:e>
                                  <m:sub>
                                    <m:r>
                                      <a:rPr lang="en-US" sz="1400" i="1">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𝑥</m:t>
                                    </m:r>
                                    <m:r>
                                      <a:rPr lang="en-US" sz="1400" i="1">
                                        <a:latin typeface="Cambria Math" panose="02040503050406030204" pitchFamily="18" charset="0"/>
                                        <a:ea typeface="Cambria Math" panose="02040503050406030204" pitchFamily="18" charset="0"/>
                                      </a:rPr>
                                      <m:t>𝜑</m:t>
                                    </m:r>
                                  </m:sub>
                                  <m:sup>
                                    <m:r>
                                      <a:rPr lang="en-US" sz="1400" i="1">
                                        <a:latin typeface="Cambria Math" panose="02040503050406030204" pitchFamily="18" charset="0"/>
                                        <a:ea typeface="Cambria Math" panose="02040503050406030204" pitchFamily="18" charset="0"/>
                                      </a:rPr>
                                      <m:t>𝑗</m:t>
                                    </m:r>
                                    <m:r>
                                      <a:rPr lang="en-US" sz="1400" b="0" i="1" smtClean="0">
                                        <a:latin typeface="Cambria Math" panose="02040503050406030204" pitchFamily="18" charset="0"/>
                                        <a:ea typeface="Cambria Math" panose="02040503050406030204" pitchFamily="18" charset="0"/>
                                      </a:rPr>
                                      <m:t>+1</m:t>
                                    </m:r>
                                  </m:sup>
                                </m:sSubSup>
                              </m:e>
                            </m:mr>
                          </m:m>
                        </m:e>
                      </m:d>
                      <m:r>
                        <a:rPr lang="en-US" sz="1400" b="0" i="1" smtClean="0">
                          <a:latin typeface="Cambria Math" panose="02040503050406030204" pitchFamily="18" charset="0"/>
                        </a:rPr>
                        <m:t>=</m:t>
                      </m:r>
                      <m:r>
                        <a:rPr lang="en-US" sz="1400" b="0" i="1" smtClean="0">
                          <a:latin typeface="Cambria Math" panose="02040503050406030204" pitchFamily="18" charset="0"/>
                        </a:rPr>
                        <m:t>𝐴</m:t>
                      </m:r>
                      <m:d>
                        <m:dPr>
                          <m:begChr m:val="["/>
                          <m:endChr m:val="]"/>
                          <m:ctrlPr>
                            <a:rPr lang="en-US" sz="1400" b="0" i="1" smtClean="0">
                              <a:latin typeface="Cambria Math" panose="02040503050406030204" pitchFamily="18" charset="0"/>
                            </a:rPr>
                          </m:ctrlPr>
                        </m:dPr>
                        <m:e>
                          <m:m>
                            <m:mPr>
                              <m:mcs>
                                <m:mc>
                                  <m:mcPr>
                                    <m:count m:val="1"/>
                                    <m:mcJc m:val="center"/>
                                  </m:mcPr>
                                </m:mc>
                              </m:mcs>
                              <m:ctrlPr>
                                <a:rPr lang="en-US" sz="1400" b="0" i="1" smtClean="0">
                                  <a:latin typeface="Cambria Math" panose="02040503050406030204" pitchFamily="18" charset="0"/>
                                </a:rPr>
                              </m:ctrlPr>
                            </m:mPr>
                            <m:mr>
                              <m:e>
                                <m:sSubSup>
                                  <m:sSubSupPr>
                                    <m:ctrlPr>
                                      <a:rPr lang="en-US" sz="1400" i="1">
                                        <a:latin typeface="Cambria Math" panose="02040503050406030204" pitchFamily="18" charset="0"/>
                                      </a:rPr>
                                    </m:ctrlPr>
                                  </m:sSubSupPr>
                                  <m:e>
                                    <m:r>
                                      <a:rPr lang="en-NL" sz="1400" i="1">
                                        <a:latin typeface="Cambria Math" panose="02040503050406030204" pitchFamily="18" charset="0"/>
                                      </a:rPr>
                                      <m:t>𝜃</m:t>
                                    </m:r>
                                  </m:e>
                                  <m:sub>
                                    <m:r>
                                      <m:rPr>
                                        <m:sty m:val="p"/>
                                      </m:rPr>
                                      <a:rPr lang="en-NL" sz="1400">
                                        <a:latin typeface="Cambria Math" panose="02040503050406030204" pitchFamily="18" charset="0"/>
                                      </a:rPr>
                                      <m:t>Δ</m:t>
                                    </m:r>
                                    <m:r>
                                      <a:rPr lang="en-US" sz="1400" i="1">
                                        <a:latin typeface="Cambria Math" panose="02040503050406030204" pitchFamily="18" charset="0"/>
                                      </a:rPr>
                                      <m:t>,</m:t>
                                    </m:r>
                                    <m:r>
                                      <a:rPr lang="en-US" sz="1400" i="1">
                                        <a:latin typeface="Cambria Math" panose="02040503050406030204" pitchFamily="18" charset="0"/>
                                      </a:rPr>
                                      <m:t>𝑥𝑥</m:t>
                                    </m:r>
                                  </m:sub>
                                  <m:sup>
                                    <m:r>
                                      <a:rPr lang="en-US" sz="1400" i="1">
                                        <a:latin typeface="Cambria Math" panose="02040503050406030204" pitchFamily="18" charset="0"/>
                                      </a:rPr>
                                      <m:t>𝑗</m:t>
                                    </m:r>
                                  </m:sup>
                                </m:sSubSup>
                              </m:e>
                            </m:mr>
                            <m:mr>
                              <m:e>
                                <m:sSubSup>
                                  <m:sSubSupPr>
                                    <m:ctrlPr>
                                      <a:rPr lang="en-US" sz="1400" i="1">
                                        <a:latin typeface="Cambria Math" panose="02040503050406030204" pitchFamily="18" charset="0"/>
                                      </a:rPr>
                                    </m:ctrlPr>
                                  </m:sSubSupPr>
                                  <m:e>
                                    <m:r>
                                      <a:rPr lang="en-NL" sz="1400" i="1">
                                        <a:latin typeface="Cambria Math" panose="02040503050406030204" pitchFamily="18" charset="0"/>
                                      </a:rPr>
                                      <m:t>𝜃</m:t>
                                    </m:r>
                                  </m:e>
                                  <m:sub>
                                    <m:r>
                                      <m:rPr>
                                        <m:sty m:val="p"/>
                                      </m:rPr>
                                      <a:rPr lang="en-NL" sz="1400">
                                        <a:latin typeface="Cambria Math" panose="02040503050406030204" pitchFamily="18" charset="0"/>
                                      </a:rPr>
                                      <m:t>Δ</m:t>
                                    </m:r>
                                    <m:r>
                                      <a:rPr lang="en-US" sz="1400" i="1">
                                        <a:latin typeface="Cambria Math" panose="02040503050406030204" pitchFamily="18" charset="0"/>
                                      </a:rPr>
                                      <m:t>,</m:t>
                                    </m:r>
                                    <m:r>
                                      <a:rPr lang="en-US" sz="1400" i="1">
                                        <a:latin typeface="Cambria Math" panose="02040503050406030204" pitchFamily="18" charset="0"/>
                                      </a:rPr>
                                      <m:t>𝑥</m:t>
                                    </m:r>
                                    <m:r>
                                      <a:rPr lang="en-US" sz="1400" i="1" smtClean="0">
                                        <a:latin typeface="Cambria Math" panose="02040503050406030204" pitchFamily="18" charset="0"/>
                                        <a:ea typeface="Cambria Math" panose="02040503050406030204" pitchFamily="18" charset="0"/>
                                      </a:rPr>
                                      <m:t>𝜑</m:t>
                                    </m:r>
                                  </m:sub>
                                  <m:sup>
                                    <m:r>
                                      <a:rPr lang="en-US" sz="1400" i="1">
                                        <a:latin typeface="Cambria Math" panose="02040503050406030204" pitchFamily="18" charset="0"/>
                                      </a:rPr>
                                      <m:t>𝑗</m:t>
                                    </m:r>
                                  </m:sup>
                                </m:sSubSup>
                              </m:e>
                            </m:mr>
                          </m:m>
                        </m:e>
                      </m:d>
                    </m:oMath>
                  </m:oMathPara>
                </a14:m>
                <a:endParaRPr lang="en-NL"/>
              </a:p>
            </p:txBody>
          </p:sp>
        </mc:Choice>
        <mc:Fallback xmlns="">
          <p:sp>
            <p:nvSpPr>
              <p:cNvPr id="43" name="TextBox 42">
                <a:extLst>
                  <a:ext uri="{FF2B5EF4-FFF2-40B4-BE49-F238E27FC236}">
                    <a16:creationId xmlns:a16="http://schemas.microsoft.com/office/drawing/2014/main" id="{D7450599-0382-17CE-8786-4DDF067D38CC}"/>
                  </a:ext>
                </a:extLst>
              </p:cNvPr>
              <p:cNvSpPr txBox="1">
                <a:spLocks noRot="1" noChangeAspect="1" noMove="1" noResize="1" noEditPoints="1" noAdjustHandles="1" noChangeArrowheads="1" noChangeShapeType="1" noTextEdit="1"/>
              </p:cNvSpPr>
              <p:nvPr/>
            </p:nvSpPr>
            <p:spPr>
              <a:xfrm>
                <a:off x="5430644" y="1171601"/>
                <a:ext cx="1488484" cy="684739"/>
              </a:xfrm>
              <a:prstGeom prst="rect">
                <a:avLst/>
              </a:prstGeom>
              <a:blipFill>
                <a:blip r:embed="rId5"/>
                <a:stretch>
                  <a:fillRect/>
                </a:stretch>
              </a:blipFill>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DD694D7E-CE33-E236-367C-0AC0F2198A65}"/>
              </a:ext>
            </a:extLst>
          </p:cNvPr>
          <p:cNvCxnSpPr>
            <a:cxnSpLocks/>
          </p:cNvCxnSpPr>
          <p:nvPr/>
        </p:nvCxnSpPr>
        <p:spPr>
          <a:xfrm>
            <a:off x="6174886" y="1982655"/>
            <a:ext cx="167640" cy="35650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857EA114-E637-562E-3B4A-30E992CE8799}"/>
                  </a:ext>
                </a:extLst>
              </p:cNvPr>
              <p:cNvSpPr txBox="1"/>
              <p:nvPr/>
            </p:nvSpPr>
            <p:spPr>
              <a:xfrm>
                <a:off x="6103267" y="2476992"/>
                <a:ext cx="720325" cy="2077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NL" i="1" smtClean="0">
                              <a:latin typeface="Cambria Math" panose="02040503050406030204" pitchFamily="18" charset="0"/>
                            </a:rPr>
                          </m:ctrlPr>
                        </m:accPr>
                        <m:e>
                          <m:r>
                            <a:rPr lang="en-NL" i="1" smtClean="0">
                              <a:latin typeface="Cambria Math" panose="02040503050406030204" pitchFamily="18" charset="0"/>
                              <a:ea typeface="Cambria Math" panose="02040503050406030204" pitchFamily="18" charset="0"/>
                            </a:rPr>
                            <m:t>𝜎</m:t>
                          </m:r>
                        </m:e>
                      </m:acc>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&lt;1</m:t>
                      </m:r>
                    </m:oMath>
                  </m:oMathPara>
                </a14:m>
                <a:endParaRPr lang="en-NL"/>
              </a:p>
            </p:txBody>
          </p:sp>
        </mc:Choice>
        <mc:Fallback xmlns="">
          <p:sp>
            <p:nvSpPr>
              <p:cNvPr id="54" name="TextBox 53">
                <a:extLst>
                  <a:ext uri="{FF2B5EF4-FFF2-40B4-BE49-F238E27FC236}">
                    <a16:creationId xmlns:a16="http://schemas.microsoft.com/office/drawing/2014/main" id="{857EA114-E637-562E-3B4A-30E992CE8799}"/>
                  </a:ext>
                </a:extLst>
              </p:cNvPr>
              <p:cNvSpPr txBox="1">
                <a:spLocks noRot="1" noChangeAspect="1" noMove="1" noResize="1" noEditPoints="1" noAdjustHandles="1" noChangeArrowheads="1" noChangeShapeType="1" noTextEdit="1"/>
              </p:cNvSpPr>
              <p:nvPr/>
            </p:nvSpPr>
            <p:spPr>
              <a:xfrm>
                <a:off x="6103267" y="2476992"/>
                <a:ext cx="720325" cy="207749"/>
              </a:xfrm>
              <a:prstGeom prst="rect">
                <a:avLst/>
              </a:prstGeom>
              <a:blipFill>
                <a:blip r:embed="rId6"/>
                <a:stretch>
                  <a:fillRect l="-2542" r="-5932" b="-5882"/>
                </a:stretch>
              </a:blipFill>
            </p:spPr>
            <p:txBody>
              <a:bodyPr/>
              <a:lstStyle/>
              <a:p>
                <a:r>
                  <a:rPr lang="en-US">
                    <a:noFill/>
                  </a:rPr>
                  <a:t> </a:t>
                </a:r>
              </a:p>
            </p:txBody>
          </p:sp>
        </mc:Fallback>
      </mc:AlternateContent>
    </p:spTree>
    <p:extLst>
      <p:ext uri="{BB962C8B-B14F-4D97-AF65-F5344CB8AC3E}">
        <p14:creationId xmlns:p14="http://schemas.microsoft.com/office/powerpoint/2010/main" val="2521561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C0A69-FB39-81A1-F336-E12C9C67C7F2}"/>
              </a:ext>
            </a:extLst>
          </p:cNvPr>
          <p:cNvSpPr>
            <a:spLocks noGrp="1"/>
          </p:cNvSpPr>
          <p:nvPr>
            <p:ph type="title"/>
          </p:nvPr>
        </p:nvSpPr>
        <p:spPr/>
        <p:txBody>
          <a:bodyPr/>
          <a:lstStyle/>
          <a:p>
            <a:r>
              <a:rPr lang="en-US"/>
              <a:t>Appendix</a:t>
            </a:r>
            <a:endParaRPr lang="en-NL"/>
          </a:p>
        </p:txBody>
      </p:sp>
      <p:sp>
        <p:nvSpPr>
          <p:cNvPr id="3" name="Content Placeholder 2">
            <a:extLst>
              <a:ext uri="{FF2B5EF4-FFF2-40B4-BE49-F238E27FC236}">
                <a16:creationId xmlns:a16="http://schemas.microsoft.com/office/drawing/2014/main" id="{47CAF189-B2E0-7997-BAFA-1875FC063C4F}"/>
              </a:ext>
            </a:extLst>
          </p:cNvPr>
          <p:cNvSpPr>
            <a:spLocks noGrp="1"/>
          </p:cNvSpPr>
          <p:nvPr>
            <p:ph idx="1"/>
          </p:nvPr>
        </p:nvSpPr>
        <p:spPr/>
        <p:txBody>
          <a:bodyPr/>
          <a:lstStyle/>
          <a:p>
            <a:endParaRPr lang="en-NL"/>
          </a:p>
        </p:txBody>
      </p:sp>
      <p:sp>
        <p:nvSpPr>
          <p:cNvPr id="4" name="Footer Placeholder 3">
            <a:extLst>
              <a:ext uri="{FF2B5EF4-FFF2-40B4-BE49-F238E27FC236}">
                <a16:creationId xmlns:a16="http://schemas.microsoft.com/office/drawing/2014/main" id="{F37397FD-24E4-F8E0-4DEA-EDDEDE7B28B8}"/>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98C6B6CF-AA6E-E349-EF8C-E1FE436404CA}"/>
              </a:ext>
            </a:extLst>
          </p:cNvPr>
          <p:cNvSpPr>
            <a:spLocks noGrp="1"/>
          </p:cNvSpPr>
          <p:nvPr>
            <p:ph type="sldNum" sz="quarter" idx="12"/>
          </p:nvPr>
        </p:nvSpPr>
        <p:spPr/>
        <p:txBody>
          <a:bodyPr/>
          <a:lstStyle/>
          <a:p>
            <a:fld id="{C194BDB0-F4EA-4DD6-8281-CCE2440D0CE0}" type="slidenum">
              <a:rPr lang="en-GB" smtClean="0"/>
              <a:t>12</a:t>
            </a:fld>
            <a:endParaRPr lang="en-GB"/>
          </a:p>
        </p:txBody>
      </p:sp>
    </p:spTree>
    <p:extLst>
      <p:ext uri="{BB962C8B-B14F-4D97-AF65-F5344CB8AC3E}">
        <p14:creationId xmlns:p14="http://schemas.microsoft.com/office/powerpoint/2010/main" val="764311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0A238D-EC82-6A05-0621-E388D5AACF6F}"/>
              </a:ext>
            </a:extLst>
          </p:cNvPr>
          <p:cNvSpPr>
            <a:spLocks noGrp="1"/>
          </p:cNvSpPr>
          <p:nvPr>
            <p:ph type="title"/>
          </p:nvPr>
        </p:nvSpPr>
        <p:spPr/>
        <p:txBody>
          <a:bodyPr/>
          <a:lstStyle/>
          <a:p>
            <a:endParaRPr lang="nl-NL"/>
          </a:p>
        </p:txBody>
      </p:sp>
      <p:pic>
        <p:nvPicPr>
          <p:cNvPr id="6" name="Tijdelijke aanduiding voor inhoud 5" descr="Afbeelding met tekst, diagram, Lettertype, lijn&#10;&#10;Door AI gegenereerde inhoud is mogelijk onjuist.">
            <a:extLst>
              <a:ext uri="{FF2B5EF4-FFF2-40B4-BE49-F238E27FC236}">
                <a16:creationId xmlns:a16="http://schemas.microsoft.com/office/drawing/2014/main" id="{CA0A640E-EA80-56B1-43D2-FF00A1E7E6CE}"/>
              </a:ext>
            </a:extLst>
          </p:cNvPr>
          <p:cNvPicPr>
            <a:picLocks noGrp="1" noChangeAspect="1"/>
          </p:cNvPicPr>
          <p:nvPr>
            <p:ph idx="1"/>
          </p:nvPr>
        </p:nvPicPr>
        <p:blipFill>
          <a:blip r:embed="rId2"/>
          <a:stretch>
            <a:fillRect/>
          </a:stretch>
        </p:blipFill>
        <p:spPr>
          <a:xfrm>
            <a:off x="2201958" y="496603"/>
            <a:ext cx="6016986" cy="3732497"/>
          </a:xfrm>
          <a:prstGeom prst="rect">
            <a:avLst/>
          </a:prstGeom>
        </p:spPr>
      </p:pic>
      <p:sp>
        <p:nvSpPr>
          <p:cNvPr id="4" name="Tijdelijke aanduiding voor voettekst 3">
            <a:extLst>
              <a:ext uri="{FF2B5EF4-FFF2-40B4-BE49-F238E27FC236}">
                <a16:creationId xmlns:a16="http://schemas.microsoft.com/office/drawing/2014/main" id="{FD4A689A-EA96-9EFC-F7AF-92A1C2A3E80B}"/>
              </a:ext>
            </a:extLst>
          </p:cNvPr>
          <p:cNvSpPr>
            <a:spLocks noGrp="1"/>
          </p:cNvSpPr>
          <p:nvPr>
            <p:ph type="ftr" sz="quarter" idx="11"/>
          </p:nvPr>
        </p:nvSpPr>
        <p:spPr/>
        <p:txBody>
          <a:bodyPr/>
          <a:lstStyle/>
          <a:p>
            <a:r>
              <a:rPr lang="en-GB"/>
              <a:t>Title of the presentation - by tab Insert -&gt; Header text and Footer text</a:t>
            </a:r>
          </a:p>
        </p:txBody>
      </p:sp>
      <p:sp>
        <p:nvSpPr>
          <p:cNvPr id="5" name="Tijdelijke aanduiding voor dianummer 4">
            <a:extLst>
              <a:ext uri="{FF2B5EF4-FFF2-40B4-BE49-F238E27FC236}">
                <a16:creationId xmlns:a16="http://schemas.microsoft.com/office/drawing/2014/main" id="{B8369731-8AC0-FEB7-71A2-04F79A18B728}"/>
              </a:ext>
            </a:extLst>
          </p:cNvPr>
          <p:cNvSpPr>
            <a:spLocks noGrp="1"/>
          </p:cNvSpPr>
          <p:nvPr>
            <p:ph type="sldNum" sz="quarter" idx="12"/>
          </p:nvPr>
        </p:nvSpPr>
        <p:spPr/>
        <p:txBody>
          <a:bodyPr/>
          <a:lstStyle/>
          <a:p>
            <a:fld id="{C194BDB0-F4EA-4DD6-8281-CCE2440D0CE0}" type="slidenum">
              <a:rPr lang="en-GB" smtClean="0"/>
              <a:t>13</a:t>
            </a:fld>
            <a:endParaRPr lang="en-GB"/>
          </a:p>
        </p:txBody>
      </p:sp>
    </p:spTree>
    <p:extLst>
      <p:ext uri="{BB962C8B-B14F-4D97-AF65-F5344CB8AC3E}">
        <p14:creationId xmlns:p14="http://schemas.microsoft.com/office/powerpoint/2010/main" val="1741294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737D3-78F7-6C68-72D5-2A3ADC5CB83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4CE4E2D-22A3-5523-82E7-8A87C1448C52}"/>
              </a:ext>
            </a:extLst>
          </p:cNvPr>
          <p:cNvSpPr>
            <a:spLocks noGrp="1"/>
          </p:cNvSpPr>
          <p:nvPr>
            <p:ph type="title"/>
          </p:nvPr>
        </p:nvSpPr>
        <p:spPr>
          <a:xfrm>
            <a:off x="758825" y="441221"/>
            <a:ext cx="7556500" cy="539038"/>
          </a:xfrm>
        </p:spPr>
        <p:txBody>
          <a:bodyPr/>
          <a:lstStyle/>
          <a:p>
            <a:r>
              <a:rPr lang="en-GB"/>
              <a:t>MIMO implementation</a:t>
            </a:r>
          </a:p>
        </p:txBody>
      </p:sp>
      <p:sp>
        <p:nvSpPr>
          <p:cNvPr id="4" name="Tijdelijke aanduiding voor voettekst 3">
            <a:extLst>
              <a:ext uri="{FF2B5EF4-FFF2-40B4-BE49-F238E27FC236}">
                <a16:creationId xmlns:a16="http://schemas.microsoft.com/office/drawing/2014/main" id="{7D5BF01E-1E1E-B8D0-7AC0-35B3703532A3}"/>
              </a:ext>
            </a:extLst>
          </p:cNvPr>
          <p:cNvSpPr>
            <a:spLocks noGrp="1"/>
          </p:cNvSpPr>
          <p:nvPr>
            <p:ph type="ftr" sz="quarter" idx="11"/>
          </p:nvPr>
        </p:nvSpPr>
        <p:spPr/>
        <p:txBody>
          <a:bodyPr/>
          <a:lstStyle/>
          <a:p>
            <a:endParaRPr lang="en-GB"/>
          </a:p>
          <a:p>
            <a:r>
              <a:rPr lang="en-GB"/>
              <a:t>Learning control, </a:t>
            </a:r>
            <a:r>
              <a:rPr lang="en-US"/>
              <a:t>4SC070</a:t>
            </a:r>
            <a:r>
              <a:rPr lang="en-GB"/>
              <a:t> – group 4</a:t>
            </a:r>
          </a:p>
          <a:p>
            <a:endParaRPr lang="en-GB"/>
          </a:p>
        </p:txBody>
      </p:sp>
      <p:sp>
        <p:nvSpPr>
          <p:cNvPr id="5" name="Tijdelijke aanduiding voor dianummer 4">
            <a:extLst>
              <a:ext uri="{FF2B5EF4-FFF2-40B4-BE49-F238E27FC236}">
                <a16:creationId xmlns:a16="http://schemas.microsoft.com/office/drawing/2014/main" id="{00427407-7A4B-0F99-4F71-9416D058F813}"/>
              </a:ext>
            </a:extLst>
          </p:cNvPr>
          <p:cNvSpPr>
            <a:spLocks noGrp="1"/>
          </p:cNvSpPr>
          <p:nvPr>
            <p:ph type="sldNum" sz="quarter" idx="12"/>
          </p:nvPr>
        </p:nvSpPr>
        <p:spPr/>
        <p:txBody>
          <a:bodyPr/>
          <a:lstStyle/>
          <a:p>
            <a:fld id="{C194BDB0-F4EA-4DD6-8281-CCE2440D0CE0}" type="slidenum">
              <a:rPr lang="en-GB" smtClean="0"/>
              <a:t>14</a:t>
            </a:fld>
            <a:endParaRPr lang="en-GB"/>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2AB1F4D-7C3F-A897-896C-3E8C5E43F50D}"/>
                  </a:ext>
                </a:extLst>
              </p:cNvPr>
              <p:cNvSpPr txBox="1"/>
              <p:nvPr/>
            </p:nvSpPr>
            <p:spPr>
              <a:xfrm>
                <a:off x="111758" y="980259"/>
                <a:ext cx="1340046" cy="14652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𝑗</m:t>
                          </m:r>
                        </m:sub>
                        <m:sup>
                          <m:r>
                            <a:rPr lang="en-NL" i="1">
                              <a:latin typeface="Cambria Math" panose="02040503050406030204" pitchFamily="18" charset="0"/>
                            </a:rPr>
                            <m:t>𝑦</m:t>
                          </m:r>
                        </m:sup>
                      </m:sSubSup>
                      <m:r>
                        <a:rPr lang="en-NL" i="0">
                          <a:latin typeface="Cambria Math" panose="02040503050406030204" pitchFamily="18" charset="0"/>
                        </a:rPr>
                        <m:t>=</m:t>
                      </m:r>
                      <m:d>
                        <m:dPr>
                          <m:begChr m:val="["/>
                          <m:endChr m:val="]"/>
                          <m:ctrlPr>
                            <a:rPr lang="en-NL" i="1">
                              <a:latin typeface="Cambria Math" panose="02040503050406030204" pitchFamily="18" charset="0"/>
                            </a:rPr>
                          </m:ctrlPr>
                        </m:dPr>
                        <m:e>
                          <m:m>
                            <m:mPr>
                              <m:plcHide m:val="on"/>
                              <m:mcs>
                                <m:mc>
                                  <m:mcPr>
                                    <m:count m:val="1"/>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𝑒</m:t>
                                    </m:r>
                                  </m:e>
                                  <m:sub>
                                    <m:r>
                                      <a:rPr lang="en-NL" i="1">
                                        <a:latin typeface="Cambria Math" panose="02040503050406030204" pitchFamily="18" charset="0"/>
                                      </a:rPr>
                                      <m:t>𝑥</m:t>
                                    </m:r>
                                  </m:sub>
                                </m:sSub>
                                <m:d>
                                  <m:dPr>
                                    <m:ctrlPr>
                                      <a:rPr lang="en-NL" i="1">
                                        <a:latin typeface="Cambria Math" panose="02040503050406030204" pitchFamily="18" charset="0"/>
                                      </a:rPr>
                                    </m:ctrlPr>
                                  </m:dPr>
                                  <m:e>
                                    <m:r>
                                      <a:rPr lang="en-NL" i="0">
                                        <a:latin typeface="Cambria Math" panose="02040503050406030204" pitchFamily="18" charset="0"/>
                                      </a:rPr>
                                      <m:t>0</m:t>
                                    </m:r>
                                  </m:e>
                                </m:d>
                              </m:e>
                            </m:mr>
                            <m:mr>
                              <m:e>
                                <m:sSub>
                                  <m:sSubPr>
                                    <m:ctrlPr>
                                      <a:rPr lang="en-NL" i="1">
                                        <a:latin typeface="Cambria Math" panose="02040503050406030204" pitchFamily="18" charset="0"/>
                                      </a:rPr>
                                    </m:ctrlPr>
                                  </m:sSubPr>
                                  <m:e>
                                    <m:r>
                                      <a:rPr lang="en-NL" i="1">
                                        <a:latin typeface="Cambria Math" panose="02040503050406030204" pitchFamily="18" charset="0"/>
                                      </a:rPr>
                                      <m:t>𝑒</m:t>
                                    </m:r>
                                  </m:e>
                                  <m:sub>
                                    <m:r>
                                      <a:rPr lang="en-NL" i="1">
                                        <a:latin typeface="Cambria Math" panose="02040503050406030204" pitchFamily="18" charset="0"/>
                                      </a:rPr>
                                      <m:t>𝜑</m:t>
                                    </m:r>
                                  </m:sub>
                                </m:sSub>
                                <m:d>
                                  <m:dPr>
                                    <m:ctrlPr>
                                      <a:rPr lang="en-NL" i="1">
                                        <a:latin typeface="Cambria Math" panose="02040503050406030204" pitchFamily="18" charset="0"/>
                                      </a:rPr>
                                    </m:ctrlPr>
                                  </m:dPr>
                                  <m:e>
                                    <m:r>
                                      <a:rPr lang="en-NL" i="0">
                                        <a:latin typeface="Cambria Math" panose="02040503050406030204" pitchFamily="18" charset="0"/>
                                      </a:rPr>
                                      <m:t>0</m:t>
                                    </m:r>
                                  </m:e>
                                </m:d>
                              </m:e>
                            </m:mr>
                            <m:mr>
                              <m:e>
                                <m:r>
                                  <a:rPr lang="en-US" b="0" i="0" smtClean="0">
                                    <a:latin typeface="Cambria Math" panose="02040503050406030204" pitchFamily="18" charset="0"/>
                                  </a:rPr>
                                  <m:t>.</m:t>
                                </m:r>
                              </m:e>
                            </m:mr>
                            <m:mr>
                              <m:e>
                                <m:r>
                                  <a:rPr lang="en-US" b="0" i="0" smtClean="0">
                                    <a:latin typeface="Cambria Math" panose="02040503050406030204" pitchFamily="18" charset="0"/>
                                  </a:rPr>
                                  <m:t>.</m:t>
                                </m:r>
                              </m:e>
                            </m:mr>
                            <m:mr>
                              <m:e>
                                <m:r>
                                  <a:rPr lang="en-US" b="0" i="0" smtClean="0">
                                    <a:latin typeface="Cambria Math" panose="02040503050406030204" pitchFamily="18" charset="0"/>
                                  </a:rPr>
                                  <m:t>.</m:t>
                                </m:r>
                              </m:e>
                            </m:mr>
                            <m:mr>
                              <m:e>
                                <m:sSub>
                                  <m:sSubPr>
                                    <m:ctrlPr>
                                      <a:rPr lang="en-NL" i="1">
                                        <a:latin typeface="Cambria Math" panose="02040503050406030204" pitchFamily="18" charset="0"/>
                                      </a:rPr>
                                    </m:ctrlPr>
                                  </m:sSubPr>
                                  <m:e>
                                    <m:r>
                                      <a:rPr lang="en-NL" i="1">
                                        <a:latin typeface="Cambria Math" panose="02040503050406030204" pitchFamily="18" charset="0"/>
                                      </a:rPr>
                                      <m:t>𝑒</m:t>
                                    </m:r>
                                  </m:e>
                                  <m:sub>
                                    <m:r>
                                      <a:rPr lang="en-NL" i="1">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e>
                            </m:mr>
                            <m:mr>
                              <m:e>
                                <m:sSub>
                                  <m:sSubPr>
                                    <m:ctrlPr>
                                      <a:rPr lang="en-NL" i="1">
                                        <a:latin typeface="Cambria Math" panose="02040503050406030204" pitchFamily="18" charset="0"/>
                                      </a:rPr>
                                    </m:ctrlPr>
                                  </m:sSubPr>
                                  <m:e>
                                    <m:r>
                                      <a:rPr lang="en-NL" i="1">
                                        <a:latin typeface="Cambria Math" panose="02040503050406030204" pitchFamily="18" charset="0"/>
                                      </a:rPr>
                                      <m:t>𝑒</m:t>
                                    </m:r>
                                  </m:e>
                                  <m:sub>
                                    <m:r>
                                      <a:rPr lang="en-NL" i="1">
                                        <a:latin typeface="Cambria Math" panose="02040503050406030204" pitchFamily="18" charset="0"/>
                                      </a:rPr>
                                      <m:t>𝜑</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e>
                            </m:mr>
                          </m:m>
                        </m:e>
                      </m:d>
                    </m:oMath>
                  </m:oMathPara>
                </a14:m>
                <a:endParaRPr lang="en-NL"/>
              </a:p>
            </p:txBody>
          </p:sp>
        </mc:Choice>
        <mc:Fallback xmlns="">
          <p:sp>
            <p:nvSpPr>
              <p:cNvPr id="6" name="TextBox 5">
                <a:extLst>
                  <a:ext uri="{FF2B5EF4-FFF2-40B4-BE49-F238E27FC236}">
                    <a16:creationId xmlns:a16="http://schemas.microsoft.com/office/drawing/2014/main" id="{12AB1F4D-7C3F-A897-896C-3E8C5E43F50D}"/>
                  </a:ext>
                </a:extLst>
              </p:cNvPr>
              <p:cNvSpPr txBox="1">
                <a:spLocks noRot="1" noChangeAspect="1" noMove="1" noResize="1" noEditPoints="1" noAdjustHandles="1" noChangeArrowheads="1" noChangeShapeType="1" noTextEdit="1"/>
              </p:cNvSpPr>
              <p:nvPr/>
            </p:nvSpPr>
            <p:spPr>
              <a:xfrm>
                <a:off x="111758" y="980259"/>
                <a:ext cx="1340046" cy="146527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70584A5-371B-2E4F-AA8C-3175690FFCDD}"/>
                  </a:ext>
                </a:extLst>
              </p:cNvPr>
              <p:cNvSpPr txBox="1"/>
              <p:nvPr/>
            </p:nvSpPr>
            <p:spPr>
              <a:xfrm>
                <a:off x="1546679" y="998525"/>
                <a:ext cx="1248803" cy="14652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r</m:t>
                          </m:r>
                        </m:e>
                        <m:sub>
                          <m:r>
                            <a:rPr lang="en-US" b="0" i="1" smtClean="0">
                              <a:latin typeface="Cambria Math" panose="02040503050406030204" pitchFamily="18" charset="0"/>
                            </a:rPr>
                            <m:t>𝑗</m:t>
                          </m:r>
                        </m:sub>
                      </m:sSub>
                      <m:r>
                        <a:rPr lang="en-NL" i="0">
                          <a:latin typeface="Cambria Math" panose="02040503050406030204" pitchFamily="18" charset="0"/>
                        </a:rPr>
                        <m:t>=</m:t>
                      </m:r>
                      <m:d>
                        <m:dPr>
                          <m:begChr m:val="["/>
                          <m:endChr m:val="]"/>
                          <m:ctrlPr>
                            <a:rPr lang="en-NL" i="1">
                              <a:latin typeface="Cambria Math" panose="02040503050406030204" pitchFamily="18" charset="0"/>
                            </a:rPr>
                          </m:ctrlPr>
                        </m:dPr>
                        <m:e>
                          <m:m>
                            <m:mPr>
                              <m:plcHide m:val="on"/>
                              <m:mcs>
                                <m:mc>
                                  <m:mcPr>
                                    <m:count m:val="1"/>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US" b="0" i="1" smtClean="0">
                                        <a:latin typeface="Cambria Math" panose="02040503050406030204" pitchFamily="18" charset="0"/>
                                      </a:rPr>
                                      <m:t>𝑟</m:t>
                                    </m:r>
                                  </m:e>
                                  <m:sub>
                                    <m:r>
                                      <a:rPr lang="en-NL" i="1">
                                        <a:latin typeface="Cambria Math" panose="02040503050406030204" pitchFamily="18" charset="0"/>
                                      </a:rPr>
                                      <m:t>𝑥</m:t>
                                    </m:r>
                                  </m:sub>
                                </m:sSub>
                                <m:d>
                                  <m:dPr>
                                    <m:ctrlPr>
                                      <a:rPr lang="en-NL" i="1">
                                        <a:latin typeface="Cambria Math" panose="02040503050406030204" pitchFamily="18" charset="0"/>
                                      </a:rPr>
                                    </m:ctrlPr>
                                  </m:dPr>
                                  <m:e>
                                    <m:r>
                                      <a:rPr lang="en-NL" i="0">
                                        <a:latin typeface="Cambria Math" panose="02040503050406030204" pitchFamily="18" charset="0"/>
                                      </a:rPr>
                                      <m:t>0</m:t>
                                    </m:r>
                                  </m:e>
                                </m:d>
                              </m:e>
                            </m:mr>
                            <m:mr>
                              <m:e>
                                <m:sSub>
                                  <m:sSubPr>
                                    <m:ctrlPr>
                                      <a:rPr lang="en-NL" i="1">
                                        <a:latin typeface="Cambria Math" panose="02040503050406030204" pitchFamily="18" charset="0"/>
                                      </a:rPr>
                                    </m:ctrlPr>
                                  </m:sSubPr>
                                  <m:e>
                                    <m:r>
                                      <a:rPr lang="en-US" b="0" i="1" smtClean="0">
                                        <a:latin typeface="Cambria Math" panose="02040503050406030204" pitchFamily="18" charset="0"/>
                                      </a:rPr>
                                      <m:t>𝑟</m:t>
                                    </m:r>
                                  </m:e>
                                  <m:sub>
                                    <m:r>
                                      <a:rPr lang="en-NL" i="1">
                                        <a:latin typeface="Cambria Math" panose="02040503050406030204" pitchFamily="18" charset="0"/>
                                      </a:rPr>
                                      <m:t>𝜑</m:t>
                                    </m:r>
                                  </m:sub>
                                </m:sSub>
                                <m:d>
                                  <m:dPr>
                                    <m:ctrlPr>
                                      <a:rPr lang="en-NL" i="1">
                                        <a:latin typeface="Cambria Math" panose="02040503050406030204" pitchFamily="18" charset="0"/>
                                      </a:rPr>
                                    </m:ctrlPr>
                                  </m:dPr>
                                  <m:e>
                                    <m:r>
                                      <a:rPr lang="en-NL" i="0">
                                        <a:latin typeface="Cambria Math" panose="02040503050406030204" pitchFamily="18" charset="0"/>
                                      </a:rPr>
                                      <m:t>0</m:t>
                                    </m:r>
                                  </m:e>
                                </m:d>
                              </m:e>
                            </m:mr>
                            <m:mr>
                              <m:e>
                                <m:r>
                                  <a:rPr lang="en-US" b="0" i="0" smtClean="0">
                                    <a:latin typeface="Cambria Math" panose="02040503050406030204" pitchFamily="18" charset="0"/>
                                  </a:rPr>
                                  <m:t>.</m:t>
                                </m:r>
                              </m:e>
                            </m:mr>
                            <m:mr>
                              <m:e>
                                <m:r>
                                  <a:rPr lang="en-US" b="0" i="0" smtClean="0">
                                    <a:latin typeface="Cambria Math" panose="02040503050406030204" pitchFamily="18" charset="0"/>
                                  </a:rPr>
                                  <m:t>.</m:t>
                                </m:r>
                              </m:e>
                            </m:mr>
                            <m:mr>
                              <m:e>
                                <m:r>
                                  <a:rPr lang="en-US" b="0" i="0" smtClean="0">
                                    <a:latin typeface="Cambria Math" panose="02040503050406030204" pitchFamily="18" charset="0"/>
                                  </a:rPr>
                                  <m:t>.</m:t>
                                </m:r>
                              </m:e>
                            </m:mr>
                            <m:mr>
                              <m:e>
                                <m:sSub>
                                  <m:sSubPr>
                                    <m:ctrlPr>
                                      <a:rPr lang="en-NL" i="1">
                                        <a:latin typeface="Cambria Math" panose="02040503050406030204" pitchFamily="18" charset="0"/>
                                      </a:rPr>
                                    </m:ctrlPr>
                                  </m:sSubPr>
                                  <m:e>
                                    <m:r>
                                      <a:rPr lang="en-US" b="0" i="1" smtClean="0">
                                        <a:latin typeface="Cambria Math" panose="02040503050406030204" pitchFamily="18" charset="0"/>
                                      </a:rPr>
                                      <m:t>𝑟</m:t>
                                    </m:r>
                                  </m:e>
                                  <m:sub>
                                    <m:r>
                                      <a:rPr lang="en-NL" i="1">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e>
                            </m:mr>
                            <m:mr>
                              <m:e>
                                <m:sSub>
                                  <m:sSubPr>
                                    <m:ctrlPr>
                                      <a:rPr lang="en-NL" i="1">
                                        <a:latin typeface="Cambria Math" panose="02040503050406030204" pitchFamily="18" charset="0"/>
                                      </a:rPr>
                                    </m:ctrlPr>
                                  </m:sSubPr>
                                  <m:e>
                                    <m:r>
                                      <a:rPr lang="en-US" b="0" i="1" smtClean="0">
                                        <a:latin typeface="Cambria Math" panose="02040503050406030204" pitchFamily="18" charset="0"/>
                                      </a:rPr>
                                      <m:t>𝑟</m:t>
                                    </m:r>
                                  </m:e>
                                  <m:sub>
                                    <m:r>
                                      <a:rPr lang="en-NL" i="1">
                                        <a:latin typeface="Cambria Math" panose="02040503050406030204" pitchFamily="18" charset="0"/>
                                      </a:rPr>
                                      <m:t>𝜑</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e>
                            </m:mr>
                          </m:m>
                        </m:e>
                      </m:d>
                    </m:oMath>
                  </m:oMathPara>
                </a14:m>
                <a:endParaRPr lang="en-NL"/>
              </a:p>
            </p:txBody>
          </p:sp>
        </mc:Choice>
        <mc:Fallback xmlns="">
          <p:sp>
            <p:nvSpPr>
              <p:cNvPr id="7" name="TextBox 6">
                <a:extLst>
                  <a:ext uri="{FF2B5EF4-FFF2-40B4-BE49-F238E27FC236}">
                    <a16:creationId xmlns:a16="http://schemas.microsoft.com/office/drawing/2014/main" id="{670584A5-371B-2E4F-AA8C-3175690FFCDD}"/>
                  </a:ext>
                </a:extLst>
              </p:cNvPr>
              <p:cNvSpPr txBox="1">
                <a:spLocks noRot="1" noChangeAspect="1" noMove="1" noResize="1" noEditPoints="1" noAdjustHandles="1" noChangeArrowheads="1" noChangeShapeType="1" noTextEdit="1"/>
              </p:cNvSpPr>
              <p:nvPr/>
            </p:nvSpPr>
            <p:spPr>
              <a:xfrm>
                <a:off x="1546679" y="998525"/>
                <a:ext cx="1248803" cy="146527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75E76F2-7310-57DF-05E2-51A6FB289587}"/>
                  </a:ext>
                </a:extLst>
              </p:cNvPr>
              <p:cNvSpPr txBox="1"/>
              <p:nvPr/>
            </p:nvSpPr>
            <p:spPr>
              <a:xfrm>
                <a:off x="2933029" y="998525"/>
                <a:ext cx="1260602" cy="14666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𝑗</m:t>
                          </m:r>
                        </m:sub>
                      </m:sSub>
                      <m:r>
                        <a:rPr lang="en-NL" i="0">
                          <a:latin typeface="Cambria Math" panose="02040503050406030204" pitchFamily="18" charset="0"/>
                        </a:rPr>
                        <m:t>=</m:t>
                      </m:r>
                      <m:d>
                        <m:dPr>
                          <m:begChr m:val="["/>
                          <m:endChr m:val="]"/>
                          <m:ctrlPr>
                            <a:rPr lang="en-NL" i="1">
                              <a:latin typeface="Cambria Math" panose="02040503050406030204" pitchFamily="18" charset="0"/>
                            </a:rPr>
                          </m:ctrlPr>
                        </m:dPr>
                        <m:e>
                          <m:m>
                            <m:mPr>
                              <m:plcHide m:val="on"/>
                              <m:mcs>
                                <m:mc>
                                  <m:mcPr>
                                    <m:count m:val="1"/>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US" b="0" i="1" smtClean="0">
                                        <a:latin typeface="Cambria Math" panose="02040503050406030204" pitchFamily="18" charset="0"/>
                                      </a:rPr>
                                      <m:t>𝑓</m:t>
                                    </m:r>
                                  </m:e>
                                  <m:sub>
                                    <m:r>
                                      <a:rPr lang="en-NL" i="1">
                                        <a:latin typeface="Cambria Math" panose="02040503050406030204" pitchFamily="18" charset="0"/>
                                      </a:rPr>
                                      <m:t>𝑥</m:t>
                                    </m:r>
                                  </m:sub>
                                </m:sSub>
                                <m:d>
                                  <m:dPr>
                                    <m:ctrlPr>
                                      <a:rPr lang="en-NL" i="1">
                                        <a:latin typeface="Cambria Math" panose="02040503050406030204" pitchFamily="18" charset="0"/>
                                      </a:rPr>
                                    </m:ctrlPr>
                                  </m:dPr>
                                  <m:e>
                                    <m:r>
                                      <a:rPr lang="en-NL" i="0">
                                        <a:latin typeface="Cambria Math" panose="02040503050406030204" pitchFamily="18" charset="0"/>
                                      </a:rPr>
                                      <m:t>0</m:t>
                                    </m:r>
                                  </m:e>
                                </m:d>
                              </m:e>
                            </m:mr>
                            <m:mr>
                              <m:e>
                                <m:sSub>
                                  <m:sSubPr>
                                    <m:ctrlPr>
                                      <a:rPr lang="en-NL" i="1">
                                        <a:latin typeface="Cambria Math" panose="02040503050406030204" pitchFamily="18" charset="0"/>
                                      </a:rPr>
                                    </m:ctrlPr>
                                  </m:sSubPr>
                                  <m:e>
                                    <m:r>
                                      <a:rPr lang="en-US" b="0" i="1" smtClean="0">
                                        <a:latin typeface="Cambria Math" panose="02040503050406030204" pitchFamily="18" charset="0"/>
                                      </a:rPr>
                                      <m:t>𝑓</m:t>
                                    </m:r>
                                  </m:e>
                                  <m:sub>
                                    <m:r>
                                      <a:rPr lang="en-NL" i="1">
                                        <a:latin typeface="Cambria Math" panose="02040503050406030204" pitchFamily="18" charset="0"/>
                                      </a:rPr>
                                      <m:t>𝜑</m:t>
                                    </m:r>
                                  </m:sub>
                                </m:sSub>
                                <m:d>
                                  <m:dPr>
                                    <m:ctrlPr>
                                      <a:rPr lang="en-NL" i="1">
                                        <a:latin typeface="Cambria Math" panose="02040503050406030204" pitchFamily="18" charset="0"/>
                                      </a:rPr>
                                    </m:ctrlPr>
                                  </m:dPr>
                                  <m:e>
                                    <m:r>
                                      <a:rPr lang="en-NL" i="0">
                                        <a:latin typeface="Cambria Math" panose="02040503050406030204" pitchFamily="18" charset="0"/>
                                      </a:rPr>
                                      <m:t>0</m:t>
                                    </m:r>
                                  </m:e>
                                </m:d>
                              </m:e>
                            </m:mr>
                            <m:mr>
                              <m:e>
                                <m:r>
                                  <a:rPr lang="en-US" b="0" i="0" smtClean="0">
                                    <a:latin typeface="Cambria Math" panose="02040503050406030204" pitchFamily="18" charset="0"/>
                                  </a:rPr>
                                  <m:t>.</m:t>
                                </m:r>
                              </m:e>
                            </m:mr>
                            <m:mr>
                              <m:e>
                                <m:r>
                                  <a:rPr lang="en-US" b="0" i="0" smtClean="0">
                                    <a:latin typeface="Cambria Math" panose="02040503050406030204" pitchFamily="18" charset="0"/>
                                  </a:rPr>
                                  <m:t>.</m:t>
                                </m:r>
                              </m:e>
                            </m:mr>
                            <m:mr>
                              <m:e>
                                <m:r>
                                  <a:rPr lang="en-US" b="0" i="0" smtClean="0">
                                    <a:latin typeface="Cambria Math" panose="02040503050406030204" pitchFamily="18" charset="0"/>
                                  </a:rPr>
                                  <m:t>.</m:t>
                                </m:r>
                              </m:e>
                            </m:mr>
                            <m:mr>
                              <m:e>
                                <m:sSub>
                                  <m:sSubPr>
                                    <m:ctrlPr>
                                      <a:rPr lang="en-NL" i="1">
                                        <a:latin typeface="Cambria Math" panose="02040503050406030204" pitchFamily="18" charset="0"/>
                                      </a:rPr>
                                    </m:ctrlPr>
                                  </m:sSubPr>
                                  <m:e>
                                    <m:r>
                                      <a:rPr lang="en-US" b="0" i="1" smtClean="0">
                                        <a:latin typeface="Cambria Math" panose="02040503050406030204" pitchFamily="18" charset="0"/>
                                      </a:rPr>
                                      <m:t>𝑓</m:t>
                                    </m:r>
                                  </m:e>
                                  <m:sub>
                                    <m:r>
                                      <a:rPr lang="en-NL" i="1">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e>
                            </m:mr>
                            <m:mr>
                              <m:e>
                                <m:sSub>
                                  <m:sSubPr>
                                    <m:ctrlPr>
                                      <a:rPr lang="en-NL" i="1">
                                        <a:latin typeface="Cambria Math" panose="02040503050406030204" pitchFamily="18" charset="0"/>
                                      </a:rPr>
                                    </m:ctrlPr>
                                  </m:sSubPr>
                                  <m:e>
                                    <m:r>
                                      <a:rPr lang="en-US" b="0" i="1" smtClean="0">
                                        <a:latin typeface="Cambria Math" panose="02040503050406030204" pitchFamily="18" charset="0"/>
                                      </a:rPr>
                                      <m:t>𝑓</m:t>
                                    </m:r>
                                  </m:e>
                                  <m:sub>
                                    <m:r>
                                      <a:rPr lang="en-NL" i="1">
                                        <a:latin typeface="Cambria Math" panose="02040503050406030204" pitchFamily="18" charset="0"/>
                                      </a:rPr>
                                      <m:t>𝜑</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e>
                            </m:mr>
                          </m:m>
                        </m:e>
                      </m:d>
                    </m:oMath>
                  </m:oMathPara>
                </a14:m>
                <a:endParaRPr lang="en-NL"/>
              </a:p>
            </p:txBody>
          </p:sp>
        </mc:Choice>
        <mc:Fallback xmlns="">
          <p:sp>
            <p:nvSpPr>
              <p:cNvPr id="8" name="TextBox 7">
                <a:extLst>
                  <a:ext uri="{FF2B5EF4-FFF2-40B4-BE49-F238E27FC236}">
                    <a16:creationId xmlns:a16="http://schemas.microsoft.com/office/drawing/2014/main" id="{575E76F2-7310-57DF-05E2-51A6FB289587}"/>
                  </a:ext>
                </a:extLst>
              </p:cNvPr>
              <p:cNvSpPr txBox="1">
                <a:spLocks noRot="1" noChangeAspect="1" noMove="1" noResize="1" noEditPoints="1" noAdjustHandles="1" noChangeArrowheads="1" noChangeShapeType="1" noTextEdit="1"/>
              </p:cNvSpPr>
              <p:nvPr/>
            </p:nvSpPr>
            <p:spPr>
              <a:xfrm>
                <a:off x="2933029" y="998525"/>
                <a:ext cx="1260602" cy="14666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1973E61-1485-9776-DFE2-7F989DE9B1FD}"/>
                  </a:ext>
                </a:extLst>
              </p:cNvPr>
              <p:cNvSpPr txBox="1"/>
              <p:nvPr/>
            </p:nvSpPr>
            <p:spPr>
              <a:xfrm>
                <a:off x="4525021" y="1201122"/>
                <a:ext cx="5165987" cy="882614"/>
              </a:xfrm>
              <a:prstGeom prst="rect">
                <a:avLst/>
              </a:prstGeom>
              <a:noFill/>
            </p:spPr>
            <p:txBody>
              <a:bodyPr wrap="square" lIns="0" tIns="0" rIns="0" bIns="0" rtlCol="0">
                <a:spAutoFit/>
              </a:bodyPr>
              <a:lstStyle/>
              <a:p>
                <a14:m>
                  <m:oMath xmlns:m="http://schemas.openxmlformats.org/officeDocument/2006/math">
                    <m:r>
                      <m:rPr>
                        <m:sty m:val="p"/>
                      </m:rPr>
                      <a:rPr lang="en-US" b="0" i="0" smtClean="0">
                        <a:latin typeface="Cambria Math" panose="02040503050406030204" pitchFamily="18" charset="0"/>
                      </a:rPr>
                      <m:t>SP</m:t>
                    </m:r>
                    <m:r>
                      <a:rPr lang="en-NL" i="0">
                        <a:latin typeface="Cambria Math" panose="02040503050406030204" pitchFamily="18" charset="0"/>
                      </a:rPr>
                      <m:t>=</m:t>
                    </m:r>
                    <m:d>
                      <m:dPr>
                        <m:begChr m:val="["/>
                        <m:endChr m:val="]"/>
                        <m:ctrlPr>
                          <a:rPr lang="en-NL" i="1">
                            <a:latin typeface="Cambria Math" panose="02040503050406030204" pitchFamily="18" charset="0"/>
                          </a:rPr>
                        </m:ctrlPr>
                      </m:dPr>
                      <m:e>
                        <m:m>
                          <m:mPr>
                            <m:plcHide m:val="on"/>
                            <m:mcs>
                              <m:mc>
                                <m:mcPr>
                                  <m:count m:val="4"/>
                                  <m:mcJc m:val="center"/>
                                </m:mcPr>
                              </m:mc>
                            </m:mcs>
                            <m:ctrlPr>
                              <a:rPr lang="en-NL" i="1">
                                <a:latin typeface="Cambria Math" panose="02040503050406030204" pitchFamily="18" charset="0"/>
                              </a:rPr>
                            </m:ctrlPr>
                          </m:mPr>
                          <m:mr>
                            <m:e>
                              <m:r>
                                <a:rPr lang="en-NL" i="1">
                                  <a:latin typeface="Cambria Math" panose="02040503050406030204" pitchFamily="18" charset="0"/>
                                </a:rPr>
                                <m:t>𝐺</m:t>
                              </m:r>
                              <m:d>
                                <m:dPr>
                                  <m:ctrlPr>
                                    <a:rPr lang="en-NL" i="1">
                                      <a:latin typeface="Cambria Math" panose="02040503050406030204" pitchFamily="18" charset="0"/>
                                    </a:rPr>
                                  </m:ctrlPr>
                                </m:dPr>
                                <m:e>
                                  <m:r>
                                    <a:rPr lang="en-NL" i="0">
                                      <a:latin typeface="Cambria Math" panose="02040503050406030204" pitchFamily="18" charset="0"/>
                                    </a:rPr>
                                    <m:t>0</m:t>
                                  </m:r>
                                </m:e>
                              </m:d>
                            </m:e>
                            <m:e>
                              <m:r>
                                <a:rPr lang="en-NL" i="0">
                                  <a:latin typeface="Cambria Math" panose="02040503050406030204" pitchFamily="18" charset="0"/>
                                </a:rPr>
                                <m:t>0</m:t>
                              </m:r>
                            </m:e>
                            <m:e>
                              <m:r>
                                <a:rPr lang="en-NL" i="0">
                                  <a:latin typeface="Cambria Math" panose="02040503050406030204" pitchFamily="18" charset="0"/>
                                </a:rPr>
                                <m:t>0</m:t>
                              </m:r>
                            </m:e>
                            <m:e>
                              <m:r>
                                <a:rPr lang="en-US" b="0" i="1" smtClean="0">
                                  <a:latin typeface="Cambria Math" panose="02040503050406030204" pitchFamily="18" charset="0"/>
                                </a:rPr>
                                <m:t>0  .</m:t>
                              </m:r>
                            </m:e>
                          </m:mr>
                          <m:mr>
                            <m:e>
                              <m:r>
                                <a:rPr lang="en-NL" i="1">
                                  <a:latin typeface="Cambria Math" panose="02040503050406030204" pitchFamily="18" charset="0"/>
                                </a:rPr>
                                <m:t>𝐺</m:t>
                              </m:r>
                              <m:d>
                                <m:dPr>
                                  <m:ctrlPr>
                                    <a:rPr lang="en-NL" i="1">
                                      <a:latin typeface="Cambria Math" panose="02040503050406030204" pitchFamily="18" charset="0"/>
                                    </a:rPr>
                                  </m:ctrlPr>
                                </m:dPr>
                                <m:e>
                                  <m:r>
                                    <a:rPr lang="en-US" b="0" i="1" smtClean="0">
                                      <a:latin typeface="Cambria Math" panose="02040503050406030204" pitchFamily="18" charset="0"/>
                                    </a:rPr>
                                    <m:t>1</m:t>
                                  </m:r>
                                </m:e>
                              </m:d>
                            </m:e>
                            <m:e>
                              <m:r>
                                <a:rPr lang="en-US" b="0" i="1" smtClean="0">
                                  <a:latin typeface="Cambria Math" panose="02040503050406030204" pitchFamily="18" charset="0"/>
                                </a:rPr>
                                <m:t>𝐺</m:t>
                              </m:r>
                              <m:r>
                                <a:rPr lang="en-US" b="0" i="1" smtClean="0">
                                  <a:latin typeface="Cambria Math" panose="02040503050406030204" pitchFamily="18" charset="0"/>
                                </a:rPr>
                                <m:t>(0)</m:t>
                              </m:r>
                            </m:e>
                            <m:e>
                              <m:r>
                                <a:rPr lang="en-NL" i="0">
                                  <a:latin typeface="Cambria Math" panose="02040503050406030204" pitchFamily="18" charset="0"/>
                                </a:rPr>
                                <m:t>0</m:t>
                              </m:r>
                            </m:e>
                            <m:e>
                              <m:r>
                                <a:rPr lang="en-NL" i="0">
                                  <a:latin typeface="Cambria Math" panose="02040503050406030204" pitchFamily="18" charset="0"/>
                                </a:rPr>
                                <m:t>0</m:t>
                              </m:r>
                              <m:r>
                                <a:rPr lang="en-US" b="0" i="0" smtClean="0">
                                  <a:latin typeface="Cambria Math" panose="02040503050406030204" pitchFamily="18" charset="0"/>
                                </a:rPr>
                                <m:t>  .</m:t>
                              </m:r>
                            </m:e>
                          </m:mr>
                          <m:mr>
                            <m:e>
                              <m:eqArr>
                                <m:eqArrPr>
                                  <m:ctrlPr>
                                    <a:rPr lang="en-NL" i="1">
                                      <a:latin typeface="Cambria Math" panose="02040503050406030204" pitchFamily="18" charset="0"/>
                                    </a:rPr>
                                  </m:ctrlPr>
                                </m:eqArrPr>
                                <m:e>
                                  <m:eqArr>
                                    <m:eqArrPr>
                                      <m:ctrlPr>
                                        <a:rPr lang="en-NL" i="1">
                                          <a:latin typeface="Cambria Math" panose="02040503050406030204" pitchFamily="18" charset="0"/>
                                        </a:rPr>
                                      </m:ctrlPr>
                                    </m:eqArrPr>
                                    <m:e>
                                      <m:r>
                                        <a:rPr lang="en-NL" i="1">
                                          <a:latin typeface="Cambria Math" panose="02040503050406030204" pitchFamily="18" charset="0"/>
                                        </a:rPr>
                                        <m:t>𝐺</m:t>
                                      </m:r>
                                      <m:d>
                                        <m:dPr>
                                          <m:ctrlPr>
                                            <a:rPr lang="en-NL" i="1">
                                              <a:latin typeface="Cambria Math" panose="02040503050406030204" pitchFamily="18" charset="0"/>
                                            </a:rPr>
                                          </m:ctrlPr>
                                        </m:dPr>
                                        <m:e>
                                          <m:r>
                                            <a:rPr lang="en-NL" i="0">
                                              <a:latin typeface="Cambria Math" panose="02040503050406030204" pitchFamily="18" charset="0"/>
                                            </a:rPr>
                                            <m:t>2</m:t>
                                          </m:r>
                                        </m:e>
                                      </m:d>
                                    </m:e>
                                    <m:e>
                                      <m:r>
                                        <a:rPr lang="en-US" b="0" i="1" smtClean="0">
                                          <a:latin typeface="Cambria Math" panose="02040503050406030204" pitchFamily="18" charset="0"/>
                                        </a:rPr>
                                        <m:t>.</m:t>
                                      </m:r>
                                    </m:e>
                                  </m:eqArr>
                                </m:e>
                                <m:e>
                                  <m:r>
                                    <a:rPr lang="en-US" b="0" i="1" smtClean="0">
                                      <a:latin typeface="Cambria Math" panose="02040503050406030204" pitchFamily="18" charset="0"/>
                                    </a:rPr>
                                    <m:t>.</m:t>
                                  </m:r>
                                </m:e>
                              </m:eqArr>
                            </m:e>
                            <m:e>
                              <m:eqArr>
                                <m:eqArrPr>
                                  <m:ctrlPr>
                                    <a:rPr lang="en-NL" i="1">
                                      <a:latin typeface="Cambria Math" panose="02040503050406030204" pitchFamily="18" charset="0"/>
                                    </a:rPr>
                                  </m:ctrlPr>
                                </m:eqArrPr>
                                <m:e>
                                  <m:eqArr>
                                    <m:eqArrPr>
                                      <m:ctrlPr>
                                        <a:rPr lang="en-NL" i="1">
                                          <a:latin typeface="Cambria Math" panose="02040503050406030204" pitchFamily="18" charset="0"/>
                                        </a:rPr>
                                      </m:ctrlPr>
                                    </m:eqArrPr>
                                    <m:e>
                                      <m:r>
                                        <a:rPr lang="en-NL" i="1">
                                          <a:latin typeface="Cambria Math" panose="02040503050406030204" pitchFamily="18" charset="0"/>
                                        </a:rPr>
                                        <m:t>𝐺</m:t>
                                      </m:r>
                                      <m:d>
                                        <m:dPr>
                                          <m:ctrlPr>
                                            <a:rPr lang="en-NL" i="1">
                                              <a:latin typeface="Cambria Math" panose="02040503050406030204" pitchFamily="18" charset="0"/>
                                            </a:rPr>
                                          </m:ctrlPr>
                                        </m:dPr>
                                        <m:e>
                                          <m:r>
                                            <a:rPr lang="en-US" b="0" i="1" smtClean="0">
                                              <a:latin typeface="Cambria Math" panose="02040503050406030204" pitchFamily="18" charset="0"/>
                                            </a:rPr>
                                            <m:t>1</m:t>
                                          </m:r>
                                        </m:e>
                                      </m:d>
                                    </m:e>
                                    <m:e>
                                      <m:r>
                                        <a:rPr lang="en-US" b="0" i="1" smtClean="0">
                                          <a:latin typeface="Cambria Math" panose="02040503050406030204" pitchFamily="18" charset="0"/>
                                        </a:rPr>
                                        <m:t>.</m:t>
                                      </m:r>
                                    </m:e>
                                  </m:eqArr>
                                </m:e>
                                <m:e>
                                  <m:r>
                                    <a:rPr lang="en-US" b="0" i="1" smtClean="0">
                                      <a:latin typeface="Cambria Math" panose="02040503050406030204" pitchFamily="18" charset="0"/>
                                    </a:rPr>
                                    <m:t>.</m:t>
                                  </m:r>
                                </m:e>
                              </m:eqArr>
                            </m:e>
                            <m:e>
                              <m:eqArr>
                                <m:eqArrPr>
                                  <m:ctrlPr>
                                    <a:rPr lang="en-NL" i="1">
                                      <a:latin typeface="Cambria Math" panose="02040503050406030204" pitchFamily="18" charset="0"/>
                                    </a:rPr>
                                  </m:ctrlPr>
                                </m:eqArrPr>
                                <m:e>
                                  <m:eqArr>
                                    <m:eqArrPr>
                                      <m:ctrlPr>
                                        <a:rPr lang="en-NL" i="1">
                                          <a:latin typeface="Cambria Math" panose="02040503050406030204" pitchFamily="18" charset="0"/>
                                        </a:rPr>
                                      </m:ctrlPr>
                                    </m:eqArrPr>
                                    <m:e>
                                      <m:r>
                                        <a:rPr lang="en-NL" i="1">
                                          <a:latin typeface="Cambria Math" panose="02040503050406030204" pitchFamily="18" charset="0"/>
                                        </a:rPr>
                                        <m:t>𝐺</m:t>
                                      </m:r>
                                      <m:d>
                                        <m:dPr>
                                          <m:ctrlPr>
                                            <a:rPr lang="en-NL" i="1">
                                              <a:latin typeface="Cambria Math" panose="02040503050406030204" pitchFamily="18" charset="0"/>
                                            </a:rPr>
                                          </m:ctrlPr>
                                        </m:dPr>
                                        <m:e>
                                          <m:r>
                                            <a:rPr lang="en-NL" i="0">
                                              <a:latin typeface="Cambria Math" panose="02040503050406030204" pitchFamily="18" charset="0"/>
                                            </a:rPr>
                                            <m:t>0</m:t>
                                          </m:r>
                                        </m:e>
                                      </m:d>
                                    </m:e>
                                    <m:e>
                                      <m:r>
                                        <a:rPr lang="en-US" b="0" i="1" smtClean="0">
                                          <a:latin typeface="Cambria Math" panose="02040503050406030204" pitchFamily="18" charset="0"/>
                                        </a:rPr>
                                        <m:t>.</m:t>
                                      </m:r>
                                    </m:e>
                                  </m:eqArr>
                                </m:e>
                                <m:e>
                                  <m:r>
                                    <a:rPr lang="en-US" b="0" i="1" smtClean="0">
                                      <a:latin typeface="Cambria Math" panose="02040503050406030204" pitchFamily="18" charset="0"/>
                                    </a:rPr>
                                    <m:t>.</m:t>
                                  </m:r>
                                </m:e>
                              </m:eqArr>
                            </m:e>
                            <m:e>
                              <m:eqArr>
                                <m:eqArrPr>
                                  <m:ctrlPr>
                                    <a:rPr lang="en-NL" i="1">
                                      <a:latin typeface="Cambria Math" panose="02040503050406030204" pitchFamily="18" charset="0"/>
                                    </a:rPr>
                                  </m:ctrlPr>
                                </m:eqArrPr>
                                <m:e>
                                  <m:eqArr>
                                    <m:eqArrPr>
                                      <m:ctrlPr>
                                        <a:rPr lang="en-NL" i="1">
                                          <a:latin typeface="Cambria Math" panose="02040503050406030204" pitchFamily="18" charset="0"/>
                                        </a:rPr>
                                      </m:ctrlPr>
                                    </m:eqArrPr>
                                    <m:e>
                                      <m:r>
                                        <a:rPr lang="en-NL" i="0">
                                          <a:latin typeface="Cambria Math" panose="02040503050406030204" pitchFamily="18" charset="0"/>
                                        </a:rPr>
                                        <m:t>0</m:t>
                                      </m:r>
                                      <m:r>
                                        <a:rPr lang="en-US" b="0" i="0" smtClean="0">
                                          <a:latin typeface="Cambria Math" panose="02040503050406030204" pitchFamily="18" charset="0"/>
                                        </a:rPr>
                                        <m:t>  .</m:t>
                                      </m:r>
                                    </m:e>
                                    <m:e>
                                      <m:r>
                                        <a:rPr lang="en-US" b="0" i="1" smtClean="0">
                                          <a:latin typeface="Cambria Math" panose="02040503050406030204" pitchFamily="18" charset="0"/>
                                        </a:rPr>
                                        <m:t>.    .</m:t>
                                      </m:r>
                                    </m:e>
                                  </m:eqArr>
                                </m:e>
                                <m:e>
                                  <m:r>
                                    <a:rPr lang="en-US" b="0" i="1" smtClean="0">
                                      <a:latin typeface="Cambria Math" panose="02040503050406030204" pitchFamily="18" charset="0"/>
                                    </a:rPr>
                                    <m:t>.    .</m:t>
                                  </m:r>
                                </m:e>
                              </m:eqArr>
                            </m:e>
                          </m:mr>
                        </m:m>
                      </m:e>
                    </m:d>
                  </m:oMath>
                </a14:m>
                <a:r>
                  <a:rPr lang="en-US"/>
                  <a:t>  where </a:t>
                </a:r>
                <a14:m>
                  <m:oMath xmlns:m="http://schemas.openxmlformats.org/officeDocument/2006/math">
                    <m:r>
                      <a:rPr lang="en-US" i="1" smtClean="0">
                        <a:latin typeface="Cambria Math" panose="02040503050406030204" pitchFamily="18" charset="0"/>
                      </a:rPr>
                      <m:t>𝐺</m:t>
                    </m:r>
                    <m:d>
                      <m:dPr>
                        <m:ctrlPr>
                          <a:rPr lang="en-US" i="1" smtClean="0">
                            <a:latin typeface="Cambria Math" panose="02040503050406030204" pitchFamily="18" charset="0"/>
                          </a:rPr>
                        </m:ctrlPr>
                      </m:dPr>
                      <m:e>
                        <m:r>
                          <a:rPr lang="en-US" i="1" smtClean="0">
                            <a:latin typeface="Cambria Math" panose="02040503050406030204" pitchFamily="18" charset="0"/>
                          </a:rPr>
                          <m:t>𝜏</m:t>
                        </m:r>
                      </m:e>
                    </m:d>
                    <m:r>
                      <a:rPr lang="en-US"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plcHide m:val="on"/>
                            <m:mcs>
                              <m:mc>
                                <m:mcPr>
                                  <m:count m:val="2"/>
                                  <m:mcJc m:val="center"/>
                                </m:mcPr>
                              </m:mc>
                            </m:mcs>
                            <m:ctrlPr>
                              <a:rPr lang="en-US" i="1" smtClean="0">
                                <a:latin typeface="Cambria Math" panose="02040503050406030204" pitchFamily="18" charset="0"/>
                              </a:rPr>
                            </m:ctrlPr>
                          </m:mPr>
                          <m:mr>
                            <m:e>
                              <m:sSub>
                                <m:sSubPr>
                                  <m:ctrlPr>
                                    <a:rPr lang="en-US" i="1" smtClean="0">
                                      <a:latin typeface="Cambria Math" panose="02040503050406030204" pitchFamily="18" charset="0"/>
                                    </a:rPr>
                                  </m:ctrlPr>
                                </m:sSubPr>
                                <m:e>
                                  <m:r>
                                    <a:rPr lang="en-US" i="1" smtClean="0">
                                      <a:latin typeface="Cambria Math" panose="02040503050406030204" pitchFamily="18" charset="0"/>
                                    </a:rPr>
                                    <m:t>𝑔</m:t>
                                  </m:r>
                                </m:e>
                                <m:sub>
                                  <m:r>
                                    <a:rPr lang="en-US" i="1" smtClean="0">
                                      <a:latin typeface="Cambria Math" panose="02040503050406030204" pitchFamily="18" charset="0"/>
                                    </a:rPr>
                                    <m:t>𝑥𝑥</m:t>
                                  </m:r>
                                </m:sub>
                              </m:sSub>
                            </m:e>
                            <m:e>
                              <m:sSub>
                                <m:sSubPr>
                                  <m:ctrlPr>
                                    <a:rPr lang="en-US" i="1" smtClean="0">
                                      <a:latin typeface="Cambria Math" panose="02040503050406030204" pitchFamily="18" charset="0"/>
                                    </a:rPr>
                                  </m:ctrlPr>
                                </m:sSubPr>
                                <m:e>
                                  <m:r>
                                    <a:rPr lang="en-US" i="1" smtClean="0">
                                      <a:latin typeface="Cambria Math" panose="02040503050406030204" pitchFamily="18" charset="0"/>
                                    </a:rPr>
                                    <m:t>𝑔</m:t>
                                  </m:r>
                                </m:e>
                                <m:sub>
                                  <m:r>
                                    <a:rPr lang="en-US" i="1" smtClean="0">
                                      <a:latin typeface="Cambria Math" panose="02040503050406030204" pitchFamily="18" charset="0"/>
                                    </a:rPr>
                                    <m:t>𝑥</m:t>
                                  </m:r>
                                  <m:r>
                                    <a:rPr lang="en-US" i="1" smtClean="0">
                                      <a:latin typeface="Cambria Math" panose="02040503050406030204" pitchFamily="18" charset="0"/>
                                    </a:rPr>
                                    <m:t>𝜑</m:t>
                                  </m:r>
                                </m:sub>
                              </m:sSub>
                            </m:e>
                          </m:mr>
                          <m:mr>
                            <m:e>
                              <m:sSub>
                                <m:sSubPr>
                                  <m:ctrlPr>
                                    <a:rPr lang="en-US" i="1" smtClean="0">
                                      <a:latin typeface="Cambria Math" panose="02040503050406030204" pitchFamily="18" charset="0"/>
                                    </a:rPr>
                                  </m:ctrlPr>
                                </m:sSubPr>
                                <m:e>
                                  <m:r>
                                    <a:rPr lang="en-US" i="1" smtClean="0">
                                      <a:latin typeface="Cambria Math" panose="02040503050406030204" pitchFamily="18" charset="0"/>
                                    </a:rPr>
                                    <m:t>𝑔</m:t>
                                  </m:r>
                                </m:e>
                                <m:sub>
                                  <m:r>
                                    <a:rPr lang="en-US" i="1" smtClean="0">
                                      <a:latin typeface="Cambria Math" panose="02040503050406030204" pitchFamily="18" charset="0"/>
                                    </a:rPr>
                                    <m:t>𝜑</m:t>
                                  </m:r>
                                  <m:r>
                                    <a:rPr lang="en-US" i="1" smtClean="0">
                                      <a:latin typeface="Cambria Math" panose="02040503050406030204" pitchFamily="18" charset="0"/>
                                    </a:rPr>
                                    <m:t>𝑥</m:t>
                                  </m:r>
                                </m:sub>
                              </m:sSub>
                            </m:e>
                            <m:e>
                              <m:sSub>
                                <m:sSubPr>
                                  <m:ctrlPr>
                                    <a:rPr lang="en-US" i="1" smtClean="0">
                                      <a:latin typeface="Cambria Math" panose="02040503050406030204" pitchFamily="18" charset="0"/>
                                    </a:rPr>
                                  </m:ctrlPr>
                                </m:sSubPr>
                                <m:e>
                                  <m:r>
                                    <a:rPr lang="en-US" i="1" smtClean="0">
                                      <a:latin typeface="Cambria Math" panose="02040503050406030204" pitchFamily="18" charset="0"/>
                                    </a:rPr>
                                    <m:t>𝑔</m:t>
                                  </m:r>
                                </m:e>
                                <m:sub>
                                  <m:r>
                                    <a:rPr lang="en-US" i="1" smtClean="0">
                                      <a:latin typeface="Cambria Math" panose="02040503050406030204" pitchFamily="18" charset="0"/>
                                    </a:rPr>
                                    <m:t>𝜑𝜑</m:t>
                                  </m:r>
                                </m:sub>
                              </m:sSub>
                            </m:e>
                          </m:mr>
                        </m:m>
                      </m:e>
                    </m:d>
                  </m:oMath>
                </a14:m>
                <a:r>
                  <a:rPr lang="en-US"/>
                  <a:t> </a:t>
                </a:r>
                <a:endParaRPr lang="en-NL"/>
              </a:p>
            </p:txBody>
          </p:sp>
        </mc:Choice>
        <mc:Fallback xmlns="">
          <p:sp>
            <p:nvSpPr>
              <p:cNvPr id="9" name="TextBox 8">
                <a:extLst>
                  <a:ext uri="{FF2B5EF4-FFF2-40B4-BE49-F238E27FC236}">
                    <a16:creationId xmlns:a16="http://schemas.microsoft.com/office/drawing/2014/main" id="{31973E61-1485-9776-DFE2-7F989DE9B1FD}"/>
                  </a:ext>
                </a:extLst>
              </p:cNvPr>
              <p:cNvSpPr txBox="1">
                <a:spLocks noRot="1" noChangeAspect="1" noMove="1" noResize="1" noEditPoints="1" noAdjustHandles="1" noChangeArrowheads="1" noChangeShapeType="1" noTextEdit="1"/>
              </p:cNvSpPr>
              <p:nvPr/>
            </p:nvSpPr>
            <p:spPr>
              <a:xfrm>
                <a:off x="4525021" y="1201122"/>
                <a:ext cx="5165987" cy="88261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7C6BB96-978C-E28C-2DC8-906641114BAF}"/>
                  </a:ext>
                </a:extLst>
              </p:cNvPr>
              <p:cNvSpPr txBox="1"/>
              <p:nvPr/>
            </p:nvSpPr>
            <p:spPr>
              <a:xfrm>
                <a:off x="601169" y="2198476"/>
                <a:ext cx="4388625" cy="2006768"/>
              </a:xfrm>
              <a:prstGeom prst="rect">
                <a:avLst/>
              </a:prstGeom>
              <a:noFill/>
            </p:spPr>
            <p:txBody>
              <a:bodyPr wrap="square" lIns="0" tIns="0" rIns="0" bIns="0" rtlCol="0">
                <a:spAutoFit/>
              </a:bodyPr>
              <a:lstStyle/>
              <a:p>
                <a:pPr>
                  <a:lnSpc>
                    <a:spcPct val="150000"/>
                  </a:lnSpc>
                </a:pPr>
                <a14:m>
                  <m:oMath xmlns:m="http://schemas.openxmlformats.org/officeDocument/2006/math">
                    <m:sSub>
                      <m:sSubPr>
                        <m:ctrlPr>
                          <a:rPr lang="en-NL" i="1" smtClean="0">
                            <a:latin typeface="Cambria Math" panose="02040503050406030204" pitchFamily="18" charset="0"/>
                          </a:rPr>
                        </m:ctrlPr>
                      </m:sSubPr>
                      <m:e>
                        <m:r>
                          <a:rPr lang="en-NL" i="1" smtClean="0">
                            <a:latin typeface="Cambria Math" panose="02040503050406030204" pitchFamily="18" charset="0"/>
                          </a:rPr>
                          <m:t>𝑊</m:t>
                        </m:r>
                      </m:e>
                      <m:sub>
                        <m:r>
                          <a:rPr lang="en-NL" i="1" smtClean="0">
                            <a:latin typeface="Cambria Math" panose="02040503050406030204" pitchFamily="18" charset="0"/>
                          </a:rPr>
                          <m:t>𝑒</m:t>
                        </m:r>
                      </m:sub>
                    </m:sSub>
                    <m:r>
                      <a:rPr lang="en-NL" i="1" smtClean="0">
                        <a:latin typeface="Cambria Math" panose="02040503050406030204" pitchFamily="18" charset="0"/>
                      </a:rPr>
                      <m:t>=</m:t>
                    </m:r>
                    <m:d>
                      <m:dPr>
                        <m:begChr m:val="["/>
                        <m:endChr m:val="]"/>
                        <m:ctrlPr>
                          <a:rPr lang="en-NL" i="1" smtClean="0">
                            <a:latin typeface="Cambria Math" panose="02040503050406030204" pitchFamily="18" charset="0"/>
                          </a:rPr>
                        </m:ctrlPr>
                      </m:dPr>
                      <m:e>
                        <m:eqArr>
                          <m:eqArrPr>
                            <m:ctrlPr>
                              <a:rPr lang="en-NL" i="1" smtClean="0">
                                <a:latin typeface="Cambria Math" panose="02040503050406030204" pitchFamily="18" charset="0"/>
                              </a:rPr>
                            </m:ctrlPr>
                          </m:eqArrPr>
                          <m:e>
                            <m:m>
                              <m:mPr>
                                <m:mcs>
                                  <m:mc>
                                    <m:mcPr>
                                      <m:count m:val="2"/>
                                      <m:mcJc m:val="center"/>
                                    </m:mcPr>
                                  </m:mc>
                                </m:mcs>
                                <m:ctrlPr>
                                  <a:rPr lang="en-NL" i="1" smtClean="0">
                                    <a:latin typeface="Cambria Math" panose="02040503050406030204" pitchFamily="18" charset="0"/>
                                  </a:rPr>
                                </m:ctrlPr>
                              </m:mPr>
                              <m:mr>
                                <m:e>
                                  <m:sSub>
                                    <m:sSubPr>
                                      <m:ctrlPr>
                                        <a:rPr lang="en-NL" i="1" smtClean="0">
                                          <a:latin typeface="Cambria Math" panose="02040503050406030204" pitchFamily="18" charset="0"/>
                                        </a:rPr>
                                      </m:ctrlPr>
                                    </m:sSubPr>
                                    <m:e>
                                      <m:r>
                                        <a:rPr lang="en-NL" i="1" smtClean="0">
                                          <a:latin typeface="Cambria Math" panose="02040503050406030204" pitchFamily="18" charset="0"/>
                                        </a:rPr>
                                        <m:t>𝜔</m:t>
                                      </m:r>
                                    </m:e>
                                    <m:sub>
                                      <m:r>
                                        <a:rPr lang="en-NL" i="1" smtClean="0">
                                          <a:latin typeface="Cambria Math" panose="02040503050406030204" pitchFamily="18" charset="0"/>
                                        </a:rPr>
                                        <m:t>𝑒</m:t>
                                      </m:r>
                                      <m:r>
                                        <a:rPr lang="en-NL" i="1" smtClean="0">
                                          <a:latin typeface="Cambria Math" panose="02040503050406030204" pitchFamily="18" charset="0"/>
                                        </a:rPr>
                                        <m:t>,</m:t>
                                      </m:r>
                                      <m:r>
                                        <a:rPr lang="en-NL" i="1" smtClean="0">
                                          <a:latin typeface="Cambria Math" panose="02040503050406030204" pitchFamily="18" charset="0"/>
                                        </a:rPr>
                                        <m:t>𝑥</m:t>
                                      </m:r>
                                    </m:sub>
                                  </m:sSub>
                                </m:e>
                                <m:e>
                                  <m:r>
                                    <a:rPr lang="en-NL" i="1" smtClean="0">
                                      <a:latin typeface="Cambria Math" panose="02040503050406030204" pitchFamily="18" charset="0"/>
                                    </a:rPr>
                                    <m:t>0</m:t>
                                  </m:r>
                                </m:e>
                              </m:mr>
                              <m:mr>
                                <m:e>
                                  <m:r>
                                    <a:rPr lang="en-NL" i="1" smtClean="0">
                                      <a:latin typeface="Cambria Math" panose="02040503050406030204" pitchFamily="18" charset="0"/>
                                    </a:rPr>
                                    <m:t>0</m:t>
                                  </m:r>
                                </m:e>
                                <m:e>
                                  <m:sSub>
                                    <m:sSubPr>
                                      <m:ctrlPr>
                                        <a:rPr lang="en-NL" i="1" smtClean="0">
                                          <a:latin typeface="Cambria Math" panose="02040503050406030204" pitchFamily="18" charset="0"/>
                                        </a:rPr>
                                      </m:ctrlPr>
                                    </m:sSubPr>
                                    <m:e>
                                      <m:r>
                                        <a:rPr lang="en-NL" i="1" smtClean="0">
                                          <a:latin typeface="Cambria Math" panose="02040503050406030204" pitchFamily="18" charset="0"/>
                                        </a:rPr>
                                        <m:t>𝜔</m:t>
                                      </m:r>
                                    </m:e>
                                    <m:sub>
                                      <m:r>
                                        <a:rPr lang="en-NL" i="1" smtClean="0">
                                          <a:latin typeface="Cambria Math" panose="02040503050406030204" pitchFamily="18" charset="0"/>
                                        </a:rPr>
                                        <m:t>𝑒</m:t>
                                      </m:r>
                                      <m:r>
                                        <a:rPr lang="en-NL" i="1" smtClean="0">
                                          <a:latin typeface="Cambria Math" panose="02040503050406030204" pitchFamily="18" charset="0"/>
                                        </a:rPr>
                                        <m:t>,</m:t>
                                      </m:r>
                                      <m:r>
                                        <a:rPr lang="en-NL" i="1" smtClean="0">
                                          <a:latin typeface="Cambria Math" panose="02040503050406030204" pitchFamily="18" charset="0"/>
                                        </a:rPr>
                                        <m:t>𝜑</m:t>
                                      </m:r>
                                    </m:sub>
                                  </m:sSub>
                                </m:e>
                              </m:mr>
                              <m:mr>
                                <m:e>
                                  <m:r>
                                    <a:rPr lang="en-NL" i="1" smtClean="0">
                                      <a:latin typeface="Cambria Math" panose="02040503050406030204" pitchFamily="18" charset="0"/>
                                    </a:rPr>
                                    <m:t>⋮</m:t>
                                  </m:r>
                                </m:e>
                                <m:e>
                                  <m:r>
                                    <a:rPr lang="en-NL" i="1" smtClean="0">
                                      <a:latin typeface="Cambria Math" panose="02040503050406030204" pitchFamily="18" charset="0"/>
                                    </a:rPr>
                                    <m:t>⋱</m:t>
                                  </m:r>
                                </m:e>
                              </m:mr>
                              <m:mr>
                                <m:e>
                                  <m:r>
                                    <a:rPr lang="en-US" b="0" i="1" smtClean="0">
                                      <a:latin typeface="Cambria Math" panose="02040503050406030204" pitchFamily="18" charset="0"/>
                                    </a:rPr>
                                    <m:t>0</m:t>
                                  </m:r>
                                </m:e>
                                <m:e>
                                  <m:r>
                                    <a:rPr lang="en-US" b="0" i="1" smtClean="0">
                                      <a:latin typeface="Cambria Math" panose="02040503050406030204" pitchFamily="18" charset="0"/>
                                    </a:rPr>
                                    <m:t>⋯</m:t>
                                  </m:r>
                                </m:e>
                              </m:mr>
                              <m:mr>
                                <m:e>
                                  <m:r>
                                    <a:rPr lang="en-US" b="0" i="1" smtClean="0">
                                      <a:latin typeface="Cambria Math" panose="02040503050406030204" pitchFamily="18" charset="0"/>
                                    </a:rPr>
                                    <m:t>0</m:t>
                                  </m:r>
                                </m:e>
                                <m:e>
                                  <m:r>
                                    <a:rPr lang="en-US" b="0" i="1" smtClean="0">
                                      <a:latin typeface="Cambria Math" panose="02040503050406030204" pitchFamily="18" charset="0"/>
                                    </a:rPr>
                                    <m:t>⋯</m:t>
                                  </m:r>
                                </m:e>
                              </m:mr>
                            </m:m>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 </m:t>
                                  </m:r>
                                  <m:r>
                                    <a:rPr lang="en-US" b="0" i="1" smtClean="0">
                                      <a:latin typeface="Cambria Math" panose="02040503050406030204" pitchFamily="18" charset="0"/>
                                    </a:rPr>
                                    <m:t> </m:t>
                                  </m:r>
                                  <m:eqArr>
                                    <m:eqArrPr>
                                      <m:ctrlPr>
                                        <a:rPr lang="en-US" i="1">
                                          <a:latin typeface="Cambria Math" panose="02040503050406030204" pitchFamily="18" charset="0"/>
                                        </a:rPr>
                                      </m:ctrlPr>
                                    </m:eqArrPr>
                                    <m:e>
                                      <m:r>
                                        <a:rPr lang="en-US" i="1">
                                          <a:latin typeface="Cambria Math" panose="02040503050406030204" pitchFamily="18" charset="0"/>
                                        </a:rPr>
                                        <m:t>0</m:t>
                                      </m:r>
                                    </m:e>
                                    <m:e>
                                      <m:r>
                                        <a:rPr lang="en-US" i="1">
                                          <a:latin typeface="Cambria Math" panose="02040503050406030204" pitchFamily="18" charset="0"/>
                                        </a:rPr>
                                        <m:t>0</m:t>
                                      </m:r>
                                    </m:e>
                                  </m:eqArr>
                                </m:e>
                              </m:mr>
                              <m:mr>
                                <m:e>
                                  <m:r>
                                    <a:rPr lang="en-US" b="0" i="1" smtClean="0">
                                      <a:latin typeface="Cambria Math" panose="02040503050406030204" pitchFamily="18" charset="0"/>
                                    </a:rPr>
                                    <m:t>  </m:t>
                                  </m:r>
                                  <m:eqArr>
                                    <m:eqArrPr>
                                      <m:ctrlPr>
                                        <a:rPr lang="en-US" b="0" i="1">
                                          <a:latin typeface="Cambria Math" panose="02040503050406030204" pitchFamily="18" charset="0"/>
                                        </a:rPr>
                                      </m:ctrlPr>
                                    </m:eqArrPr>
                                    <m:e>
                                      <m:r>
                                        <a:rPr lang="en-US" b="0" i="1" smtClean="0">
                                          <a:latin typeface="Cambria Math" panose="02040503050406030204" pitchFamily="18" charset="0"/>
                                        </a:rPr>
                                        <m:t> </m:t>
                                      </m:r>
                                    </m:e>
                                    <m:e>
                                      <m:r>
                                        <a:rPr lang="en-US" i="1" smtClean="0">
                                          <a:latin typeface="Cambria Math" panose="02040503050406030204" pitchFamily="18" charset="0"/>
                                        </a:rPr>
                                        <m:t>⋱</m:t>
                                      </m:r>
                                    </m:e>
                                    <m:e>
                                      <m:r>
                                        <a:rPr lang="en-US" i="1">
                                          <a:latin typeface="Cambria Math" panose="02040503050406030204" pitchFamily="18" charset="0"/>
                                        </a:rPr>
                                        <m:t>0</m:t>
                                      </m:r>
                                    </m:e>
                                    <m:e>
                                      <m:r>
                                        <a:rPr lang="en-US" b="0" i="1" smtClean="0">
                                          <a:latin typeface="Cambria Math" panose="02040503050406030204" pitchFamily="18" charset="0"/>
                                        </a:rPr>
                                        <m:t>0</m:t>
                                      </m:r>
                                    </m:e>
                                  </m:eqArr>
                                </m:e>
                              </m:mr>
                            </m:m>
                            <m:m>
                              <m:mPr>
                                <m:mcs>
                                  <m:mc>
                                    <m:mcPr>
                                      <m:count m:val="1"/>
                                      <m:mcJc m:val="center"/>
                                    </m:mcPr>
                                  </m:mc>
                                </m:mcs>
                                <m:ctrlPr>
                                  <a:rPr lang="en-US" i="1">
                                    <a:latin typeface="Cambria Math" panose="02040503050406030204" pitchFamily="18" charset="0"/>
                                  </a:rPr>
                                </m:ctrlPr>
                              </m:mPr>
                              <m:mr>
                                <m:e>
                                  <m:eqArr>
                                    <m:eqArrPr>
                                      <m:ctrlPr>
                                        <a:rPr lang="en-US" i="1">
                                          <a:latin typeface="Cambria Math" panose="02040503050406030204" pitchFamily="18" charset="0"/>
                                        </a:rPr>
                                      </m:ctrlPr>
                                    </m:eqArrPr>
                                    <m:e>
                                      <m:r>
                                        <a:rPr lang="en-US" i="1" smtClean="0">
                                          <a:latin typeface="Cambria Math" panose="02040503050406030204" pitchFamily="18" charset="0"/>
                                        </a:rPr>
                                        <m:t>⋯</m:t>
                                      </m:r>
                                    </m:e>
                                    <m:e>
                                      <m:r>
                                        <a:rPr lang="en-US" i="1" smtClean="0">
                                          <a:latin typeface="Cambria Math" panose="02040503050406030204" pitchFamily="18" charset="0"/>
                                        </a:rPr>
                                        <m:t>⋯</m:t>
                                      </m:r>
                                    </m:e>
                                  </m:eqArr>
                                </m:e>
                              </m:mr>
                              <m:m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 </m:t>
                                      </m:r>
                                    </m:e>
                                    <m:e>
                                      <m:r>
                                        <a:rPr lang="en-US" i="1" smtClean="0">
                                          <a:latin typeface="Cambria Math" panose="02040503050406030204" pitchFamily="18" charset="0"/>
                                        </a:rPr>
                                        <m:t>⋱</m:t>
                                      </m:r>
                                    </m:e>
                                    <m:e>
                                      <m:sSub>
                                        <m:sSubPr>
                                          <m:ctrlPr>
                                            <a:rPr lang="en-NL" i="1">
                                              <a:latin typeface="Cambria Math" panose="02040503050406030204" pitchFamily="18" charset="0"/>
                                            </a:rPr>
                                          </m:ctrlPr>
                                        </m:sSubPr>
                                        <m:e>
                                          <m:r>
                                            <a:rPr lang="en-US" b="0" i="1" smtClean="0">
                                              <a:latin typeface="Cambria Math" panose="02040503050406030204" pitchFamily="18" charset="0"/>
                                            </a:rPr>
                                            <m:t> </m:t>
                                          </m:r>
                                          <m:r>
                                            <a:rPr lang="en-NL" i="1">
                                              <a:latin typeface="Cambria Math" panose="02040503050406030204" pitchFamily="18" charset="0"/>
                                            </a:rPr>
                                            <m:t>𝜔</m:t>
                                          </m:r>
                                        </m:e>
                                        <m:sub>
                                          <m:r>
                                            <a:rPr lang="en-NL" i="1">
                                              <a:latin typeface="Cambria Math" panose="02040503050406030204" pitchFamily="18" charset="0"/>
                                            </a:rPr>
                                            <m:t>𝑒</m:t>
                                          </m:r>
                                          <m:r>
                                            <a:rPr lang="en-NL" i="1">
                                              <a:latin typeface="Cambria Math" panose="02040503050406030204" pitchFamily="18" charset="0"/>
                                            </a:rPr>
                                            <m:t>,</m:t>
                                          </m:r>
                                          <m:r>
                                            <a:rPr lang="en-NL" i="1">
                                              <a:latin typeface="Cambria Math" panose="02040503050406030204" pitchFamily="18" charset="0"/>
                                            </a:rPr>
                                            <m:t>𝑥</m:t>
                                          </m:r>
                                        </m:sub>
                                      </m:sSub>
                                    </m:e>
                                    <m:e>
                                      <m:r>
                                        <a:rPr lang="en-US" b="0" i="1" smtClean="0">
                                          <a:latin typeface="Cambria Math" panose="02040503050406030204" pitchFamily="18" charset="0"/>
                                        </a:rPr>
                                        <m:t>0</m:t>
                                      </m:r>
                                    </m:e>
                                  </m:eqArr>
                                </m:e>
                              </m:mr>
                            </m:m>
                            <m:m>
                              <m:mPr>
                                <m:mcs>
                                  <m:mc>
                                    <m:mcPr>
                                      <m:count m:val="1"/>
                                      <m:mcJc m:val="center"/>
                                    </m:mcPr>
                                  </m:mc>
                                </m:mcs>
                                <m:ctrlPr>
                                  <a:rPr lang="en-US" i="1">
                                    <a:latin typeface="Cambria Math" panose="02040503050406030204" pitchFamily="18" charset="0"/>
                                  </a:rPr>
                                </m:ctrlPr>
                              </m:mPr>
                              <m:mr>
                                <m:e>
                                  <m:eqArr>
                                    <m:eqArrPr>
                                      <m:ctrlPr>
                                        <a:rPr lang="en-US" i="1">
                                          <a:latin typeface="Cambria Math" panose="02040503050406030204" pitchFamily="18" charset="0"/>
                                        </a:rPr>
                                      </m:ctrlPr>
                                    </m:eqArrPr>
                                    <m:e>
                                      <m:r>
                                        <a:rPr lang="en-US" b="0" i="1" smtClean="0">
                                          <a:latin typeface="Cambria Math" panose="02040503050406030204" pitchFamily="18" charset="0"/>
                                        </a:rPr>
                                        <m:t>0</m:t>
                                      </m:r>
                                    </m:e>
                                    <m:e>
                                      <m:r>
                                        <a:rPr lang="en-US" b="0" i="1" smtClean="0">
                                          <a:latin typeface="Cambria Math" panose="02040503050406030204" pitchFamily="18" charset="0"/>
                                        </a:rPr>
                                        <m:t>0</m:t>
                                      </m:r>
                                    </m:e>
                                  </m:eqArr>
                                </m:e>
                              </m:mr>
                              <m:mr>
                                <m:e>
                                  <m:eqArr>
                                    <m:eqArrPr>
                                      <m:ctrlPr>
                                        <a:rPr lang="en-US" i="1">
                                          <a:latin typeface="Cambria Math" panose="02040503050406030204" pitchFamily="18" charset="0"/>
                                        </a:rPr>
                                      </m:ctrlPr>
                                    </m:eqArrPr>
                                    <m:e>
                                      <m:r>
                                        <a:rPr lang="en-US" b="0" i="1" smtClean="0">
                                          <a:latin typeface="Cambria Math" panose="02040503050406030204" pitchFamily="18" charset="0"/>
                                        </a:rPr>
                                        <m:t>0</m:t>
                                      </m:r>
                                    </m:e>
                                    <m:e>
                                      <m:r>
                                        <a:rPr lang="en-US" b="0" i="1" smtClean="0">
                                          <a:latin typeface="Cambria Math" panose="02040503050406030204" pitchFamily="18" charset="0"/>
                                        </a:rPr>
                                        <m:t>0</m:t>
                                      </m:r>
                                    </m:e>
                                    <m:e>
                                      <m:sSub>
                                        <m:sSubPr>
                                          <m:ctrlPr>
                                            <a:rPr lang="en-NL" i="1">
                                              <a:latin typeface="Cambria Math" panose="02040503050406030204" pitchFamily="18" charset="0"/>
                                            </a:rPr>
                                          </m:ctrlPr>
                                        </m:sSubPr>
                                        <m:e>
                                          <m:r>
                                            <a:rPr lang="en-NL" i="1">
                                              <a:latin typeface="Cambria Math" panose="02040503050406030204" pitchFamily="18" charset="0"/>
                                            </a:rPr>
                                            <m:t>𝜔</m:t>
                                          </m:r>
                                        </m:e>
                                        <m:sub>
                                          <m:r>
                                            <a:rPr lang="en-NL" i="1">
                                              <a:latin typeface="Cambria Math" panose="02040503050406030204" pitchFamily="18" charset="0"/>
                                            </a:rPr>
                                            <m:t>𝑒</m:t>
                                          </m:r>
                                          <m:r>
                                            <a:rPr lang="en-NL" i="1">
                                              <a:latin typeface="Cambria Math" panose="02040503050406030204" pitchFamily="18" charset="0"/>
                                            </a:rPr>
                                            <m:t>,</m:t>
                                          </m:r>
                                          <m:r>
                                            <a:rPr lang="en-NL" i="1">
                                              <a:latin typeface="Cambria Math" panose="02040503050406030204" pitchFamily="18" charset="0"/>
                                            </a:rPr>
                                            <m:t>𝜑</m:t>
                                          </m:r>
                                        </m:sub>
                                      </m:sSub>
                                    </m:e>
                                  </m:eqArr>
                                </m:e>
                              </m:mr>
                            </m:m>
                          </m:e>
                          <m:e>
                            <m:r>
                              <a:rPr lang="en-US" b="0" i="1" smtClean="0">
                                <a:latin typeface="Cambria Math" panose="02040503050406030204" pitchFamily="18" charset="0"/>
                              </a:rPr>
                              <m:t>     </m:t>
                            </m:r>
                          </m:e>
                        </m:eqArr>
                      </m:e>
                    </m:d>
                  </m:oMath>
                </a14:m>
                <a:r>
                  <a:rPr lang="en-US"/>
                  <a:t> </a:t>
                </a:r>
              </a:p>
              <a:p>
                <a:pPr>
                  <a:lnSpc>
                    <a:spcPct val="150000"/>
                  </a:lnSpc>
                </a:pPr>
                <a:r>
                  <a:rPr lang="en-US"/>
                  <a:t>with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𝜔</m:t>
                        </m:r>
                      </m:e>
                      <m:sub>
                        <m:r>
                          <a:rPr lang="en-NL" i="1">
                            <a:latin typeface="Cambria Math" panose="02040503050406030204" pitchFamily="18" charset="0"/>
                          </a:rPr>
                          <m:t>𝑒</m:t>
                        </m:r>
                        <m:r>
                          <a:rPr lang="en-NL" i="1">
                            <a:latin typeface="Cambria Math" panose="02040503050406030204" pitchFamily="18" charset="0"/>
                          </a:rPr>
                          <m:t>,</m:t>
                        </m:r>
                        <m:r>
                          <a:rPr lang="en-NL" i="1">
                            <a:latin typeface="Cambria Math" panose="02040503050406030204" pitchFamily="18" charset="0"/>
                          </a:rPr>
                          <m:t>𝑥</m:t>
                        </m:r>
                      </m:sub>
                    </m:sSub>
                    <m:r>
                      <a:rPr lang="en-US" b="0" i="1" smtClean="0">
                        <a:latin typeface="Cambria Math" panose="02040503050406030204" pitchFamily="18" charset="0"/>
                      </a:rPr>
                      <m:t>=1 </m:t>
                    </m:r>
                  </m:oMath>
                </a14:m>
                <a:r>
                  <a:rPr lang="en-US"/>
                  <a:t>and </a:t>
                </a:r>
                <a14:m>
                  <m:oMath xmlns:m="http://schemas.openxmlformats.org/officeDocument/2006/math">
                    <m:sSub>
                      <m:sSubPr>
                        <m:ctrlPr>
                          <a:rPr lang="en-NL" i="1" smtClean="0">
                            <a:latin typeface="Cambria Math" panose="02040503050406030204" pitchFamily="18" charset="0"/>
                          </a:rPr>
                        </m:ctrlPr>
                      </m:sSubPr>
                      <m:e>
                        <m:r>
                          <a:rPr lang="en-NL" i="1">
                            <a:latin typeface="Cambria Math" panose="02040503050406030204" pitchFamily="18" charset="0"/>
                          </a:rPr>
                          <m:t>𝜔</m:t>
                        </m:r>
                      </m:e>
                      <m:sub>
                        <m:r>
                          <a:rPr lang="en-NL" i="1">
                            <a:latin typeface="Cambria Math" panose="02040503050406030204" pitchFamily="18" charset="0"/>
                          </a:rPr>
                          <m:t>𝑒</m:t>
                        </m:r>
                        <m:r>
                          <a:rPr lang="en-NL" i="1">
                            <a:latin typeface="Cambria Math" panose="02040503050406030204" pitchFamily="18" charset="0"/>
                          </a:rPr>
                          <m:t>,</m:t>
                        </m:r>
                        <m:r>
                          <a:rPr lang="en-NL" i="1">
                            <a:latin typeface="Cambria Math" panose="02040503050406030204" pitchFamily="18" charset="0"/>
                          </a:rPr>
                          <m:t>𝜑</m:t>
                        </m:r>
                      </m:sub>
                    </m:sSub>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r>
                          <a:rPr lang="en-US" b="0" i="1" smtClean="0">
                            <a:latin typeface="Cambria Math" panose="02040503050406030204" pitchFamily="18" charset="0"/>
                          </a:rPr>
                          <m:t>2</m:t>
                        </m:r>
                      </m:den>
                    </m:f>
                    <m:f>
                      <m:fPr>
                        <m:ctrlPr>
                          <a:rPr lang="en-US" b="0" i="1" smtClean="0">
                            <a:latin typeface="Cambria Math" panose="02040503050406030204" pitchFamily="18" charset="0"/>
                          </a:rPr>
                        </m:ctrlPr>
                      </m:fPr>
                      <m:num>
                        <m:r>
                          <m:rPr>
                            <m:sty m:val="p"/>
                          </m:rPr>
                          <a:rPr lang="en-US" b="0" i="1" smtClean="0">
                            <a:latin typeface="Cambria Math" panose="02040503050406030204" pitchFamily="18" charset="0"/>
                          </a:rPr>
                          <m:t>π</m:t>
                        </m:r>
                      </m:num>
                      <m:den>
                        <m:r>
                          <a:rPr lang="en-US" b="0" i="1" smtClean="0">
                            <a:latin typeface="Cambria Math" panose="02040503050406030204" pitchFamily="18" charset="0"/>
                          </a:rPr>
                          <m:t>180</m:t>
                        </m:r>
                      </m:den>
                    </m:f>
                  </m:oMath>
                </a14:m>
                <a:endParaRPr lang="en-NL"/>
              </a:p>
            </p:txBody>
          </p:sp>
        </mc:Choice>
        <mc:Fallback xmlns="">
          <p:sp>
            <p:nvSpPr>
              <p:cNvPr id="15" name="TextBox 14">
                <a:extLst>
                  <a:ext uri="{FF2B5EF4-FFF2-40B4-BE49-F238E27FC236}">
                    <a16:creationId xmlns:a16="http://schemas.microsoft.com/office/drawing/2014/main" id="{17C6BB96-978C-E28C-2DC8-906641114BAF}"/>
                  </a:ext>
                </a:extLst>
              </p:cNvPr>
              <p:cNvSpPr txBox="1">
                <a:spLocks noRot="1" noChangeAspect="1" noMove="1" noResize="1" noEditPoints="1" noAdjustHandles="1" noChangeArrowheads="1" noChangeShapeType="1" noTextEdit="1"/>
              </p:cNvSpPr>
              <p:nvPr/>
            </p:nvSpPr>
            <p:spPr>
              <a:xfrm>
                <a:off x="601169" y="2198476"/>
                <a:ext cx="4388625" cy="2006768"/>
              </a:xfrm>
              <a:prstGeom prst="rect">
                <a:avLst/>
              </a:prstGeom>
              <a:blipFill>
                <a:blip r:embed="rId7"/>
                <a:stretch>
                  <a:fillRect l="-2500" b="-24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E7383B3-C0E0-79E5-C81E-6CC90BE102F6}"/>
                  </a:ext>
                </a:extLst>
              </p:cNvPr>
              <p:cNvSpPr txBox="1"/>
              <p:nvPr/>
            </p:nvSpPr>
            <p:spPr>
              <a:xfrm>
                <a:off x="3281020" y="2627110"/>
                <a:ext cx="5375300" cy="17597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NL" i="1" smtClean="0">
                          <a:latin typeface="Cambria Math" panose="02040503050406030204" pitchFamily="18" charset="0"/>
                        </a:rPr>
                        <m:t>𝛹</m:t>
                      </m:r>
                      <m:r>
                        <a:rPr lang="en-NL" i="1" smtClean="0">
                          <a:latin typeface="Cambria Math" panose="02040503050406030204" pitchFamily="18" charset="0"/>
                        </a:rPr>
                        <m:t>=</m:t>
                      </m:r>
                      <m:d>
                        <m:dPr>
                          <m:begChr m:val="["/>
                          <m:endChr m:val="]"/>
                          <m:ctrlPr>
                            <a:rPr lang="en-NL" i="1" smtClean="0">
                              <a:latin typeface="Cambria Math" panose="02040503050406030204" pitchFamily="18" charset="0"/>
                            </a:rPr>
                          </m:ctrlPr>
                        </m:dPr>
                        <m:e>
                          <m:eqArr>
                            <m:eqArrPr>
                              <m:ctrlPr>
                                <a:rPr lang="en-NL" i="1" smtClean="0">
                                  <a:latin typeface="Cambria Math" panose="02040503050406030204" pitchFamily="18" charset="0"/>
                                </a:rPr>
                              </m:ctrlPr>
                            </m:eqArrPr>
                            <m:e>
                              <m:m>
                                <m:mPr>
                                  <m:plcHide m:val="on"/>
                                  <m:mcs>
                                    <m:mc>
                                      <m:mcPr>
                                        <m:count m:val="4"/>
                                        <m:mcJc m:val="center"/>
                                      </m:mcPr>
                                    </m:mc>
                                  </m:mcs>
                                  <m:ctrlPr>
                                    <a:rPr lang="en-NL" i="1" smtClean="0">
                                      <a:latin typeface="Cambria Math" panose="02040503050406030204" pitchFamily="18" charset="0"/>
                                    </a:rPr>
                                  </m:ctrlPr>
                                </m:mPr>
                                <m:mr>
                                  <m:e>
                                    <m:m>
                                      <m:mPr>
                                        <m:mcs>
                                          <m:mc>
                                            <m:mcPr>
                                              <m:count m:val="2"/>
                                              <m:mcJc m:val="center"/>
                                            </m:mcPr>
                                          </m:mc>
                                        </m:mcs>
                                        <m:ctrlPr>
                                          <a:rPr lang="en-US" b="0" i="1" smtClean="0">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𝑥</m:t>
                                              </m:r>
                                              <m:r>
                                                <a:rPr lang="en-NL" i="1">
                                                  <a:latin typeface="Cambria Math" panose="02040503050406030204" pitchFamily="18" charset="0"/>
                                                </a:rPr>
                                                <m:t>,1</m:t>
                                              </m:r>
                                            </m:sub>
                                          </m:sSub>
                                          <m:d>
                                            <m:dPr>
                                              <m:ctrlPr>
                                                <a:rPr lang="en-NL" i="1">
                                                  <a:latin typeface="Cambria Math" panose="02040503050406030204" pitchFamily="18" charset="0"/>
                                                </a:rPr>
                                              </m:ctrlPr>
                                            </m:dPr>
                                            <m:e>
                                              <m:r>
                                                <a:rPr lang="en-NL" i="1">
                                                  <a:latin typeface="Cambria Math" panose="02040503050406030204" pitchFamily="18" charset="0"/>
                                                </a:rPr>
                                                <m:t>0</m:t>
                                              </m:r>
                                            </m:e>
                                          </m:d>
                                        </m:e>
                                        <m:e>
                                          <m:r>
                                            <a:rPr lang="en-US" b="0" i="1" smtClean="0">
                                              <a:latin typeface="Cambria Math" panose="02040503050406030204" pitchFamily="18" charset="0"/>
                                            </a:rPr>
                                            <m:t>⋯</m:t>
                                          </m:r>
                                        </m:e>
                                      </m:mr>
                                    </m:m>
                                  </m:e>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𝑥</m:t>
                                        </m:r>
                                        <m:r>
                                          <a:rPr lang="en-US" i="1">
                                            <a:latin typeface="Cambria Math" panose="02040503050406030204" pitchFamily="18" charset="0"/>
                                          </a:rPr>
                                          <m:t>,</m:t>
                                        </m:r>
                                        <m:r>
                                          <a:rPr lang="en-NL" i="1">
                                            <a:latin typeface="Cambria Math" panose="02040503050406030204" pitchFamily="18" charset="0"/>
                                          </a:rPr>
                                          <m:t>𝑚</m:t>
                                        </m:r>
                                      </m:sub>
                                    </m:sSub>
                                    <m:d>
                                      <m:dPr>
                                        <m:ctrlPr>
                                          <a:rPr lang="en-NL" i="1" smtClean="0">
                                            <a:latin typeface="Cambria Math" panose="02040503050406030204" pitchFamily="18" charset="0"/>
                                          </a:rPr>
                                        </m:ctrlPr>
                                      </m:dPr>
                                      <m:e>
                                        <m:r>
                                          <a:rPr lang="en-NL" i="1" smtClean="0">
                                            <a:latin typeface="Cambria Math" panose="02040503050406030204" pitchFamily="18" charset="0"/>
                                          </a:rPr>
                                          <m:t>0</m:t>
                                        </m:r>
                                      </m:e>
                                    </m:d>
                                  </m:e>
                                  <m:e>
                                    <m:r>
                                      <a:rPr lang="en-NL" i="1" smtClean="0">
                                        <a:latin typeface="Cambria Math" panose="02040503050406030204" pitchFamily="18" charset="0"/>
                                      </a:rPr>
                                      <m:t>0</m:t>
                                    </m:r>
                                  </m:e>
                                  <m:e>
                                    <m:r>
                                      <a:rPr lang="en-NL" i="1" smtClean="0">
                                        <a:latin typeface="Cambria Math" panose="02040503050406030204" pitchFamily="18" charset="0"/>
                                      </a:rPr>
                                      <m:t>0</m:t>
                                    </m:r>
                                  </m:e>
                                </m:mr>
                                <m:mr>
                                  <m:e>
                                    <m:r>
                                      <a:rPr lang="en-NL" i="1" smtClean="0">
                                        <a:latin typeface="Cambria Math" panose="02040503050406030204" pitchFamily="18" charset="0"/>
                                      </a:rPr>
                                      <m:t>0</m:t>
                                    </m:r>
                                    <m:r>
                                      <a:rPr lang="en-US" b="0" i="1" smtClean="0">
                                        <a:latin typeface="Cambria Math" panose="02040503050406030204" pitchFamily="18" charset="0"/>
                                      </a:rPr>
                                      <m:t>    </m:t>
                                    </m:r>
                                  </m:e>
                                  <m:e>
                                    <m:r>
                                      <a:rPr lang="en-NL" i="1" smtClean="0">
                                        <a:latin typeface="Cambria Math" panose="02040503050406030204" pitchFamily="18" charset="0"/>
                                      </a:rPr>
                                      <m:t>0</m:t>
                                    </m:r>
                                  </m:e>
                                  <m:e>
                                    <m:m>
                                      <m:mPr>
                                        <m:mcs>
                                          <m:mc>
                                            <m:mcPr>
                                              <m:count m:val="2"/>
                                              <m:mcJc m:val="center"/>
                                            </m:mcPr>
                                          </m:mc>
                                        </m:mcs>
                                        <m:ctrlPr>
                                          <a:rPr lang="en-NL" i="1" smtClean="0">
                                            <a:latin typeface="Cambria Math" panose="02040503050406030204" pitchFamily="18" charset="0"/>
                                          </a:rPr>
                                        </m:ctrlPr>
                                      </m:mPr>
                                      <m:mr>
                                        <m:e>
                                          <m:sSub>
                                            <m:sSubPr>
                                              <m:ctrlPr>
                                                <a:rPr lang="en-NL" i="1" smtClean="0">
                                                  <a:latin typeface="Cambria Math" panose="02040503050406030204" pitchFamily="18" charset="0"/>
                                                </a:rPr>
                                              </m:ctrlPr>
                                            </m:sSubPr>
                                            <m:e>
                                              <m:r>
                                                <a:rPr lang="en-NL" i="1">
                                                  <a:latin typeface="Cambria Math" panose="02040503050406030204" pitchFamily="18" charset="0"/>
                                                </a:rPr>
                                                <m:t>𝜓</m:t>
                                              </m:r>
                                            </m:e>
                                            <m:sub>
                                              <m:r>
                                                <a:rPr lang="en-NL"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,1</m:t>
                                              </m:r>
                                            </m:sub>
                                          </m:sSub>
                                          <m:d>
                                            <m:dPr>
                                              <m:ctrlPr>
                                                <a:rPr lang="en-NL" i="1">
                                                  <a:latin typeface="Cambria Math" panose="02040503050406030204" pitchFamily="18" charset="0"/>
                                                </a:rPr>
                                              </m:ctrlPr>
                                            </m:dPr>
                                            <m:e>
                                              <m:r>
                                                <a:rPr lang="en-NL" i="1">
                                                  <a:latin typeface="Cambria Math" panose="02040503050406030204" pitchFamily="18" charset="0"/>
                                                </a:rPr>
                                                <m:t>0</m:t>
                                              </m:r>
                                            </m:e>
                                          </m:d>
                                        </m:e>
                                        <m:e>
                                          <m:r>
                                            <a:rPr lang="en-NL" i="1" smtClean="0">
                                              <a:latin typeface="Cambria Math" panose="02040503050406030204" pitchFamily="18" charset="0"/>
                                            </a:rPr>
                                            <m:t>⋯</m:t>
                                          </m:r>
                                        </m:e>
                                      </m:mr>
                                    </m:m>
                                  </m:e>
                                  <m:e>
                                    <m:sSub>
                                      <m:sSubPr>
                                        <m:ctrlPr>
                                          <a:rPr lang="en-NL" i="1" smtClean="0">
                                            <a:latin typeface="Cambria Math" panose="02040503050406030204" pitchFamily="18" charset="0"/>
                                          </a:rPr>
                                        </m:ctrlPr>
                                      </m:sSubPr>
                                      <m:e>
                                        <m:r>
                                          <a:rPr lang="en-NL" i="1" smtClean="0">
                                            <a:latin typeface="Cambria Math" panose="02040503050406030204" pitchFamily="18" charset="0"/>
                                          </a:rPr>
                                          <m:t>𝜓</m:t>
                                        </m:r>
                                      </m:e>
                                      <m:sub>
                                        <m:r>
                                          <a:rPr lang="en-NL" i="1" smtClean="0">
                                            <a:latin typeface="Cambria Math" panose="02040503050406030204" pitchFamily="18" charset="0"/>
                                          </a:rPr>
                                          <m:t>𝜑</m:t>
                                        </m:r>
                                        <m:r>
                                          <a:rPr lang="en-NL" i="1" smtClean="0">
                                            <a:latin typeface="Cambria Math" panose="02040503050406030204" pitchFamily="18" charset="0"/>
                                          </a:rPr>
                                          <m:t>,</m:t>
                                        </m:r>
                                        <m:r>
                                          <a:rPr lang="en-NL" i="1" smtClean="0">
                                            <a:latin typeface="Cambria Math" panose="02040503050406030204" pitchFamily="18" charset="0"/>
                                          </a:rPr>
                                          <m:t>𝑛</m:t>
                                        </m:r>
                                      </m:sub>
                                    </m:sSub>
                                    <m:d>
                                      <m:dPr>
                                        <m:ctrlPr>
                                          <a:rPr lang="en-NL" i="1" smtClean="0">
                                            <a:latin typeface="Cambria Math" panose="02040503050406030204" pitchFamily="18" charset="0"/>
                                          </a:rPr>
                                        </m:ctrlPr>
                                      </m:dPr>
                                      <m:e>
                                        <m:r>
                                          <a:rPr lang="en-NL" i="1" smtClean="0">
                                            <a:latin typeface="Cambria Math" panose="02040503050406030204" pitchFamily="18" charset="0"/>
                                          </a:rPr>
                                          <m:t>0</m:t>
                                        </m:r>
                                      </m:e>
                                    </m:d>
                                  </m:e>
                                </m:mr>
                              </m:m>
                            </m:e>
                            <m:e>
                              <m:m>
                                <m:mPr>
                                  <m:plcHide m:val="on"/>
                                  <m:mcs>
                                    <m:mc>
                                      <m:mcPr>
                                        <m:count m:val="4"/>
                                        <m:mcJc m:val="center"/>
                                      </m:mcPr>
                                    </m:mc>
                                  </m:mcs>
                                  <m:ctrlPr>
                                    <a:rPr lang="en-NL" i="1">
                                      <a:latin typeface="Cambria Math" panose="02040503050406030204" pitchFamily="18" charset="0"/>
                                    </a:rPr>
                                  </m:ctrlPr>
                                </m:mPr>
                                <m:mr>
                                  <m:e>
                                    <m:m>
                                      <m:mPr>
                                        <m:mcs>
                                          <m:mc>
                                            <m:mcPr>
                                              <m:count m:val="2"/>
                                              <m:mcJc m:val="center"/>
                                            </m:mcPr>
                                          </m:mc>
                                        </m:mcs>
                                        <m:ctrlPr>
                                          <a:rPr lang="en-US"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𝑥</m:t>
                                              </m:r>
                                              <m:r>
                                                <a:rPr lang="en-NL" i="1">
                                                  <a:latin typeface="Cambria Math" panose="02040503050406030204" pitchFamily="18" charset="0"/>
                                                </a:rPr>
                                                <m:t>,1</m:t>
                                              </m:r>
                                            </m:sub>
                                          </m:sSub>
                                          <m:d>
                                            <m:dPr>
                                              <m:ctrlPr>
                                                <a:rPr lang="en-NL" i="1">
                                                  <a:latin typeface="Cambria Math" panose="02040503050406030204" pitchFamily="18" charset="0"/>
                                                </a:rPr>
                                              </m:ctrlPr>
                                            </m:dPr>
                                            <m:e>
                                              <m:r>
                                                <a:rPr lang="en-US" b="0" i="1" smtClean="0">
                                                  <a:latin typeface="Cambria Math" panose="02040503050406030204" pitchFamily="18" charset="0"/>
                                                </a:rPr>
                                                <m:t>1</m:t>
                                              </m:r>
                                            </m:e>
                                          </m:d>
                                        </m:e>
                                        <m:e>
                                          <m:r>
                                            <a:rPr lang="en-US" i="1">
                                              <a:latin typeface="Cambria Math" panose="02040503050406030204" pitchFamily="18" charset="0"/>
                                            </a:rPr>
                                            <m:t>⋯</m:t>
                                          </m:r>
                                        </m:e>
                                      </m:mr>
                                    </m:m>
                                  </m:e>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𝑥</m:t>
                                        </m:r>
                                        <m:r>
                                          <a:rPr lang="en-US" b="0" i="1" smtClean="0">
                                            <a:latin typeface="Cambria Math" panose="02040503050406030204" pitchFamily="18" charset="0"/>
                                          </a:rPr>
                                          <m:t>,</m:t>
                                        </m:r>
                                        <m:r>
                                          <a:rPr lang="en-NL" i="1">
                                            <a:latin typeface="Cambria Math" panose="02040503050406030204" pitchFamily="18" charset="0"/>
                                          </a:rPr>
                                          <m:t>𝑚</m:t>
                                        </m:r>
                                      </m:sub>
                                    </m:sSub>
                                    <m:d>
                                      <m:dPr>
                                        <m:ctrlPr>
                                          <a:rPr lang="en-NL" i="1">
                                            <a:latin typeface="Cambria Math" panose="02040503050406030204" pitchFamily="18" charset="0"/>
                                          </a:rPr>
                                        </m:ctrlPr>
                                      </m:dPr>
                                      <m:e>
                                        <m:r>
                                          <a:rPr lang="en-US" b="0" i="1" smtClean="0">
                                            <a:latin typeface="Cambria Math" panose="02040503050406030204" pitchFamily="18" charset="0"/>
                                          </a:rPr>
                                          <m:t>1</m:t>
                                        </m:r>
                                      </m:e>
                                    </m:d>
                                  </m:e>
                                  <m:e>
                                    <m:r>
                                      <a:rPr lang="en-NL" i="1">
                                        <a:latin typeface="Cambria Math" panose="02040503050406030204" pitchFamily="18" charset="0"/>
                                      </a:rPr>
                                      <m:t>0</m:t>
                                    </m:r>
                                  </m:e>
                                  <m:e>
                                    <m:r>
                                      <a:rPr lang="en-NL" i="1">
                                        <a:latin typeface="Cambria Math" panose="02040503050406030204" pitchFamily="18" charset="0"/>
                                      </a:rPr>
                                      <m:t>0</m:t>
                                    </m:r>
                                  </m:e>
                                </m:mr>
                                <m:mr>
                                  <m:e>
                                    <m:r>
                                      <a:rPr lang="en-NL" i="1">
                                        <a:latin typeface="Cambria Math" panose="02040503050406030204" pitchFamily="18" charset="0"/>
                                      </a:rPr>
                                      <m:t>0</m:t>
                                    </m:r>
                                    <m:r>
                                      <a:rPr lang="en-US" i="1">
                                        <a:latin typeface="Cambria Math" panose="02040503050406030204" pitchFamily="18" charset="0"/>
                                      </a:rPr>
                                      <m:t>    </m:t>
                                    </m:r>
                                  </m:e>
                                  <m:e>
                                    <m:r>
                                      <a:rPr lang="en-NL" i="1">
                                        <a:latin typeface="Cambria Math" panose="02040503050406030204" pitchFamily="18" charset="0"/>
                                      </a:rPr>
                                      <m:t>0</m:t>
                                    </m:r>
                                  </m:e>
                                  <m:e>
                                    <m:m>
                                      <m:mPr>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,1</m:t>
                                              </m:r>
                                            </m:sub>
                                          </m:sSub>
                                          <m:d>
                                            <m:dPr>
                                              <m:ctrlPr>
                                                <a:rPr lang="en-NL" i="1" smtClean="0">
                                                  <a:latin typeface="Cambria Math" panose="02040503050406030204" pitchFamily="18" charset="0"/>
                                                </a:rPr>
                                              </m:ctrlPr>
                                            </m:dPr>
                                            <m:e>
                                              <m:r>
                                                <a:rPr lang="en-US" b="0" i="1" smtClean="0">
                                                  <a:latin typeface="Cambria Math" panose="02040503050406030204" pitchFamily="18" charset="0"/>
                                                </a:rPr>
                                                <m:t>1</m:t>
                                              </m:r>
                                            </m:e>
                                          </m:d>
                                        </m:e>
                                        <m:e>
                                          <m:r>
                                            <a:rPr lang="en-NL" i="1">
                                              <a:latin typeface="Cambria Math" panose="02040503050406030204" pitchFamily="18" charset="0"/>
                                            </a:rPr>
                                            <m:t>⋯</m:t>
                                          </m:r>
                                        </m:e>
                                      </m:mr>
                                    </m:m>
                                  </m:e>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𝜑</m:t>
                                        </m:r>
                                        <m:r>
                                          <a:rPr lang="en-NL" i="1">
                                            <a:latin typeface="Cambria Math" panose="02040503050406030204" pitchFamily="18" charset="0"/>
                                          </a:rPr>
                                          <m:t>,</m:t>
                                        </m:r>
                                        <m:r>
                                          <a:rPr lang="en-NL" i="1">
                                            <a:latin typeface="Cambria Math" panose="02040503050406030204" pitchFamily="18" charset="0"/>
                                          </a:rPr>
                                          <m:t>𝑛</m:t>
                                        </m:r>
                                      </m:sub>
                                    </m:sSub>
                                    <m:d>
                                      <m:dPr>
                                        <m:ctrlPr>
                                          <a:rPr lang="en-NL" i="1">
                                            <a:latin typeface="Cambria Math" panose="02040503050406030204" pitchFamily="18" charset="0"/>
                                          </a:rPr>
                                        </m:ctrlPr>
                                      </m:dPr>
                                      <m:e>
                                        <m:r>
                                          <a:rPr lang="en-US" b="0" i="1" smtClean="0">
                                            <a:latin typeface="Cambria Math" panose="02040503050406030204" pitchFamily="18" charset="0"/>
                                          </a:rPr>
                                          <m:t>1</m:t>
                                        </m:r>
                                      </m:e>
                                    </m:d>
                                  </m:e>
                                </m:mr>
                              </m:m>
                            </m:e>
                            <m:e>
                              <m:r>
                                <a:rPr lang="en-NL" i="1" smtClean="0">
                                  <a:latin typeface="Cambria Math" panose="02040503050406030204" pitchFamily="18" charset="0"/>
                                </a:rPr>
                                <m:t>⋮</m:t>
                              </m:r>
                            </m:e>
                            <m:e>
                              <m:m>
                                <m:mPr>
                                  <m:plcHide m:val="on"/>
                                  <m:mcs>
                                    <m:mc>
                                      <m:mcPr>
                                        <m:count m:val="4"/>
                                        <m:mcJc m:val="center"/>
                                      </m:mcPr>
                                    </m:mc>
                                  </m:mcs>
                                  <m:ctrlPr>
                                    <a:rPr lang="en-NL" i="1">
                                      <a:latin typeface="Cambria Math" panose="02040503050406030204" pitchFamily="18" charset="0"/>
                                    </a:rPr>
                                  </m:ctrlPr>
                                </m:mPr>
                                <m:mr>
                                  <m:e>
                                    <m:m>
                                      <m:mPr>
                                        <m:mcs>
                                          <m:mc>
                                            <m:mcPr>
                                              <m:count m:val="2"/>
                                              <m:mcJc m:val="center"/>
                                            </m:mcPr>
                                          </m:mc>
                                        </m:mcs>
                                        <m:ctrlPr>
                                          <a:rPr lang="en-US"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𝑥</m:t>
                                              </m:r>
                                              <m:r>
                                                <a:rPr lang="en-NL" i="1">
                                                  <a:latin typeface="Cambria Math" panose="02040503050406030204" pitchFamily="18" charset="0"/>
                                                </a:rPr>
                                                <m:t>,1</m:t>
                                              </m:r>
                                            </m:sub>
                                          </m:sSub>
                                          <m:d>
                                            <m:dPr>
                                              <m:ctrlPr>
                                                <a:rPr lang="en-NL" i="1">
                                                  <a:latin typeface="Cambria Math" panose="02040503050406030204" pitchFamily="18" charset="0"/>
                                                </a:rPr>
                                              </m:ctrlPr>
                                            </m:dPr>
                                            <m:e>
                                              <m:r>
                                                <m:rPr>
                                                  <m:sty m:val="p"/>
                                                </m:rPr>
                                                <a:rPr lang="en-US" b="0" i="1" smtClean="0">
                                                  <a:latin typeface="Cambria Math" panose="02040503050406030204" pitchFamily="18" charset="0"/>
                                                </a:rPr>
                                                <m:t>N</m:t>
                                              </m:r>
                                              <m:r>
                                                <a:rPr lang="en-US" b="0" i="1" smtClean="0">
                                                  <a:latin typeface="Cambria Math" panose="02040503050406030204" pitchFamily="18" charset="0"/>
                                                </a:rPr>
                                                <m:t>−1</m:t>
                                              </m:r>
                                            </m:e>
                                          </m:d>
                                        </m:e>
                                        <m:e>
                                          <m:r>
                                            <a:rPr lang="en-US" i="1">
                                              <a:latin typeface="Cambria Math" panose="02040503050406030204" pitchFamily="18" charset="0"/>
                                            </a:rPr>
                                            <m:t>⋯</m:t>
                                          </m:r>
                                        </m:e>
                                      </m:mr>
                                    </m:m>
                                  </m:e>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𝑥</m:t>
                                        </m:r>
                                        <m:r>
                                          <a:rPr lang="en-US" i="1">
                                            <a:latin typeface="Cambria Math" panose="02040503050406030204" pitchFamily="18" charset="0"/>
                                          </a:rPr>
                                          <m:t>,</m:t>
                                        </m:r>
                                        <m:r>
                                          <a:rPr lang="en-NL" i="1">
                                            <a:latin typeface="Cambria Math" panose="02040503050406030204" pitchFamily="18" charset="0"/>
                                          </a:rPr>
                                          <m:t>𝑚</m:t>
                                        </m:r>
                                      </m:sub>
                                    </m:sSub>
                                    <m:d>
                                      <m:dPr>
                                        <m:ctrlPr>
                                          <a:rPr lang="en-NL" i="1">
                                            <a:latin typeface="Cambria Math" panose="02040503050406030204" pitchFamily="18" charset="0"/>
                                          </a:rPr>
                                        </m:ctrlPr>
                                      </m:dPr>
                                      <m:e>
                                        <m:r>
                                          <m:rPr>
                                            <m:sty m:val="p"/>
                                          </m:rPr>
                                          <a:rPr lang="en-US" b="0" i="1" smtClean="0">
                                            <a:latin typeface="Cambria Math" panose="02040503050406030204" pitchFamily="18" charset="0"/>
                                          </a:rPr>
                                          <m:t>N</m:t>
                                        </m:r>
                                        <m:r>
                                          <a:rPr lang="en-US" b="0" i="1" smtClean="0">
                                            <a:latin typeface="Cambria Math" panose="02040503050406030204" pitchFamily="18" charset="0"/>
                                          </a:rPr>
                                          <m:t>−1</m:t>
                                        </m:r>
                                      </m:e>
                                    </m:d>
                                  </m:e>
                                  <m:e>
                                    <m:r>
                                      <a:rPr lang="en-NL" i="1">
                                        <a:latin typeface="Cambria Math" panose="02040503050406030204" pitchFamily="18" charset="0"/>
                                      </a:rPr>
                                      <m:t>0</m:t>
                                    </m:r>
                                  </m:e>
                                  <m:e>
                                    <m:r>
                                      <a:rPr lang="en-NL" i="1">
                                        <a:latin typeface="Cambria Math" panose="02040503050406030204" pitchFamily="18" charset="0"/>
                                      </a:rPr>
                                      <m:t>0</m:t>
                                    </m:r>
                                  </m:e>
                                </m:mr>
                                <m:mr>
                                  <m:e>
                                    <m:r>
                                      <a:rPr lang="en-NL" i="1">
                                        <a:latin typeface="Cambria Math" panose="02040503050406030204" pitchFamily="18" charset="0"/>
                                      </a:rPr>
                                      <m:t>0</m:t>
                                    </m:r>
                                    <m:r>
                                      <a:rPr lang="en-US" i="1">
                                        <a:latin typeface="Cambria Math" panose="02040503050406030204" pitchFamily="18" charset="0"/>
                                      </a:rPr>
                                      <m:t>    </m:t>
                                    </m:r>
                                  </m:e>
                                  <m:e>
                                    <m:r>
                                      <a:rPr lang="en-NL" i="1">
                                        <a:latin typeface="Cambria Math" panose="02040503050406030204" pitchFamily="18" charset="0"/>
                                      </a:rPr>
                                      <m:t>0</m:t>
                                    </m:r>
                                  </m:e>
                                  <m:e>
                                    <m:m>
                                      <m:mPr>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,1</m:t>
                                              </m:r>
                                            </m:sub>
                                          </m:sSub>
                                          <m:d>
                                            <m:dPr>
                                              <m:ctrlPr>
                                                <a:rPr lang="en-NL" i="1">
                                                  <a:latin typeface="Cambria Math" panose="02040503050406030204" pitchFamily="18" charset="0"/>
                                                </a:rPr>
                                              </m:ctrlPr>
                                            </m:dPr>
                                            <m:e>
                                              <m:r>
                                                <m:rPr>
                                                  <m:sty m:val="p"/>
                                                </m:rPr>
                                                <a:rPr lang="en-US" b="0" i="1" smtClean="0">
                                                  <a:latin typeface="Cambria Math" panose="02040503050406030204" pitchFamily="18" charset="0"/>
                                                </a:rPr>
                                                <m:t>N</m:t>
                                              </m:r>
                                              <m:r>
                                                <a:rPr lang="en-US" b="0" i="1" smtClean="0">
                                                  <a:latin typeface="Cambria Math" panose="02040503050406030204" pitchFamily="18" charset="0"/>
                                                </a:rPr>
                                                <m:t>−1</m:t>
                                              </m:r>
                                            </m:e>
                                          </m:d>
                                        </m:e>
                                        <m:e>
                                          <m:r>
                                            <a:rPr lang="en-NL" i="1">
                                              <a:latin typeface="Cambria Math" panose="02040503050406030204" pitchFamily="18" charset="0"/>
                                            </a:rPr>
                                            <m:t>⋯</m:t>
                                          </m:r>
                                        </m:e>
                                      </m:mr>
                                    </m:m>
                                  </m:e>
                                  <m:e>
                                    <m:sSub>
                                      <m:sSubPr>
                                        <m:ctrlPr>
                                          <a:rPr lang="en-NL" i="1">
                                            <a:latin typeface="Cambria Math" panose="02040503050406030204" pitchFamily="18" charset="0"/>
                                          </a:rPr>
                                        </m:ctrlPr>
                                      </m:sSubPr>
                                      <m:e>
                                        <m:r>
                                          <a:rPr lang="en-NL" i="1">
                                            <a:latin typeface="Cambria Math" panose="02040503050406030204" pitchFamily="18" charset="0"/>
                                          </a:rPr>
                                          <m:t>𝜓</m:t>
                                        </m:r>
                                      </m:e>
                                      <m:sub>
                                        <m:r>
                                          <a:rPr lang="en-NL" i="1">
                                            <a:latin typeface="Cambria Math" panose="02040503050406030204" pitchFamily="18" charset="0"/>
                                          </a:rPr>
                                          <m:t>𝜑</m:t>
                                        </m:r>
                                        <m:r>
                                          <a:rPr lang="en-NL" i="1">
                                            <a:latin typeface="Cambria Math" panose="02040503050406030204" pitchFamily="18" charset="0"/>
                                          </a:rPr>
                                          <m:t>,</m:t>
                                        </m:r>
                                        <m:r>
                                          <a:rPr lang="en-NL" i="1">
                                            <a:latin typeface="Cambria Math" panose="02040503050406030204" pitchFamily="18" charset="0"/>
                                          </a:rPr>
                                          <m:t>𝑛</m:t>
                                        </m:r>
                                      </m:sub>
                                    </m:sSub>
                                    <m:d>
                                      <m:dPr>
                                        <m:ctrlPr>
                                          <a:rPr lang="en-NL" i="1">
                                            <a:latin typeface="Cambria Math" panose="02040503050406030204" pitchFamily="18" charset="0"/>
                                          </a:rPr>
                                        </m:ctrlPr>
                                      </m:dPr>
                                      <m:e>
                                        <m:r>
                                          <m:rPr>
                                            <m:sty m:val="p"/>
                                          </m:rPr>
                                          <a:rPr lang="en-US" b="0" i="1" smtClean="0">
                                            <a:latin typeface="Cambria Math" panose="02040503050406030204" pitchFamily="18" charset="0"/>
                                          </a:rPr>
                                          <m:t>N</m:t>
                                        </m:r>
                                        <m:r>
                                          <a:rPr lang="en-US" b="0" i="1" smtClean="0">
                                            <a:latin typeface="Cambria Math" panose="02040503050406030204" pitchFamily="18" charset="0"/>
                                          </a:rPr>
                                          <m:t>−1</m:t>
                                        </m:r>
                                      </m:e>
                                    </m:d>
                                  </m:e>
                                </m:mr>
                              </m:m>
                            </m:e>
                          </m:eqArr>
                        </m:e>
                      </m:d>
                    </m:oMath>
                  </m:oMathPara>
                </a14:m>
                <a:endParaRPr lang="en-NL"/>
              </a:p>
            </p:txBody>
          </p:sp>
        </mc:Choice>
        <mc:Fallback xmlns="">
          <p:sp>
            <p:nvSpPr>
              <p:cNvPr id="3" name="TextBox 2">
                <a:extLst>
                  <a:ext uri="{FF2B5EF4-FFF2-40B4-BE49-F238E27FC236}">
                    <a16:creationId xmlns:a16="http://schemas.microsoft.com/office/drawing/2014/main" id="{AE7383B3-C0E0-79E5-C81E-6CC90BE102F6}"/>
                  </a:ext>
                </a:extLst>
              </p:cNvPr>
              <p:cNvSpPr txBox="1">
                <a:spLocks noRot="1" noChangeAspect="1" noMove="1" noResize="1" noEditPoints="1" noAdjustHandles="1" noChangeArrowheads="1" noChangeShapeType="1" noTextEdit="1"/>
              </p:cNvSpPr>
              <p:nvPr/>
            </p:nvSpPr>
            <p:spPr>
              <a:xfrm>
                <a:off x="3281020" y="2627110"/>
                <a:ext cx="5375300" cy="1759712"/>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39339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13C568-D084-57F3-BB9D-8A8F96D53163}"/>
              </a:ext>
            </a:extLst>
          </p:cNvPr>
          <p:cNvSpPr>
            <a:spLocks noGrp="1"/>
          </p:cNvSpPr>
          <p:nvPr>
            <p:ph type="title"/>
          </p:nvPr>
        </p:nvSpPr>
        <p:spPr/>
        <p:txBody>
          <a:bodyPr/>
          <a:lstStyle/>
          <a:p>
            <a:r>
              <a:rPr lang="en-US"/>
              <a:t>General ideas</a:t>
            </a:r>
            <a:endParaRPr lang="en-GB"/>
          </a:p>
        </p:txBody>
      </p:sp>
      <p:sp>
        <p:nvSpPr>
          <p:cNvPr id="3" name="Tijdelijke aanduiding voor inhoud 2">
            <a:extLst>
              <a:ext uri="{FF2B5EF4-FFF2-40B4-BE49-F238E27FC236}">
                <a16:creationId xmlns:a16="http://schemas.microsoft.com/office/drawing/2014/main" id="{5B27846E-8C0D-A9E1-8E03-88A0B2ACD6F5}"/>
              </a:ext>
            </a:extLst>
          </p:cNvPr>
          <p:cNvSpPr>
            <a:spLocks noGrp="1"/>
          </p:cNvSpPr>
          <p:nvPr>
            <p:ph idx="1"/>
          </p:nvPr>
        </p:nvSpPr>
        <p:spPr/>
        <p:txBody>
          <a:bodyPr/>
          <a:lstStyle/>
          <a:p>
            <a:pPr marL="342900" indent="-342900">
              <a:buFont typeface="Arial" panose="020B0604020202020204" pitchFamily="34" charset="0"/>
              <a:buChar char="•"/>
            </a:pPr>
            <a:r>
              <a:rPr lang="en-US"/>
              <a:t>MIMO/SIMO implementation</a:t>
            </a:r>
          </a:p>
          <a:p>
            <a:pPr marL="523875" lvl="2" indent="-342900"/>
            <a:r>
              <a:rPr lang="en-US"/>
              <a:t>Inertia cross term basis functions</a:t>
            </a:r>
          </a:p>
          <a:p>
            <a:pPr marL="523875" lvl="2" indent="-342900"/>
            <a:r>
              <a:rPr lang="en-US"/>
              <a:t>New decoupling matrix (force based on mass/inertia position)</a:t>
            </a:r>
          </a:p>
          <a:p>
            <a:pPr marL="523875" lvl="2" indent="-342900"/>
            <a:endParaRPr lang="en-US"/>
          </a:p>
          <a:p>
            <a:pPr marL="342900" lvl="1" indent="-342900">
              <a:buFont typeface="Arial" panose="020B0604020202020204" pitchFamily="34" charset="0"/>
              <a:buChar char="•"/>
            </a:pPr>
            <a:r>
              <a:rPr lang="en-US"/>
              <a:t>Equivalent plant (SISO)</a:t>
            </a:r>
          </a:p>
          <a:p>
            <a:pPr marL="523875" lvl="2" indent="-342900"/>
            <a:r>
              <a:rPr lang="en-US"/>
              <a:t>Separate learning (no decoupling)</a:t>
            </a:r>
          </a:p>
          <a:p>
            <a:pPr marL="523875" lvl="2" indent="-342900"/>
            <a:endParaRPr lang="en-GB"/>
          </a:p>
        </p:txBody>
      </p:sp>
      <p:sp>
        <p:nvSpPr>
          <p:cNvPr id="4" name="Tijdelijke aanduiding voor voettekst 3">
            <a:extLst>
              <a:ext uri="{FF2B5EF4-FFF2-40B4-BE49-F238E27FC236}">
                <a16:creationId xmlns:a16="http://schemas.microsoft.com/office/drawing/2014/main" id="{F2013049-FEBE-D6A2-B8A8-9F0A43F8DDEC}"/>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Tijdelijke aanduiding voor dianummer 4">
            <a:extLst>
              <a:ext uri="{FF2B5EF4-FFF2-40B4-BE49-F238E27FC236}">
                <a16:creationId xmlns:a16="http://schemas.microsoft.com/office/drawing/2014/main" id="{0A7A882F-1AA4-DE2B-6BED-A800623BA0FF}"/>
              </a:ext>
            </a:extLst>
          </p:cNvPr>
          <p:cNvSpPr>
            <a:spLocks noGrp="1"/>
          </p:cNvSpPr>
          <p:nvPr>
            <p:ph type="sldNum" sz="quarter" idx="12"/>
          </p:nvPr>
        </p:nvSpPr>
        <p:spPr/>
        <p:txBody>
          <a:bodyPr/>
          <a:lstStyle/>
          <a:p>
            <a:fld id="{C194BDB0-F4EA-4DD6-8281-CCE2440D0CE0}" type="slidenum">
              <a:rPr lang="en-GB" smtClean="0"/>
              <a:t>15</a:t>
            </a:fld>
            <a:endParaRPr lang="en-GB"/>
          </a:p>
        </p:txBody>
      </p:sp>
    </p:spTree>
    <p:extLst>
      <p:ext uri="{BB962C8B-B14F-4D97-AF65-F5344CB8AC3E}">
        <p14:creationId xmlns:p14="http://schemas.microsoft.com/office/powerpoint/2010/main" val="2363401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77699-4299-0E1B-4273-F7CAECD623E7}"/>
              </a:ext>
            </a:extLst>
          </p:cNvPr>
          <p:cNvSpPr>
            <a:spLocks noGrp="1"/>
          </p:cNvSpPr>
          <p:nvPr>
            <p:ph type="title"/>
          </p:nvPr>
        </p:nvSpPr>
        <p:spPr/>
        <p:txBody>
          <a:bodyPr/>
          <a:lstStyle/>
          <a:p>
            <a:r>
              <a:rPr lang="en-US"/>
              <a:t>Problems</a:t>
            </a:r>
            <a:endParaRPr lang="en-GB"/>
          </a:p>
        </p:txBody>
      </p:sp>
      <p:sp>
        <p:nvSpPr>
          <p:cNvPr id="3" name="Content Placeholder 2">
            <a:extLst>
              <a:ext uri="{FF2B5EF4-FFF2-40B4-BE49-F238E27FC236}">
                <a16:creationId xmlns:a16="http://schemas.microsoft.com/office/drawing/2014/main" id="{F7F2F03A-8A94-7575-E1F2-D28C9AE0FCB8}"/>
              </a:ext>
            </a:extLst>
          </p:cNvPr>
          <p:cNvSpPr>
            <a:spLocks noGrp="1"/>
          </p:cNvSpPr>
          <p:nvPr>
            <p:ph idx="1"/>
          </p:nvPr>
        </p:nvSpPr>
        <p:spPr/>
        <p:txBody>
          <a:bodyPr vert="horz" lIns="0" tIns="0" rIns="0" bIns="0" rtlCol="0" anchor="t">
            <a:noAutofit/>
          </a:bodyPr>
          <a:lstStyle/>
          <a:p>
            <a:pPr marL="342900" indent="-342900">
              <a:buFont typeface="Arial" panose="020B0604020202020204" pitchFamily="34" charset="0"/>
              <a:buChar char="•"/>
            </a:pPr>
            <a:r>
              <a:rPr lang="en-US"/>
              <a:t>Simulation</a:t>
            </a:r>
          </a:p>
          <a:p>
            <a:pPr marL="523875" lvl="2" indent="-342900"/>
            <a:r>
              <a:rPr lang="en-US"/>
              <a:t>Basis functions 1 sample delay due to filtering vs lifted? Do we have to use filters?</a:t>
            </a:r>
          </a:p>
          <a:p>
            <a:pPr marL="523875" lvl="2" indent="-342900"/>
            <a:r>
              <a:rPr lang="en-GB"/>
              <a:t>Lifted SISO implementation doesn’t seem to show same deadbeat (L and Q problem?)</a:t>
            </a:r>
          </a:p>
          <a:p>
            <a:pPr marL="523875" lvl="2" indent="-342900"/>
            <a:r>
              <a:rPr lang="en-GB">
                <a:ea typeface="Calibri"/>
                <a:cs typeface="Calibri"/>
              </a:rPr>
              <a:t>Suppress vibration during motion?</a:t>
            </a:r>
          </a:p>
          <a:p>
            <a:pPr marL="523875" lvl="2" indent="-342900"/>
            <a:endParaRPr lang="en-GB"/>
          </a:p>
          <a:p>
            <a:pPr marL="342900" indent="-342900">
              <a:buFont typeface="Arial" panose="020B0604020202020204" pitchFamily="34" charset="0"/>
              <a:buChar char="•"/>
            </a:pPr>
            <a:r>
              <a:rPr lang="en-GB"/>
              <a:t>Basis functions</a:t>
            </a:r>
          </a:p>
          <a:p>
            <a:pPr marL="523875" lvl="2" indent="-342900"/>
            <a:r>
              <a:rPr lang="en-GB"/>
              <a:t>Error signal cannot be used for learning (which we know will be non-zero)</a:t>
            </a:r>
          </a:p>
          <a:p>
            <a:pPr marL="523875" lvl="2" indent="-342900"/>
            <a:r>
              <a:rPr lang="en-GB"/>
              <a:t>Cross relation between x-ref and phi basis selection</a:t>
            </a:r>
            <a:endParaRPr lang="en-GB">
              <a:ea typeface="Calibri"/>
              <a:cs typeface="Calibri"/>
            </a:endParaRPr>
          </a:p>
          <a:p>
            <a:pPr marL="342900" lvl="1" indent="-342900">
              <a:buFont typeface="Arial" panose="020B0604020202020204" pitchFamily="34" charset="0"/>
              <a:buChar char="•"/>
            </a:pPr>
            <a:endParaRPr lang="en-GB"/>
          </a:p>
        </p:txBody>
      </p:sp>
      <p:sp>
        <p:nvSpPr>
          <p:cNvPr id="4" name="Footer Placeholder 3">
            <a:extLst>
              <a:ext uri="{FF2B5EF4-FFF2-40B4-BE49-F238E27FC236}">
                <a16:creationId xmlns:a16="http://schemas.microsoft.com/office/drawing/2014/main" id="{626D3ECC-3896-24DE-D610-0A1811EA8947}"/>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BD0B9A10-EE26-0F0D-7E2B-FA6E54E71623}"/>
              </a:ext>
            </a:extLst>
          </p:cNvPr>
          <p:cNvSpPr>
            <a:spLocks noGrp="1"/>
          </p:cNvSpPr>
          <p:nvPr>
            <p:ph type="sldNum" sz="quarter" idx="12"/>
          </p:nvPr>
        </p:nvSpPr>
        <p:spPr/>
        <p:txBody>
          <a:bodyPr/>
          <a:lstStyle/>
          <a:p>
            <a:fld id="{C194BDB0-F4EA-4DD6-8281-CCE2440D0CE0}" type="slidenum">
              <a:rPr lang="en-GB" smtClean="0"/>
              <a:t>16</a:t>
            </a:fld>
            <a:endParaRPr lang="en-GB"/>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EE1A9BE-8D36-88B3-3201-BBFBF3B9D021}"/>
                  </a:ext>
                </a:extLst>
              </p:cNvPr>
              <p:cNvSpPr txBox="1"/>
              <p:nvPr/>
            </p:nvSpPr>
            <p:spPr>
              <a:xfrm>
                <a:off x="5809731" y="3464744"/>
                <a:ext cx="1819563" cy="62267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 </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𝜙</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𝑀𝐿</m:t>
                          </m:r>
                        </m:num>
                        <m:den>
                          <m:r>
                            <a:rPr lang="en-US" sz="2000" b="0" i="1" smtClean="0">
                              <a:latin typeface="Cambria Math" panose="02040503050406030204" pitchFamily="18" charset="0"/>
                            </a:rPr>
                            <m:t>2</m:t>
                          </m:r>
                          <m:r>
                            <a:rPr lang="en-US" sz="2000" b="0" i="1" smtClean="0">
                              <a:latin typeface="Cambria Math" panose="02040503050406030204" pitchFamily="18" charset="0"/>
                            </a:rPr>
                            <m:t>𝐽</m:t>
                          </m:r>
                        </m:den>
                      </m:f>
                      <m:r>
                        <a:rPr lang="en-US" sz="2000" b="0" i="1" smtClean="0">
                          <a:latin typeface="Cambria Math" panose="02040503050406030204" pitchFamily="18" charset="0"/>
                        </a:rPr>
                        <m:t> </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𝑟</m:t>
                          </m:r>
                        </m:e>
                      </m:acc>
                      <m:r>
                        <a:rPr lang="en-US" sz="2000" b="0" i="1" smtClean="0">
                          <a:latin typeface="Cambria Math" panose="02040503050406030204" pitchFamily="18" charset="0"/>
                        </a:rPr>
                        <m:t>=</m:t>
                      </m:r>
                      <m:r>
                        <a:rPr lang="en-US" sz="2000" b="0" i="1" smtClean="0">
                          <a:latin typeface="Cambria Math" panose="02040503050406030204" pitchFamily="18" charset="0"/>
                        </a:rPr>
                        <m:t>𝜃</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𝑟</m:t>
                          </m:r>
                        </m:e>
                      </m:acc>
                    </m:oMath>
                  </m:oMathPara>
                </a14:m>
                <a:endParaRPr lang="en-US" sz="2000" b="0"/>
              </a:p>
            </p:txBody>
          </p:sp>
        </mc:Choice>
        <mc:Fallback xmlns="">
          <p:sp>
            <p:nvSpPr>
              <p:cNvPr id="6" name="TextBox 5">
                <a:extLst>
                  <a:ext uri="{FF2B5EF4-FFF2-40B4-BE49-F238E27FC236}">
                    <a16:creationId xmlns:a16="http://schemas.microsoft.com/office/drawing/2014/main" id="{3EE1A9BE-8D36-88B3-3201-BBFBF3B9D021}"/>
                  </a:ext>
                </a:extLst>
              </p:cNvPr>
              <p:cNvSpPr txBox="1">
                <a:spLocks noRot="1" noChangeAspect="1" noMove="1" noResize="1" noEditPoints="1" noAdjustHandles="1" noChangeArrowheads="1" noChangeShapeType="1" noTextEdit="1"/>
              </p:cNvSpPr>
              <p:nvPr/>
            </p:nvSpPr>
            <p:spPr>
              <a:xfrm>
                <a:off x="5809731" y="3464744"/>
                <a:ext cx="1819563" cy="622671"/>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71881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23DE0-5C71-9C98-EBDC-DD0FC1C79508}"/>
              </a:ext>
            </a:extLst>
          </p:cNvPr>
          <p:cNvSpPr>
            <a:spLocks noGrp="1"/>
          </p:cNvSpPr>
          <p:nvPr>
            <p:ph type="title"/>
          </p:nvPr>
        </p:nvSpPr>
        <p:spPr/>
        <p:txBody>
          <a:bodyPr/>
          <a:lstStyle/>
          <a:p>
            <a:r>
              <a:rPr lang="en-US"/>
              <a:t>Choosing basis functions</a:t>
            </a:r>
            <a:endParaRPr lang="en-NL"/>
          </a:p>
        </p:txBody>
      </p:sp>
      <p:sp>
        <p:nvSpPr>
          <p:cNvPr id="4" name="Footer Placeholder 3">
            <a:extLst>
              <a:ext uri="{FF2B5EF4-FFF2-40B4-BE49-F238E27FC236}">
                <a16:creationId xmlns:a16="http://schemas.microsoft.com/office/drawing/2014/main" id="{64177DE7-1F61-E0FA-7018-29AB5D50E606}"/>
              </a:ext>
            </a:extLst>
          </p:cNvPr>
          <p:cNvSpPr>
            <a:spLocks noGrp="1"/>
          </p:cNvSpPr>
          <p:nvPr>
            <p:ph type="ftr" sz="quarter" idx="11"/>
          </p:nvPr>
        </p:nvSpPr>
        <p:spPr/>
        <p:txBody>
          <a:bodyPr/>
          <a:lstStyle/>
          <a:p>
            <a:r>
              <a:rPr lang="en-GB"/>
              <a:t>Learning control, </a:t>
            </a:r>
            <a:r>
              <a:rPr lang="en-US"/>
              <a:t>4SC070</a:t>
            </a:r>
            <a:r>
              <a:rPr lang="en-GB"/>
              <a:t> – group 4</a:t>
            </a:r>
          </a:p>
        </p:txBody>
      </p:sp>
      <p:sp>
        <p:nvSpPr>
          <p:cNvPr id="5" name="Slide Number Placeholder 4">
            <a:extLst>
              <a:ext uri="{FF2B5EF4-FFF2-40B4-BE49-F238E27FC236}">
                <a16:creationId xmlns:a16="http://schemas.microsoft.com/office/drawing/2014/main" id="{1BBDF41F-BD79-8864-5F65-C364D1EF45B3}"/>
              </a:ext>
            </a:extLst>
          </p:cNvPr>
          <p:cNvSpPr>
            <a:spLocks noGrp="1"/>
          </p:cNvSpPr>
          <p:nvPr>
            <p:ph type="sldNum" sz="quarter" idx="12"/>
          </p:nvPr>
        </p:nvSpPr>
        <p:spPr/>
        <p:txBody>
          <a:bodyPr/>
          <a:lstStyle/>
          <a:p>
            <a:fld id="{C194BDB0-F4EA-4DD6-8281-CCE2440D0CE0}" type="slidenum">
              <a:rPr lang="en-GB" smtClean="0"/>
              <a:t>17</a:t>
            </a:fld>
            <a:endParaRPr lang="en-GB"/>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B5DBA52-B9B2-67A0-4B8D-9BC76B93428D}"/>
                  </a:ext>
                </a:extLst>
              </p:cNvPr>
              <p:cNvSpPr txBox="1"/>
              <p:nvPr/>
            </p:nvSpPr>
            <p:spPr>
              <a:xfrm>
                <a:off x="344541" y="1235890"/>
                <a:ext cx="2031356" cy="2392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L" i="1" smtClean="0">
                              <a:latin typeface="Cambria Math" panose="02040503050406030204" pitchFamily="18" charset="0"/>
                            </a:rPr>
                          </m:ctrlPr>
                        </m:sSubPr>
                        <m:e>
                          <m:r>
                            <a:rPr lang="en-NL" i="1">
                              <a:latin typeface="Cambria Math" panose="02040503050406030204" pitchFamily="18" charset="0"/>
                            </a:rPr>
                            <m:t>𝑒</m:t>
                          </m:r>
                        </m:e>
                        <m:sub>
                          <m:r>
                            <a:rPr lang="en-NL" i="1">
                              <a:latin typeface="Cambria Math" panose="02040503050406030204" pitchFamily="18" charset="0"/>
                            </a:rPr>
                            <m:t>𝑦</m:t>
                          </m:r>
                        </m:sub>
                      </m:sSub>
                      <m:r>
                        <a:rPr lang="en-NL" i="0">
                          <a:latin typeface="Cambria Math" panose="02040503050406030204" pitchFamily="18" charset="0"/>
                        </a:rPr>
                        <m:t>=</m:t>
                      </m:r>
                      <m:r>
                        <a:rPr lang="en-NL" i="1">
                          <a:latin typeface="Cambria Math" panose="02040503050406030204" pitchFamily="18" charset="0"/>
                        </a:rPr>
                        <m:t>𝑆</m:t>
                      </m:r>
                      <m:d>
                        <m:dPr>
                          <m:ctrlPr>
                            <a:rPr lang="en-NL" i="1">
                              <a:latin typeface="Cambria Math" panose="02040503050406030204" pitchFamily="18" charset="0"/>
                            </a:rPr>
                          </m:ctrlPr>
                        </m:dP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𝑦</m:t>
                              </m:r>
                            </m:sub>
                          </m:sSub>
                          <m:r>
                            <a:rPr lang="en-NL" i="0">
                              <a:latin typeface="Cambria Math" panose="02040503050406030204" pitchFamily="18" charset="0"/>
                            </a:rPr>
                            <m:t>−</m:t>
                          </m:r>
                          <m:r>
                            <a:rPr lang="en-NL" i="1">
                              <a:latin typeface="Cambria Math" panose="02040503050406030204" pitchFamily="18" charset="0"/>
                            </a:rPr>
                            <m:t>𝑃</m:t>
                          </m:r>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𝑓𝑓</m:t>
                              </m:r>
                            </m:sub>
                          </m:sSub>
                        </m:e>
                      </m:d>
                      <m:r>
                        <a:rPr lang="en-NL" i="1">
                          <a:latin typeface="Cambria Math" panose="02040503050406030204" pitchFamily="18" charset="0"/>
                        </a:rPr>
                        <m:t>𝑟</m:t>
                      </m:r>
                    </m:oMath>
                  </m:oMathPara>
                </a14:m>
                <a:endParaRPr lang="en-NL"/>
              </a:p>
            </p:txBody>
          </p:sp>
        </mc:Choice>
        <mc:Fallback xmlns="">
          <p:sp>
            <p:nvSpPr>
              <p:cNvPr id="6" name="TextBox 5">
                <a:extLst>
                  <a:ext uri="{FF2B5EF4-FFF2-40B4-BE49-F238E27FC236}">
                    <a16:creationId xmlns:a16="http://schemas.microsoft.com/office/drawing/2014/main" id="{3B5DBA52-B9B2-67A0-4B8D-9BC76B93428D}"/>
                  </a:ext>
                </a:extLst>
              </p:cNvPr>
              <p:cNvSpPr txBox="1">
                <a:spLocks noRot="1" noChangeAspect="1" noMove="1" noResize="1" noEditPoints="1" noAdjustHandles="1" noChangeArrowheads="1" noChangeShapeType="1" noTextEdit="1"/>
              </p:cNvSpPr>
              <p:nvPr/>
            </p:nvSpPr>
            <p:spPr>
              <a:xfrm>
                <a:off x="344541" y="1235890"/>
                <a:ext cx="2031356" cy="239296"/>
              </a:xfrm>
              <a:prstGeom prst="rect">
                <a:avLst/>
              </a:prstGeom>
              <a:blipFill>
                <a:blip r:embed="rId2"/>
                <a:stretch>
                  <a:fillRect b="-2307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E296E0BA-40A4-5753-6095-06D8593F98BE}"/>
                  </a:ext>
                </a:extLst>
              </p14:cNvPr>
              <p14:cNvContentPartPr/>
              <p14:nvPr/>
            </p14:nvContentPartPr>
            <p14:xfrm>
              <a:off x="2362757" y="2896925"/>
              <a:ext cx="26280" cy="10440"/>
            </p14:xfrm>
          </p:contentPart>
        </mc:Choice>
        <mc:Fallback xmlns="">
          <p:pic>
            <p:nvPicPr>
              <p:cNvPr id="7" name="Ink 6">
                <a:extLst>
                  <a:ext uri="{FF2B5EF4-FFF2-40B4-BE49-F238E27FC236}">
                    <a16:creationId xmlns:a16="http://schemas.microsoft.com/office/drawing/2014/main" id="{E296E0BA-40A4-5753-6095-06D8593F98BE}"/>
                  </a:ext>
                </a:extLst>
              </p:cNvPr>
              <p:cNvPicPr/>
              <p:nvPr/>
            </p:nvPicPr>
            <p:blipFill>
              <a:blip r:embed="rId4"/>
              <a:stretch>
                <a:fillRect/>
              </a:stretch>
            </p:blipFill>
            <p:spPr>
              <a:xfrm>
                <a:off x="2353757" y="2887925"/>
                <a:ext cx="439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B329ACEC-C107-1C84-39A6-266659F1A4F3}"/>
                  </a:ext>
                </a:extLst>
              </p14:cNvPr>
              <p14:cNvContentPartPr/>
              <p14:nvPr/>
            </p14:nvContentPartPr>
            <p14:xfrm>
              <a:off x="1173567" y="1479169"/>
              <a:ext cx="743040" cy="95040"/>
            </p14:xfrm>
          </p:contentPart>
        </mc:Choice>
        <mc:Fallback xmlns="">
          <p:pic>
            <p:nvPicPr>
              <p:cNvPr id="8" name="Ink 7">
                <a:extLst>
                  <a:ext uri="{FF2B5EF4-FFF2-40B4-BE49-F238E27FC236}">
                    <a16:creationId xmlns:a16="http://schemas.microsoft.com/office/drawing/2014/main" id="{B329ACEC-C107-1C84-39A6-266659F1A4F3}"/>
                  </a:ext>
                </a:extLst>
              </p:cNvPr>
              <p:cNvPicPr/>
              <p:nvPr/>
            </p:nvPicPr>
            <p:blipFill>
              <a:blip r:embed="rId6"/>
              <a:stretch>
                <a:fillRect/>
              </a:stretch>
            </p:blipFill>
            <p:spPr>
              <a:xfrm>
                <a:off x="1164567" y="1470169"/>
                <a:ext cx="760680" cy="112680"/>
              </a:xfrm>
              <a:prstGeom prst="rect">
                <a:avLst/>
              </a:prstGeom>
            </p:spPr>
          </p:pic>
        </mc:Fallback>
      </mc:AlternateContent>
      <p:sp>
        <p:nvSpPr>
          <p:cNvPr id="19" name="TextBox 18">
            <a:extLst>
              <a:ext uri="{FF2B5EF4-FFF2-40B4-BE49-F238E27FC236}">
                <a16:creationId xmlns:a16="http://schemas.microsoft.com/office/drawing/2014/main" id="{F2222F44-0ACF-3BFB-6F47-E9184D48E2C3}"/>
              </a:ext>
            </a:extLst>
          </p:cNvPr>
          <p:cNvSpPr txBox="1"/>
          <p:nvPr/>
        </p:nvSpPr>
        <p:spPr>
          <a:xfrm>
            <a:off x="1365390" y="1527214"/>
            <a:ext cx="359394" cy="300082"/>
          </a:xfrm>
          <a:prstGeom prst="rect">
            <a:avLst/>
          </a:prstGeom>
          <a:noFill/>
        </p:spPr>
        <p:txBody>
          <a:bodyPr wrap="none" rtlCol="0">
            <a:spAutoFit/>
          </a:bodyPr>
          <a:lstStyle/>
          <a:p>
            <a:r>
              <a:rPr lang="en-US"/>
              <a:t>=0</a:t>
            </a:r>
            <a:endParaRPr lang="en-NL"/>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FD80AD4-7AF4-64D3-799C-DF463502C31E}"/>
                  </a:ext>
                </a:extLst>
              </p:cNvPr>
              <p:cNvSpPr txBox="1"/>
              <p:nvPr/>
            </p:nvSpPr>
            <p:spPr>
              <a:xfrm>
                <a:off x="459889" y="1959998"/>
                <a:ext cx="2808398" cy="462371"/>
              </a:xfrm>
              <a:prstGeom prst="rect">
                <a:avLst/>
              </a:prstGeom>
              <a:noFill/>
            </p:spPr>
            <p:txBody>
              <a:bodyPr wrap="none" lIns="0" tIns="0" rIns="0" bIns="0" rtlCol="0">
                <a:spAutoFit/>
              </a:bodyPr>
              <a:lstStyle/>
              <a:p>
                <a14:m>
                  <m:oMath xmlns:m="http://schemas.openxmlformats.org/officeDocument/2006/math">
                    <m:d>
                      <m:dPr>
                        <m:begChr m:val="["/>
                        <m:endChr m:val="]"/>
                        <m:ctrlPr>
                          <a:rPr lang="en-NL" i="1">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𝑦</m:t>
                                  </m:r>
                                  <m:r>
                                    <a:rPr lang="en-NL">
                                      <a:latin typeface="Cambria Math" panose="02040503050406030204" pitchFamily="18" charset="0"/>
                                    </a:rPr>
                                    <m:t>,</m:t>
                                  </m:r>
                                  <m:r>
                                    <a:rPr lang="en-NL" i="1">
                                      <a:latin typeface="Cambria Math" panose="02040503050406030204" pitchFamily="18" charset="0"/>
                                    </a:rPr>
                                    <m:t>𝑥𝑥</m:t>
                                  </m:r>
                                </m:sub>
                              </m:sSub>
                            </m:e>
                            <m:e>
                              <m:r>
                                <a:rPr lang="en-US" b="0" i="1" smtClean="0">
                                  <a:latin typeface="Cambria Math" panose="02040503050406030204" pitchFamily="18" charset="0"/>
                                </a:rPr>
                                <m:t>0</m:t>
                              </m:r>
                            </m:e>
                          </m:mr>
                          <m:m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𝑦</m:t>
                                  </m:r>
                                  <m:r>
                                    <a:rPr lang="en-NL">
                                      <a:latin typeface="Cambria Math" panose="02040503050406030204" pitchFamily="18" charset="0"/>
                                    </a:rPr>
                                    <m:t>,</m:t>
                                  </m:r>
                                  <m:r>
                                    <a:rPr lang="en-NL" i="1">
                                      <a:latin typeface="Cambria Math" panose="02040503050406030204" pitchFamily="18" charset="0"/>
                                    </a:rPr>
                                    <m:t>𝑥</m:t>
                                  </m:r>
                                  <m:r>
                                    <a:rPr lang="en-NL" i="1">
                                      <a:latin typeface="Cambria Math" panose="02040503050406030204" pitchFamily="18" charset="0"/>
                                    </a:rPr>
                                    <m:t>𝜑</m:t>
                                  </m:r>
                                </m:sub>
                              </m:sSub>
                            </m:e>
                            <m:e>
                              <m:r>
                                <a:rPr lang="en-NL">
                                  <a:latin typeface="Cambria Math" panose="02040503050406030204" pitchFamily="18" charset="0"/>
                                </a:rPr>
                                <m:t>1</m:t>
                              </m:r>
                            </m:e>
                          </m:mr>
                        </m:m>
                      </m:e>
                    </m:d>
                    <m:r>
                      <a:rPr lang="en-US" b="0" i="0" smtClean="0">
                        <a:latin typeface="Cambria Math" panose="02040503050406030204" pitchFamily="18" charset="0"/>
                      </a:rPr>
                      <m:t>=</m:t>
                    </m:r>
                    <m:d>
                      <m:dPr>
                        <m:begChr m:val="["/>
                        <m:endChr m:val="]"/>
                        <m:ctrlPr>
                          <a:rPr lang="en-NL" i="1">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NL">
                                      <a:latin typeface="Cambria Math" panose="02040503050406030204" pitchFamily="18" charset="0"/>
                                    </a:rPr>
                                    <m:t>11</m:t>
                                  </m:r>
                                </m:sub>
                              </m:sSub>
                            </m:e>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NL">
                                      <a:latin typeface="Cambria Math" panose="02040503050406030204" pitchFamily="18" charset="0"/>
                                    </a:rPr>
                                    <m:t>12</m:t>
                                  </m:r>
                                </m:sub>
                              </m:sSub>
                            </m:e>
                          </m:mr>
                          <m:mr>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US" b="0" i="0" smtClean="0">
                                      <a:latin typeface="Cambria Math" panose="02040503050406030204" pitchFamily="18" charset="0"/>
                                    </a:rPr>
                                    <m:t>2</m:t>
                                  </m:r>
                                  <m:r>
                                    <a:rPr lang="en-NL">
                                      <a:latin typeface="Cambria Math" panose="02040503050406030204" pitchFamily="18" charset="0"/>
                                    </a:rPr>
                                    <m:t>1</m:t>
                                  </m:r>
                                </m:sub>
                              </m:sSub>
                            </m:e>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NL">
                                      <a:latin typeface="Cambria Math" panose="02040503050406030204" pitchFamily="18" charset="0"/>
                                    </a:rPr>
                                    <m:t>22</m:t>
                                  </m:r>
                                </m:sub>
                              </m:sSub>
                            </m:e>
                          </m:mr>
                        </m:m>
                      </m:e>
                    </m:d>
                    <m:d>
                      <m:dPr>
                        <m:begChr m:val="["/>
                        <m:endChr m:val="]"/>
                        <m:ctrlPr>
                          <a:rPr lang="en-NL" i="1">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𝑓</m:t>
                                  </m:r>
                                  <m:r>
                                    <a:rPr lang="en-NL" i="1" smtClean="0">
                                      <a:latin typeface="Cambria Math" panose="02040503050406030204" pitchFamily="18" charset="0"/>
                                    </a:rPr>
                                    <m:t>𝑓</m:t>
                                  </m:r>
                                  <m:r>
                                    <a:rPr lang="en-NL" i="0">
                                      <a:latin typeface="Cambria Math" panose="02040503050406030204" pitchFamily="18" charset="0"/>
                                    </a:rPr>
                                    <m:t>,</m:t>
                                  </m:r>
                                  <m:r>
                                    <a:rPr lang="en-NL" i="1">
                                      <a:latin typeface="Cambria Math" panose="02040503050406030204" pitchFamily="18" charset="0"/>
                                    </a:rPr>
                                    <m:t>𝑥𝑥</m:t>
                                  </m:r>
                                </m:sub>
                              </m:sSub>
                            </m:e>
                            <m:e>
                              <m:r>
                                <a:rPr lang="en-NL" i="0">
                                  <a:latin typeface="Cambria Math" panose="02040503050406030204" pitchFamily="18" charset="0"/>
                                </a:rPr>
                                <m:t>0</m:t>
                              </m:r>
                            </m:e>
                          </m:mr>
                          <m:m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𝑓</m:t>
                                  </m:r>
                                  <m:sSub>
                                    <m:sSubPr>
                                      <m:ctrlPr>
                                        <a:rPr lang="en-NL" i="1">
                                          <a:latin typeface="Cambria Math" panose="02040503050406030204" pitchFamily="18" charset="0"/>
                                        </a:rPr>
                                      </m:ctrlPr>
                                    </m:sSubPr>
                                    <m:e>
                                      <m:r>
                                        <a:rPr lang="en-NL" i="1">
                                          <a:latin typeface="Cambria Math" panose="02040503050406030204" pitchFamily="18" charset="0"/>
                                        </a:rPr>
                                        <m:t>𝑓</m:t>
                                      </m:r>
                                    </m:e>
                                    <m:sub>
                                      <m:r>
                                        <a:rPr lang="en-US" b="0" i="0" smtClean="0">
                                          <a:latin typeface="Cambria Math" panose="02040503050406030204" pitchFamily="18" charset="0"/>
                                        </a:rPr>
                                        <m:t>,</m:t>
                                      </m:r>
                                    </m:sub>
                                  </m:sSub>
                                  <m:r>
                                    <a:rPr lang="en-NL" i="1">
                                      <a:latin typeface="Cambria Math" panose="02040503050406030204" pitchFamily="18" charset="0"/>
                                    </a:rPr>
                                    <m:t>𝑥</m:t>
                                  </m:r>
                                  <m:r>
                                    <a:rPr lang="en-NL" i="1">
                                      <a:latin typeface="Cambria Math" panose="02040503050406030204" pitchFamily="18" charset="0"/>
                                    </a:rPr>
                                    <m:t>𝜑</m:t>
                                  </m:r>
                                </m:sub>
                              </m:sSub>
                            </m:e>
                            <m:e>
                              <m:r>
                                <a:rPr lang="en-NL" i="0">
                                  <a:latin typeface="Cambria Math" panose="02040503050406030204" pitchFamily="18" charset="0"/>
                                </a:rPr>
                                <m:t>0</m:t>
                              </m:r>
                            </m:e>
                          </m:mr>
                        </m:m>
                      </m:e>
                    </m:d>
                    <m:r>
                      <a:rPr lang="en-US" b="0" i="1" smtClean="0">
                        <a:latin typeface="Cambria Math" panose="02040503050406030204" pitchFamily="18" charset="0"/>
                      </a:rPr>
                      <m:t>   </m:t>
                    </m:r>
                  </m:oMath>
                </a14:m>
                <a:r>
                  <a:rPr lang="en-US"/>
                  <a:t> </a:t>
                </a:r>
                <a:endParaRPr lang="en-NL"/>
              </a:p>
            </p:txBody>
          </p:sp>
        </mc:Choice>
        <mc:Fallback xmlns="">
          <p:sp>
            <p:nvSpPr>
              <p:cNvPr id="20" name="TextBox 19">
                <a:extLst>
                  <a:ext uri="{FF2B5EF4-FFF2-40B4-BE49-F238E27FC236}">
                    <a16:creationId xmlns:a16="http://schemas.microsoft.com/office/drawing/2014/main" id="{1FD80AD4-7AF4-64D3-799C-DF463502C31E}"/>
                  </a:ext>
                </a:extLst>
              </p:cNvPr>
              <p:cNvSpPr txBox="1">
                <a:spLocks noRot="1" noChangeAspect="1" noMove="1" noResize="1" noEditPoints="1" noAdjustHandles="1" noChangeArrowheads="1" noChangeShapeType="1" noTextEdit="1"/>
              </p:cNvSpPr>
              <p:nvPr/>
            </p:nvSpPr>
            <p:spPr>
              <a:xfrm>
                <a:off x="459889" y="1959998"/>
                <a:ext cx="2808398" cy="462371"/>
              </a:xfrm>
              <a:prstGeom prst="rect">
                <a:avLst/>
              </a:prstGeom>
              <a:blipFill>
                <a:blip r:embed="rId7"/>
                <a:stretch>
                  <a:fillRect b="-8000"/>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8">
            <p14:nvContentPartPr>
              <p14:cNvPr id="22" name="Ink 21">
                <a:extLst>
                  <a:ext uri="{FF2B5EF4-FFF2-40B4-BE49-F238E27FC236}">
                    <a16:creationId xmlns:a16="http://schemas.microsoft.com/office/drawing/2014/main" id="{F4B65CFB-3CB3-92DD-34CA-E35970A0389C}"/>
                  </a:ext>
                </a:extLst>
              </p14:cNvPr>
              <p14:cNvContentPartPr/>
              <p14:nvPr/>
            </p14:nvContentPartPr>
            <p14:xfrm>
              <a:off x="2283807" y="1378009"/>
              <a:ext cx="646920" cy="720"/>
            </p14:xfrm>
          </p:contentPart>
        </mc:Choice>
        <mc:Fallback xmlns="">
          <p:pic>
            <p:nvPicPr>
              <p:cNvPr id="22" name="Ink 21">
                <a:extLst>
                  <a:ext uri="{FF2B5EF4-FFF2-40B4-BE49-F238E27FC236}">
                    <a16:creationId xmlns:a16="http://schemas.microsoft.com/office/drawing/2014/main" id="{F4B65CFB-3CB3-92DD-34CA-E35970A0389C}"/>
                  </a:ext>
                </a:extLst>
              </p:cNvPr>
              <p:cNvPicPr/>
              <p:nvPr/>
            </p:nvPicPr>
            <p:blipFill>
              <a:blip r:embed="rId9"/>
              <a:stretch>
                <a:fillRect/>
              </a:stretch>
            </p:blipFill>
            <p:spPr>
              <a:xfrm>
                <a:off x="2274807" y="1360009"/>
                <a:ext cx="664560" cy="36000"/>
              </a:xfrm>
              <a:prstGeom prst="rect">
                <a:avLst/>
              </a:prstGeom>
            </p:spPr>
          </p:pic>
        </mc:Fallback>
      </mc:AlternateContent>
      <p:grpSp>
        <p:nvGrpSpPr>
          <p:cNvPr id="29" name="Group 28">
            <a:extLst>
              <a:ext uri="{FF2B5EF4-FFF2-40B4-BE49-F238E27FC236}">
                <a16:creationId xmlns:a16="http://schemas.microsoft.com/office/drawing/2014/main" id="{E90DF66B-C815-E3F6-2C48-D9CB1F8CE6C3}"/>
              </a:ext>
            </a:extLst>
          </p:cNvPr>
          <p:cNvGrpSpPr/>
          <p:nvPr/>
        </p:nvGrpSpPr>
        <p:grpSpPr>
          <a:xfrm>
            <a:off x="2830855" y="1318787"/>
            <a:ext cx="112680" cy="112320"/>
            <a:chOff x="2830855" y="1318787"/>
            <a:chExt cx="112680" cy="112320"/>
          </a:xfrm>
        </p:grpSpPr>
        <mc:AlternateContent xmlns:mc="http://schemas.openxmlformats.org/markup-compatibility/2006" xmlns:p14="http://schemas.microsoft.com/office/powerpoint/2010/main">
          <mc:Choice Requires="p14">
            <p:contentPart p14:bwMode="auto" r:id="rId10">
              <p14:nvContentPartPr>
                <p14:cNvPr id="27" name="Ink 26">
                  <a:extLst>
                    <a:ext uri="{FF2B5EF4-FFF2-40B4-BE49-F238E27FC236}">
                      <a16:creationId xmlns:a16="http://schemas.microsoft.com/office/drawing/2014/main" id="{FD32E448-5B3C-A1B4-755F-93D04C3BA8BD}"/>
                    </a:ext>
                  </a:extLst>
                </p14:cNvPr>
                <p14:cNvContentPartPr/>
                <p14:nvPr/>
              </p14:nvContentPartPr>
              <p14:xfrm>
                <a:off x="2830855" y="1381787"/>
                <a:ext cx="98640" cy="49320"/>
              </p14:xfrm>
            </p:contentPart>
          </mc:Choice>
          <mc:Fallback xmlns="">
            <p:pic>
              <p:nvPicPr>
                <p:cNvPr id="27" name="Ink 26">
                  <a:extLst>
                    <a:ext uri="{FF2B5EF4-FFF2-40B4-BE49-F238E27FC236}">
                      <a16:creationId xmlns:a16="http://schemas.microsoft.com/office/drawing/2014/main" id="{FD32E448-5B3C-A1B4-755F-93D04C3BA8BD}"/>
                    </a:ext>
                  </a:extLst>
                </p:cNvPr>
                <p:cNvPicPr/>
                <p:nvPr/>
              </p:nvPicPr>
              <p:blipFill>
                <a:blip r:embed="rId11"/>
                <a:stretch>
                  <a:fillRect/>
                </a:stretch>
              </p:blipFill>
              <p:spPr>
                <a:xfrm>
                  <a:off x="2821888" y="1372787"/>
                  <a:ext cx="116216"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8" name="Ink 27">
                  <a:extLst>
                    <a:ext uri="{FF2B5EF4-FFF2-40B4-BE49-F238E27FC236}">
                      <a16:creationId xmlns:a16="http://schemas.microsoft.com/office/drawing/2014/main" id="{0DA26C70-50AE-2D0B-C4D9-4C73590EDF00}"/>
                    </a:ext>
                  </a:extLst>
                </p14:cNvPr>
                <p14:cNvContentPartPr/>
                <p14:nvPr/>
              </p14:nvContentPartPr>
              <p14:xfrm>
                <a:off x="2839855" y="1318787"/>
                <a:ext cx="103680" cy="62640"/>
              </p14:xfrm>
            </p:contentPart>
          </mc:Choice>
          <mc:Fallback xmlns="">
            <p:pic>
              <p:nvPicPr>
                <p:cNvPr id="28" name="Ink 27">
                  <a:extLst>
                    <a:ext uri="{FF2B5EF4-FFF2-40B4-BE49-F238E27FC236}">
                      <a16:creationId xmlns:a16="http://schemas.microsoft.com/office/drawing/2014/main" id="{0DA26C70-50AE-2D0B-C4D9-4C73590EDF00}"/>
                    </a:ext>
                  </a:extLst>
                </p:cNvPr>
                <p:cNvPicPr/>
                <p:nvPr/>
              </p:nvPicPr>
              <p:blipFill>
                <a:blip r:embed="rId13"/>
                <a:stretch>
                  <a:fillRect/>
                </a:stretch>
              </p:blipFill>
              <p:spPr>
                <a:xfrm>
                  <a:off x="2830824" y="1309787"/>
                  <a:ext cx="121381" cy="80280"/>
                </a:xfrm>
                <a:prstGeom prst="rect">
                  <a:avLst/>
                </a:prstGeom>
              </p:spPr>
            </p:pic>
          </mc:Fallback>
        </mc:AlternateContent>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CB919FC-138E-EBCD-DA83-8AEB3E685710}"/>
                  </a:ext>
                </a:extLst>
              </p:cNvPr>
              <p:cNvSpPr txBox="1"/>
              <p:nvPr/>
            </p:nvSpPr>
            <p:spPr>
              <a:xfrm>
                <a:off x="3010929" y="1191762"/>
                <a:ext cx="1220975" cy="33752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NL" i="1" smtClean="0">
                              <a:latin typeface="Cambria Math" panose="02040503050406030204" pitchFamily="18" charset="0"/>
                            </a:rPr>
                          </m:ctrlPr>
                        </m:sSupPr>
                        <m:e>
                          <m:r>
                            <a:rPr lang="en-NL" i="1">
                              <a:latin typeface="Cambria Math" panose="02040503050406030204" pitchFamily="18" charset="0"/>
                            </a:rPr>
                            <m:t>𝑃</m:t>
                          </m:r>
                        </m:e>
                        <m:sup>
                          <m:r>
                            <a:rPr lang="en-US" b="0" i="1" smtClean="0">
                              <a:latin typeface="Cambria Math" panose="02040503050406030204" pitchFamily="18" charset="0"/>
                            </a:rPr>
                            <m:t>−1</m:t>
                          </m:r>
                        </m:sup>
                      </m:sSup>
                      <m:r>
                        <a:rPr lang="en-US" b="0" i="0" smtClean="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𝑓𝑓</m:t>
                          </m:r>
                        </m:sub>
                      </m:sSub>
                      <m:sSup>
                        <m:sSupPr>
                          <m:ctrlPr>
                            <a:rPr lang="en-NL" i="1" smtClean="0">
                              <a:latin typeface="Cambria Math" panose="02040503050406030204" pitchFamily="18" charset="0"/>
                            </a:rPr>
                          </m:ctrlPr>
                        </m:sSupPr>
                        <m:e>
                          <m:sSub>
                            <m:sSubPr>
                              <m:ctrlPr>
                                <a:rPr lang="en-NL" i="1">
                                  <a:latin typeface="Cambria Math" panose="02040503050406030204" pitchFamily="18" charset="0"/>
                                </a:rPr>
                              </m:ctrlPr>
                            </m:sSubPr>
                            <m:e>
                              <m:r>
                                <a:rPr lang="en-NL" i="1">
                                  <a:latin typeface="Cambria Math" panose="02040503050406030204" pitchFamily="18" charset="0"/>
                                </a:rPr>
                                <m:t>𝐶</m:t>
                              </m:r>
                            </m:e>
                            <m:sub>
                              <m:r>
                                <m:rPr>
                                  <m:sty m:val="p"/>
                                </m:rPr>
                                <a:rPr lang="en-US" i="1">
                                  <a:latin typeface="Cambria Math" panose="02040503050406030204" pitchFamily="18" charset="0"/>
                                </a:rPr>
                                <m:t>y</m:t>
                              </m:r>
                            </m:sub>
                          </m:sSub>
                        </m:e>
                        <m:sup>
                          <m:r>
                            <a:rPr lang="en-US" b="0" i="1" smtClean="0">
                              <a:latin typeface="Cambria Math" panose="02040503050406030204" pitchFamily="18" charset="0"/>
                            </a:rPr>
                            <m:t>−1</m:t>
                          </m:r>
                        </m:sup>
                      </m:sSup>
                    </m:oMath>
                  </m:oMathPara>
                </a14:m>
                <a:endParaRPr lang="en-NL"/>
              </a:p>
            </p:txBody>
          </p:sp>
        </mc:Choice>
        <mc:Fallback xmlns="">
          <p:sp>
            <p:nvSpPr>
              <p:cNvPr id="30" name="TextBox 29">
                <a:extLst>
                  <a:ext uri="{FF2B5EF4-FFF2-40B4-BE49-F238E27FC236}">
                    <a16:creationId xmlns:a16="http://schemas.microsoft.com/office/drawing/2014/main" id="{9CB919FC-138E-EBCD-DA83-8AEB3E685710}"/>
                  </a:ext>
                </a:extLst>
              </p:cNvPr>
              <p:cNvSpPr txBox="1">
                <a:spLocks noRot="1" noChangeAspect="1" noMove="1" noResize="1" noEditPoints="1" noAdjustHandles="1" noChangeArrowheads="1" noChangeShapeType="1" noTextEdit="1"/>
              </p:cNvSpPr>
              <p:nvPr/>
            </p:nvSpPr>
            <p:spPr>
              <a:xfrm>
                <a:off x="3010929" y="1191762"/>
                <a:ext cx="1220975" cy="337528"/>
              </a:xfrm>
              <a:prstGeom prst="rect">
                <a:avLst/>
              </a:prstGeom>
              <a:blipFill>
                <a:blip r:embed="rId14"/>
                <a:stretch>
                  <a:fillRect b="-17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EB6A95E-87C0-1125-2795-DFDAEB1D3333}"/>
                  </a:ext>
                </a:extLst>
              </p:cNvPr>
              <p:cNvSpPr txBox="1"/>
              <p:nvPr/>
            </p:nvSpPr>
            <p:spPr>
              <a:xfrm>
                <a:off x="4912098" y="1138735"/>
                <a:ext cx="4158061" cy="4227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NL" i="1" smtClean="0">
                              <a:latin typeface="Cambria Math" panose="02040503050406030204" pitchFamily="18" charset="0"/>
                            </a:rPr>
                          </m:ctrlPr>
                        </m:sSupPr>
                        <m:e>
                          <m:sSup>
                            <m:sSupPr>
                              <m:ctrlPr>
                                <a:rPr lang="en-NL" i="1">
                                  <a:latin typeface="Cambria Math" panose="02040503050406030204" pitchFamily="18" charset="0"/>
                                </a:rPr>
                              </m:ctrlPr>
                            </m:sSupPr>
                            <m:e>
                              <m:r>
                                <a:rPr lang="en-NL" i="1">
                                  <a:latin typeface="Cambria Math" panose="02040503050406030204" pitchFamily="18" charset="0"/>
                                </a:rPr>
                                <m:t>𝑃</m:t>
                              </m:r>
                            </m:e>
                            <m:sup>
                              <m:r>
                                <a:rPr lang="en-US" i="1">
                                  <a:latin typeface="Cambria Math" panose="02040503050406030204" pitchFamily="18" charset="0"/>
                                </a:rPr>
                                <m:t>−1</m:t>
                              </m:r>
                            </m:sup>
                          </m:sSup>
                          <m:r>
                            <a:rPr lang="en-US" b="0" i="0" smtClean="0">
                              <a:latin typeface="Cambria Math" panose="02040503050406030204" pitchFamily="18" charset="0"/>
                            </a:rPr>
                            <m:t>=</m:t>
                          </m:r>
                          <m:d>
                            <m:dPr>
                              <m:begChr m:val="["/>
                              <m:endChr m:val="]"/>
                              <m:ctrlPr>
                                <a:rPr lang="en-NL" i="1">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NL" i="0">
                                            <a:latin typeface="Cambria Math" panose="02040503050406030204" pitchFamily="18" charset="0"/>
                                          </a:rPr>
                                          <m:t>11</m:t>
                                        </m:r>
                                      </m:sub>
                                    </m:sSub>
                                  </m:e>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US" b="0" i="0" smtClean="0">
                                            <a:latin typeface="Cambria Math" panose="02040503050406030204" pitchFamily="18" charset="0"/>
                                          </a:rPr>
                                          <m:t>1</m:t>
                                        </m:r>
                                        <m:r>
                                          <a:rPr lang="en-NL" i="0">
                                            <a:latin typeface="Cambria Math" panose="02040503050406030204" pitchFamily="18" charset="0"/>
                                          </a:rPr>
                                          <m:t>2</m:t>
                                        </m:r>
                                      </m:sub>
                                    </m:sSub>
                                  </m:e>
                                </m:mr>
                                <m:mr>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NL" i="0">
                                            <a:latin typeface="Cambria Math" panose="02040503050406030204" pitchFamily="18" charset="0"/>
                                          </a:rPr>
                                          <m:t>21</m:t>
                                        </m:r>
                                      </m:sub>
                                    </m:sSub>
                                  </m:e>
                                  <m:e>
                                    <m:sSub>
                                      <m:sSubPr>
                                        <m:ctrlPr>
                                          <a:rPr lang="en-NL" i="1">
                                            <a:latin typeface="Cambria Math" panose="02040503050406030204" pitchFamily="18" charset="0"/>
                                          </a:rPr>
                                        </m:ctrlPr>
                                      </m:sSubPr>
                                      <m:e>
                                        <m:r>
                                          <a:rPr lang="en-NL" i="1">
                                            <a:latin typeface="Cambria Math" panose="02040503050406030204" pitchFamily="18" charset="0"/>
                                          </a:rPr>
                                          <m:t>𝑃</m:t>
                                        </m:r>
                                      </m:e>
                                      <m:sub>
                                        <m:r>
                                          <a:rPr lang="en-NL" i="0">
                                            <a:latin typeface="Cambria Math" panose="02040503050406030204" pitchFamily="18" charset="0"/>
                                          </a:rPr>
                                          <m:t>22</m:t>
                                        </m:r>
                                      </m:sub>
                                    </m:sSub>
                                  </m:e>
                                </m:mr>
                              </m:m>
                            </m:e>
                          </m:d>
                        </m:e>
                        <m:sup>
                          <m:r>
                            <a:rPr lang="en-NL" i="0">
                              <a:latin typeface="Cambria Math" panose="02040503050406030204" pitchFamily="18" charset="0"/>
                            </a:rPr>
                            <m:t>−1</m:t>
                          </m:r>
                        </m:sup>
                      </m:sSup>
                      <m:r>
                        <a:rPr lang="en-NL" i="0">
                          <a:latin typeface="Cambria Math" panose="02040503050406030204" pitchFamily="18" charset="0"/>
                        </a:rPr>
                        <m:t>=</m:t>
                      </m:r>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11</m:t>
                                  </m:r>
                                </m:sub>
                              </m:sSub>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12</m:t>
                                  </m:r>
                                </m:sub>
                              </m:sSub>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21</m:t>
                                  </m:r>
                                </m:sub>
                              </m:sSub>
                            </m:e>
                          </m:d>
                        </m:e>
                        <m:sup>
                          <m:r>
                            <a:rPr lang="en-US" b="0" i="1" smtClean="0">
                              <a:latin typeface="Cambria Math" panose="02040503050406030204" pitchFamily="18" charset="0"/>
                            </a:rPr>
                            <m:t>−1</m:t>
                          </m:r>
                        </m:sup>
                      </m:sSup>
                      <m:d>
                        <m:dPr>
                          <m:begChr m:val="["/>
                          <m:endChr m:val="]"/>
                          <m:ctrlPr>
                            <a:rPr lang="en-NL" i="1">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US" i="1">
                                        <a:latin typeface="Cambria Math" panose="02040503050406030204" pitchFamily="18" charset="0"/>
                                      </a:rPr>
                                      <m:t>𝑃</m:t>
                                    </m:r>
                                  </m:e>
                                  <m:sub>
                                    <m:r>
                                      <a:rPr lang="en-NL" i="0">
                                        <a:latin typeface="Cambria Math" panose="02040503050406030204" pitchFamily="18" charset="0"/>
                                      </a:rPr>
                                      <m:t>22</m:t>
                                    </m:r>
                                  </m:sub>
                                </m:sSub>
                              </m:e>
                              <m:e>
                                <m:sSub>
                                  <m:sSubPr>
                                    <m:ctrlPr>
                                      <a:rPr lang="en-NL"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𝑃</m:t>
                                    </m:r>
                                  </m:e>
                                  <m:sub>
                                    <m:r>
                                      <a:rPr lang="en-US" b="0" i="0" smtClean="0">
                                        <a:latin typeface="Cambria Math" panose="02040503050406030204" pitchFamily="18" charset="0"/>
                                      </a:rPr>
                                      <m:t>1</m:t>
                                    </m:r>
                                    <m:r>
                                      <a:rPr lang="en-NL">
                                        <a:latin typeface="Cambria Math" panose="02040503050406030204" pitchFamily="18" charset="0"/>
                                      </a:rPr>
                                      <m:t>2</m:t>
                                    </m:r>
                                  </m:sub>
                                </m:sSub>
                              </m:e>
                            </m:mr>
                            <m:mr>
                              <m:e>
                                <m:sSub>
                                  <m:sSubPr>
                                    <m:ctrlPr>
                                      <a:rPr lang="en-NL"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𝑃</m:t>
                                    </m:r>
                                  </m:e>
                                  <m:sub>
                                    <m:r>
                                      <a:rPr lang="en-NL">
                                        <a:latin typeface="Cambria Math" panose="02040503050406030204" pitchFamily="18" charset="0"/>
                                      </a:rPr>
                                      <m:t>2</m:t>
                                    </m:r>
                                    <m:r>
                                      <a:rPr lang="en-US" b="0" i="1" smtClean="0">
                                        <a:latin typeface="Cambria Math" panose="02040503050406030204" pitchFamily="18" charset="0"/>
                                      </a:rPr>
                                      <m:t>1</m:t>
                                    </m:r>
                                  </m:sub>
                                </m:sSub>
                              </m:e>
                              <m:e>
                                <m:sSub>
                                  <m:sSubPr>
                                    <m:ctrlPr>
                                      <a:rPr lang="en-NL" i="1">
                                        <a:latin typeface="Cambria Math" panose="02040503050406030204" pitchFamily="18" charset="0"/>
                                      </a:rPr>
                                    </m:ctrlPr>
                                  </m:sSubPr>
                                  <m:e>
                                    <m:r>
                                      <a:rPr lang="en-US" i="1">
                                        <a:latin typeface="Cambria Math" panose="02040503050406030204" pitchFamily="18" charset="0"/>
                                      </a:rPr>
                                      <m:t>𝑃</m:t>
                                    </m:r>
                                  </m:e>
                                  <m:sub>
                                    <m:r>
                                      <a:rPr lang="en-US" b="0" i="0" smtClean="0">
                                        <a:latin typeface="Cambria Math" panose="02040503050406030204" pitchFamily="18" charset="0"/>
                                      </a:rPr>
                                      <m:t>1</m:t>
                                    </m:r>
                                    <m:r>
                                      <a:rPr lang="en-US" b="0" i="1" smtClean="0">
                                        <a:latin typeface="Cambria Math" panose="02040503050406030204" pitchFamily="18" charset="0"/>
                                      </a:rPr>
                                      <m:t>1</m:t>
                                    </m:r>
                                  </m:sub>
                                </m:sSub>
                              </m:e>
                            </m:mr>
                          </m:m>
                        </m:e>
                      </m:d>
                    </m:oMath>
                  </m:oMathPara>
                </a14:m>
                <a:endParaRPr lang="en-NL"/>
              </a:p>
            </p:txBody>
          </p:sp>
        </mc:Choice>
        <mc:Fallback xmlns="">
          <p:sp>
            <p:nvSpPr>
              <p:cNvPr id="31" name="TextBox 30">
                <a:extLst>
                  <a:ext uri="{FF2B5EF4-FFF2-40B4-BE49-F238E27FC236}">
                    <a16:creationId xmlns:a16="http://schemas.microsoft.com/office/drawing/2014/main" id="{4EB6A95E-87C0-1125-2795-DFDAEB1D3333}"/>
                  </a:ext>
                </a:extLst>
              </p:cNvPr>
              <p:cNvSpPr txBox="1">
                <a:spLocks noRot="1" noChangeAspect="1" noMove="1" noResize="1" noEditPoints="1" noAdjustHandles="1" noChangeArrowheads="1" noChangeShapeType="1" noTextEdit="1"/>
              </p:cNvSpPr>
              <p:nvPr/>
            </p:nvSpPr>
            <p:spPr>
              <a:xfrm>
                <a:off x="4912098" y="1138735"/>
                <a:ext cx="4158061" cy="422744"/>
              </a:xfrm>
              <a:prstGeom prst="rect">
                <a:avLst/>
              </a:prstGeom>
              <a:blipFill>
                <a:blip r:embed="rId15"/>
                <a:stretch>
                  <a:fillRect l="-1466" r="-1173" b="-101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8DF6911-4CFD-A3FA-C70E-595461BBAAA5}"/>
                  </a:ext>
                </a:extLst>
              </p:cNvPr>
              <p:cNvSpPr txBox="1"/>
              <p:nvPr/>
            </p:nvSpPr>
            <p:spPr>
              <a:xfrm>
                <a:off x="4715910" y="1827296"/>
                <a:ext cx="4032250" cy="595356"/>
              </a:xfrm>
              <a:prstGeom prst="rect">
                <a:avLst/>
              </a:prstGeom>
              <a:noFill/>
            </p:spPr>
            <p:txBody>
              <a:bodyPr wrap="square" rtlCol="0">
                <a:spAutoFit/>
              </a:bodyPr>
              <a:lstStyle/>
              <a:p>
                <a14:m>
                  <m:oMath xmlns:m="http://schemas.openxmlformats.org/officeDocument/2006/math">
                    <m:sSup>
                      <m:sSupPr>
                        <m:ctrlPr>
                          <a:rPr lang="en-NL" i="1">
                            <a:latin typeface="Cambria Math" panose="02040503050406030204" pitchFamily="18" charset="0"/>
                          </a:rPr>
                        </m:ctrlPr>
                      </m:sSupPr>
                      <m:e>
                        <m:sSub>
                          <m:sSubPr>
                            <m:ctrlPr>
                              <a:rPr lang="en-NL" i="1">
                                <a:latin typeface="Cambria Math" panose="02040503050406030204" pitchFamily="18" charset="0"/>
                              </a:rPr>
                            </m:ctrlPr>
                          </m:sSubPr>
                          <m:e>
                            <m:r>
                              <a:rPr lang="en-NL" i="1">
                                <a:latin typeface="Cambria Math" panose="02040503050406030204" pitchFamily="18" charset="0"/>
                              </a:rPr>
                              <m:t>𝐶</m:t>
                            </m:r>
                          </m:e>
                          <m:sub>
                            <m:r>
                              <m:rPr>
                                <m:sty m:val="p"/>
                              </m:rPr>
                              <a:rPr lang="en-US" i="1">
                                <a:latin typeface="Cambria Math" panose="02040503050406030204" pitchFamily="18" charset="0"/>
                              </a:rPr>
                              <m:t>y</m:t>
                            </m:r>
                          </m:sub>
                        </m:sSub>
                      </m:e>
                      <m:sup>
                        <m:r>
                          <a:rPr lang="en-US" i="1">
                            <a:latin typeface="Cambria Math" panose="02040503050406030204" pitchFamily="18" charset="0"/>
                          </a:rPr>
                          <m:t>−1</m:t>
                        </m:r>
                      </m:sup>
                    </m:sSup>
                    <m:r>
                      <a:rPr lang="en-US" b="0" i="1" smtClean="0">
                        <a:latin typeface="Cambria Math" panose="02040503050406030204" pitchFamily="18" charset="0"/>
                      </a:rPr>
                      <m:t>=</m:t>
                    </m:r>
                  </m:oMath>
                </a14:m>
                <a:r>
                  <a:rPr lang="en-US"/>
                  <a:t> </a:t>
                </a:r>
                <a14:m>
                  <m:oMath xmlns:m="http://schemas.openxmlformats.org/officeDocument/2006/math">
                    <m:sSup>
                      <m:sSupPr>
                        <m:ctrlPr>
                          <a:rPr lang="en-US" b="0" i="1" smtClean="0">
                            <a:latin typeface="Cambria Math" panose="02040503050406030204" pitchFamily="18" charset="0"/>
                          </a:rPr>
                        </m:ctrlPr>
                      </m:sSupPr>
                      <m:e>
                        <m:d>
                          <m:dPr>
                            <m:begChr m:val="["/>
                            <m:endChr m:val="]"/>
                            <m:ctrlPr>
                              <a:rPr lang="en-NL" i="1">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𝑦</m:t>
                                      </m:r>
                                      <m:r>
                                        <a:rPr lang="en-NL">
                                          <a:latin typeface="Cambria Math" panose="02040503050406030204" pitchFamily="18" charset="0"/>
                                        </a:rPr>
                                        <m:t>,</m:t>
                                      </m:r>
                                      <m:r>
                                        <a:rPr lang="en-NL" i="1">
                                          <a:latin typeface="Cambria Math" panose="02040503050406030204" pitchFamily="18" charset="0"/>
                                        </a:rPr>
                                        <m:t>𝑥𝑥</m:t>
                                      </m:r>
                                    </m:sub>
                                  </m:sSub>
                                </m:e>
                                <m:e>
                                  <m:r>
                                    <a:rPr lang="en-US" i="1">
                                      <a:latin typeface="Cambria Math" panose="02040503050406030204" pitchFamily="18" charset="0"/>
                                    </a:rPr>
                                    <m:t>0</m:t>
                                  </m:r>
                                </m:e>
                              </m:mr>
                              <m:mr>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𝑦</m:t>
                                      </m:r>
                                      <m:r>
                                        <a:rPr lang="en-NL">
                                          <a:latin typeface="Cambria Math" panose="02040503050406030204" pitchFamily="18" charset="0"/>
                                        </a:rPr>
                                        <m:t>,</m:t>
                                      </m:r>
                                      <m:r>
                                        <a:rPr lang="en-NL" i="1">
                                          <a:latin typeface="Cambria Math" panose="02040503050406030204" pitchFamily="18" charset="0"/>
                                        </a:rPr>
                                        <m:t>𝑥</m:t>
                                      </m:r>
                                      <m:r>
                                        <a:rPr lang="en-NL" i="1">
                                          <a:latin typeface="Cambria Math" panose="02040503050406030204" pitchFamily="18" charset="0"/>
                                        </a:rPr>
                                        <m:t>𝜑</m:t>
                                      </m:r>
                                    </m:sub>
                                  </m:sSub>
                                </m:e>
                                <m:e>
                                  <m:r>
                                    <a:rPr lang="en-NL">
                                      <a:latin typeface="Cambria Math" panose="02040503050406030204" pitchFamily="18" charset="0"/>
                                    </a:rPr>
                                    <m:t>1</m:t>
                                  </m:r>
                                </m:e>
                              </m:mr>
                            </m:m>
                          </m:e>
                        </m:d>
                      </m:e>
                      <m:sup>
                        <m:r>
                          <a:rPr lang="en-US" b="0" i="1" smtClean="0">
                            <a:latin typeface="Cambria Math" panose="02040503050406030204" pitchFamily="18" charset="0"/>
                          </a:rPr>
                          <m:t>−1</m:t>
                        </m:r>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i="1">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𝑦</m:t>
                            </m:r>
                            <m:r>
                              <a:rPr lang="en-NL">
                                <a:latin typeface="Cambria Math" panose="02040503050406030204" pitchFamily="18" charset="0"/>
                              </a:rPr>
                              <m:t>,</m:t>
                            </m:r>
                            <m:r>
                              <a:rPr lang="en-NL" i="1">
                                <a:latin typeface="Cambria Math" panose="02040503050406030204" pitchFamily="18" charset="0"/>
                              </a:rPr>
                              <m:t>𝑥𝑥</m:t>
                            </m:r>
                          </m:sub>
                        </m:sSub>
                        <m:r>
                          <a:rPr lang="en-US" i="1">
                            <a:latin typeface="Cambria Math" panose="02040503050406030204" pitchFamily="18" charset="0"/>
                          </a:rPr>
                          <m:t>)</m:t>
                        </m:r>
                      </m:e>
                      <m:sup>
                        <m:r>
                          <a:rPr lang="en-US" b="0" i="1" smtClean="0">
                            <a:latin typeface="Cambria Math" panose="02040503050406030204" pitchFamily="18" charset="0"/>
                          </a:rPr>
                          <m:t>−1</m:t>
                        </m:r>
                      </m:sup>
                    </m:sSup>
                    <m:d>
                      <m:dPr>
                        <m:begChr m:val="["/>
                        <m:endChr m:val="]"/>
                        <m:ctrlPr>
                          <a:rPr lang="en-NL" i="1">
                            <a:latin typeface="Cambria Math" panose="02040503050406030204" pitchFamily="18" charset="0"/>
                          </a:rPr>
                        </m:ctrlPr>
                      </m:dPr>
                      <m:e>
                        <m:m>
                          <m:mPr>
                            <m:plcHide m:val="on"/>
                            <m:mcs>
                              <m:mc>
                                <m:mcPr>
                                  <m:count m:val="2"/>
                                  <m:mcJc m:val="center"/>
                                </m:mcPr>
                              </m:mc>
                            </m:mcs>
                            <m:ctrlPr>
                              <a:rPr lang="en-NL" i="1">
                                <a:latin typeface="Cambria Math" panose="02040503050406030204" pitchFamily="18" charset="0"/>
                              </a:rPr>
                            </m:ctrlPr>
                          </m:mPr>
                          <m:mr>
                            <m:e>
                              <m:r>
                                <a:rPr lang="en-US" b="0" i="1" smtClean="0">
                                  <a:latin typeface="Cambria Math" panose="02040503050406030204" pitchFamily="18" charset="0"/>
                                </a:rPr>
                                <m:t>1</m:t>
                              </m:r>
                            </m:e>
                            <m:e>
                              <m:r>
                                <a:rPr lang="en-US" i="1">
                                  <a:latin typeface="Cambria Math" panose="02040503050406030204" pitchFamily="18" charset="0"/>
                                </a:rPr>
                                <m:t>0</m:t>
                              </m:r>
                            </m:e>
                          </m:mr>
                          <m:mr>
                            <m:e>
                              <m:sSub>
                                <m:sSubPr>
                                  <m:ctrlPr>
                                    <a:rPr lang="en-NL" i="1">
                                      <a:latin typeface="Cambria Math" panose="02040503050406030204" pitchFamily="18" charset="0"/>
                                    </a:rPr>
                                  </m:ctrlPr>
                                </m:sSubPr>
                                <m:e>
                                  <m:r>
                                    <a:rPr lang="en-US" b="0" i="1" smtClean="0">
                                      <a:latin typeface="Cambria Math" panose="02040503050406030204" pitchFamily="18" charset="0"/>
                                    </a:rPr>
                                    <m:t>−</m:t>
                                  </m:r>
                                  <m:r>
                                    <a:rPr lang="en-NL" i="1">
                                      <a:latin typeface="Cambria Math" panose="02040503050406030204" pitchFamily="18" charset="0"/>
                                    </a:rPr>
                                    <m:t>𝐶</m:t>
                                  </m:r>
                                </m:e>
                                <m:sub>
                                  <m:r>
                                    <a:rPr lang="en-NL" i="1">
                                      <a:latin typeface="Cambria Math" panose="02040503050406030204" pitchFamily="18" charset="0"/>
                                    </a:rPr>
                                    <m:t>𝑦</m:t>
                                  </m:r>
                                  <m:r>
                                    <a:rPr lang="en-NL">
                                      <a:latin typeface="Cambria Math" panose="02040503050406030204" pitchFamily="18" charset="0"/>
                                    </a:rPr>
                                    <m:t>,</m:t>
                                  </m:r>
                                  <m:r>
                                    <a:rPr lang="en-NL" i="1">
                                      <a:latin typeface="Cambria Math" panose="02040503050406030204" pitchFamily="18" charset="0"/>
                                    </a:rPr>
                                    <m:t>𝑥</m:t>
                                  </m:r>
                                  <m:r>
                                    <a:rPr lang="en-NL" i="1">
                                      <a:latin typeface="Cambria Math" panose="02040503050406030204" pitchFamily="18" charset="0"/>
                                    </a:rPr>
                                    <m:t>𝜑</m:t>
                                  </m:r>
                                </m:sub>
                              </m:sSub>
                            </m:e>
                            <m:e>
                              <m:sSub>
                                <m:sSubPr>
                                  <m:ctrlPr>
                                    <a:rPr lang="en-NL" i="1">
                                      <a:latin typeface="Cambria Math" panose="02040503050406030204" pitchFamily="18" charset="0"/>
                                    </a:rPr>
                                  </m:ctrlPr>
                                </m:sSubPr>
                                <m:e>
                                  <m:r>
                                    <a:rPr lang="en-NL" i="1">
                                      <a:latin typeface="Cambria Math" panose="02040503050406030204" pitchFamily="18" charset="0"/>
                                    </a:rPr>
                                    <m:t>𝐶</m:t>
                                  </m:r>
                                </m:e>
                                <m:sub>
                                  <m:r>
                                    <a:rPr lang="en-NL" i="1">
                                      <a:latin typeface="Cambria Math" panose="02040503050406030204" pitchFamily="18" charset="0"/>
                                    </a:rPr>
                                    <m:t>𝑦</m:t>
                                  </m:r>
                                  <m:r>
                                    <a:rPr lang="en-NL">
                                      <a:latin typeface="Cambria Math" panose="02040503050406030204" pitchFamily="18" charset="0"/>
                                    </a:rPr>
                                    <m:t>,</m:t>
                                  </m:r>
                                  <m:r>
                                    <a:rPr lang="en-NL" i="1">
                                      <a:latin typeface="Cambria Math" panose="02040503050406030204" pitchFamily="18" charset="0"/>
                                    </a:rPr>
                                    <m:t>𝑥𝑥</m:t>
                                  </m:r>
                                </m:sub>
                              </m:sSub>
                            </m:e>
                          </m:mr>
                        </m:m>
                      </m:e>
                    </m:d>
                  </m:oMath>
                </a14:m>
                <a:endParaRPr lang="en-NL"/>
              </a:p>
            </p:txBody>
          </p:sp>
        </mc:Choice>
        <mc:Fallback xmlns="">
          <p:sp>
            <p:nvSpPr>
              <p:cNvPr id="32" name="TextBox 31">
                <a:extLst>
                  <a:ext uri="{FF2B5EF4-FFF2-40B4-BE49-F238E27FC236}">
                    <a16:creationId xmlns:a16="http://schemas.microsoft.com/office/drawing/2014/main" id="{98DF6911-4CFD-A3FA-C70E-595461BBAAA5}"/>
                  </a:ext>
                </a:extLst>
              </p:cNvPr>
              <p:cNvSpPr txBox="1">
                <a:spLocks noRot="1" noChangeAspect="1" noMove="1" noResize="1" noEditPoints="1" noAdjustHandles="1" noChangeArrowheads="1" noChangeShapeType="1" noTextEdit="1"/>
              </p:cNvSpPr>
              <p:nvPr/>
            </p:nvSpPr>
            <p:spPr>
              <a:xfrm>
                <a:off x="4715910" y="1827296"/>
                <a:ext cx="4032250" cy="595356"/>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7">
            <p14:nvContentPartPr>
              <p14:cNvPr id="33" name="Ink 32">
                <a:extLst>
                  <a:ext uri="{FF2B5EF4-FFF2-40B4-BE49-F238E27FC236}">
                    <a16:creationId xmlns:a16="http://schemas.microsoft.com/office/drawing/2014/main" id="{D57A8267-269D-8197-ED9D-FF7CD41AEE55}"/>
                  </a:ext>
                </a:extLst>
              </p14:cNvPr>
              <p14:cNvContentPartPr/>
              <p14:nvPr/>
            </p14:nvContentPartPr>
            <p14:xfrm>
              <a:off x="4207208" y="1378009"/>
              <a:ext cx="646920" cy="720"/>
            </p14:xfrm>
          </p:contentPart>
        </mc:Choice>
        <mc:Fallback xmlns="">
          <p:pic>
            <p:nvPicPr>
              <p:cNvPr id="33" name="Ink 32">
                <a:extLst>
                  <a:ext uri="{FF2B5EF4-FFF2-40B4-BE49-F238E27FC236}">
                    <a16:creationId xmlns:a16="http://schemas.microsoft.com/office/drawing/2014/main" id="{D57A8267-269D-8197-ED9D-FF7CD41AEE55}"/>
                  </a:ext>
                </a:extLst>
              </p:cNvPr>
              <p:cNvPicPr/>
              <p:nvPr/>
            </p:nvPicPr>
            <p:blipFill>
              <a:blip r:embed="rId9"/>
              <a:stretch>
                <a:fillRect/>
              </a:stretch>
            </p:blipFill>
            <p:spPr>
              <a:xfrm>
                <a:off x="4198208" y="1360009"/>
                <a:ext cx="664560" cy="36000"/>
              </a:xfrm>
              <a:prstGeom prst="rect">
                <a:avLst/>
              </a:prstGeom>
            </p:spPr>
          </p:pic>
        </mc:Fallback>
      </mc:AlternateContent>
      <p:grpSp>
        <p:nvGrpSpPr>
          <p:cNvPr id="34" name="Group 33">
            <a:extLst>
              <a:ext uri="{FF2B5EF4-FFF2-40B4-BE49-F238E27FC236}">
                <a16:creationId xmlns:a16="http://schemas.microsoft.com/office/drawing/2014/main" id="{FA98602B-B5F7-B047-70F0-1285377788E1}"/>
              </a:ext>
            </a:extLst>
          </p:cNvPr>
          <p:cNvGrpSpPr/>
          <p:nvPr/>
        </p:nvGrpSpPr>
        <p:grpSpPr>
          <a:xfrm>
            <a:off x="4754256" y="1318787"/>
            <a:ext cx="112680" cy="112320"/>
            <a:chOff x="2830855" y="1318787"/>
            <a:chExt cx="112680" cy="112320"/>
          </a:xfrm>
        </p:grpSpPr>
        <mc:AlternateContent xmlns:mc="http://schemas.openxmlformats.org/markup-compatibility/2006" xmlns:p14="http://schemas.microsoft.com/office/powerpoint/2010/main">
          <mc:Choice Requires="p14">
            <p:contentPart p14:bwMode="auto" r:id="rId18">
              <p14:nvContentPartPr>
                <p14:cNvPr id="35" name="Ink 34">
                  <a:extLst>
                    <a:ext uri="{FF2B5EF4-FFF2-40B4-BE49-F238E27FC236}">
                      <a16:creationId xmlns:a16="http://schemas.microsoft.com/office/drawing/2014/main" id="{E7AE3DAC-B7D5-B9A2-E625-1A0947AF2F45}"/>
                    </a:ext>
                  </a:extLst>
                </p14:cNvPr>
                <p14:cNvContentPartPr/>
                <p14:nvPr/>
              </p14:nvContentPartPr>
              <p14:xfrm>
                <a:off x="2830855" y="1381787"/>
                <a:ext cx="98640" cy="49320"/>
              </p14:xfrm>
            </p:contentPart>
          </mc:Choice>
          <mc:Fallback xmlns="">
            <p:pic>
              <p:nvPicPr>
                <p:cNvPr id="35" name="Ink 34">
                  <a:extLst>
                    <a:ext uri="{FF2B5EF4-FFF2-40B4-BE49-F238E27FC236}">
                      <a16:creationId xmlns:a16="http://schemas.microsoft.com/office/drawing/2014/main" id="{E7AE3DAC-B7D5-B9A2-E625-1A0947AF2F45}"/>
                    </a:ext>
                  </a:extLst>
                </p:cNvPr>
                <p:cNvPicPr/>
                <p:nvPr/>
              </p:nvPicPr>
              <p:blipFill>
                <a:blip r:embed="rId11"/>
                <a:stretch>
                  <a:fillRect/>
                </a:stretch>
              </p:blipFill>
              <p:spPr>
                <a:xfrm>
                  <a:off x="2821888" y="1372787"/>
                  <a:ext cx="116216"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6" name="Ink 35">
                  <a:extLst>
                    <a:ext uri="{FF2B5EF4-FFF2-40B4-BE49-F238E27FC236}">
                      <a16:creationId xmlns:a16="http://schemas.microsoft.com/office/drawing/2014/main" id="{23C59F55-8540-699C-78D2-2AC259DC2D7D}"/>
                    </a:ext>
                  </a:extLst>
                </p14:cNvPr>
                <p14:cNvContentPartPr/>
                <p14:nvPr/>
              </p14:nvContentPartPr>
              <p14:xfrm>
                <a:off x="2839855" y="1318787"/>
                <a:ext cx="103680" cy="62640"/>
              </p14:xfrm>
            </p:contentPart>
          </mc:Choice>
          <mc:Fallback xmlns="">
            <p:pic>
              <p:nvPicPr>
                <p:cNvPr id="36" name="Ink 35">
                  <a:extLst>
                    <a:ext uri="{FF2B5EF4-FFF2-40B4-BE49-F238E27FC236}">
                      <a16:creationId xmlns:a16="http://schemas.microsoft.com/office/drawing/2014/main" id="{23C59F55-8540-699C-78D2-2AC259DC2D7D}"/>
                    </a:ext>
                  </a:extLst>
                </p:cNvPr>
                <p:cNvPicPr/>
                <p:nvPr/>
              </p:nvPicPr>
              <p:blipFill>
                <a:blip r:embed="rId13"/>
                <a:stretch>
                  <a:fillRect/>
                </a:stretch>
              </p:blipFill>
              <p:spPr>
                <a:xfrm>
                  <a:off x="2830824" y="1309787"/>
                  <a:ext cx="121381" cy="80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37" name="Ink 36">
                <a:extLst>
                  <a:ext uri="{FF2B5EF4-FFF2-40B4-BE49-F238E27FC236}">
                    <a16:creationId xmlns:a16="http://schemas.microsoft.com/office/drawing/2014/main" id="{A180FDD5-CED4-9E6D-6C94-D83AD991F222}"/>
                  </a:ext>
                </a:extLst>
              </p14:cNvPr>
              <p14:cNvContentPartPr/>
              <p14:nvPr/>
            </p14:nvContentPartPr>
            <p14:xfrm rot="2888012">
              <a:off x="4071819" y="1814970"/>
              <a:ext cx="646920" cy="720"/>
            </p14:xfrm>
          </p:contentPart>
        </mc:Choice>
        <mc:Fallback xmlns="">
          <p:pic>
            <p:nvPicPr>
              <p:cNvPr id="37" name="Ink 36">
                <a:extLst>
                  <a:ext uri="{FF2B5EF4-FFF2-40B4-BE49-F238E27FC236}">
                    <a16:creationId xmlns:a16="http://schemas.microsoft.com/office/drawing/2014/main" id="{A180FDD5-CED4-9E6D-6C94-D83AD991F222}"/>
                  </a:ext>
                </a:extLst>
              </p:cNvPr>
              <p:cNvPicPr/>
              <p:nvPr/>
            </p:nvPicPr>
            <p:blipFill>
              <a:blip r:embed="rId9"/>
              <a:stretch>
                <a:fillRect/>
              </a:stretch>
            </p:blipFill>
            <p:spPr>
              <a:xfrm rot="2888012">
                <a:off x="4062819" y="1796970"/>
                <a:ext cx="664560" cy="36000"/>
              </a:xfrm>
              <a:prstGeom prst="rect">
                <a:avLst/>
              </a:prstGeom>
            </p:spPr>
          </p:pic>
        </mc:Fallback>
      </mc:AlternateContent>
      <p:grpSp>
        <p:nvGrpSpPr>
          <p:cNvPr id="38" name="Group 37">
            <a:extLst>
              <a:ext uri="{FF2B5EF4-FFF2-40B4-BE49-F238E27FC236}">
                <a16:creationId xmlns:a16="http://schemas.microsoft.com/office/drawing/2014/main" id="{9CBCD55D-6F97-D6CE-8DC4-9DDFF95563C6}"/>
              </a:ext>
            </a:extLst>
          </p:cNvPr>
          <p:cNvGrpSpPr/>
          <p:nvPr/>
        </p:nvGrpSpPr>
        <p:grpSpPr>
          <a:xfrm rot="2888012">
            <a:off x="4537142" y="1966393"/>
            <a:ext cx="112680" cy="112320"/>
            <a:chOff x="2830855" y="1318787"/>
            <a:chExt cx="112680" cy="112320"/>
          </a:xfrm>
        </p:grpSpPr>
        <mc:AlternateContent xmlns:mc="http://schemas.openxmlformats.org/markup-compatibility/2006" xmlns:p14="http://schemas.microsoft.com/office/powerpoint/2010/main">
          <mc:Choice Requires="p14">
            <p:contentPart p14:bwMode="auto" r:id="rId21">
              <p14:nvContentPartPr>
                <p14:cNvPr id="39" name="Ink 38">
                  <a:extLst>
                    <a:ext uri="{FF2B5EF4-FFF2-40B4-BE49-F238E27FC236}">
                      <a16:creationId xmlns:a16="http://schemas.microsoft.com/office/drawing/2014/main" id="{27DFB39F-95FD-4306-0CAC-088B19388594}"/>
                    </a:ext>
                  </a:extLst>
                </p14:cNvPr>
                <p14:cNvContentPartPr/>
                <p14:nvPr/>
              </p14:nvContentPartPr>
              <p14:xfrm>
                <a:off x="2830855" y="1381787"/>
                <a:ext cx="98640" cy="49320"/>
              </p14:xfrm>
            </p:contentPart>
          </mc:Choice>
          <mc:Fallback xmlns="">
            <p:pic>
              <p:nvPicPr>
                <p:cNvPr id="39" name="Ink 38">
                  <a:extLst>
                    <a:ext uri="{FF2B5EF4-FFF2-40B4-BE49-F238E27FC236}">
                      <a16:creationId xmlns:a16="http://schemas.microsoft.com/office/drawing/2014/main" id="{27DFB39F-95FD-4306-0CAC-088B19388594}"/>
                    </a:ext>
                  </a:extLst>
                </p:cNvPr>
                <p:cNvPicPr/>
                <p:nvPr/>
              </p:nvPicPr>
              <p:blipFill>
                <a:blip r:embed="rId11"/>
                <a:stretch>
                  <a:fillRect/>
                </a:stretch>
              </p:blipFill>
              <p:spPr>
                <a:xfrm>
                  <a:off x="2821888" y="1372787"/>
                  <a:ext cx="116216"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0" name="Ink 39">
                  <a:extLst>
                    <a:ext uri="{FF2B5EF4-FFF2-40B4-BE49-F238E27FC236}">
                      <a16:creationId xmlns:a16="http://schemas.microsoft.com/office/drawing/2014/main" id="{4F420FA7-6356-B59C-3338-D4005E53C529}"/>
                    </a:ext>
                  </a:extLst>
                </p14:cNvPr>
                <p14:cNvContentPartPr/>
                <p14:nvPr/>
              </p14:nvContentPartPr>
              <p14:xfrm>
                <a:off x="2839855" y="1318787"/>
                <a:ext cx="103680" cy="62640"/>
              </p14:xfrm>
            </p:contentPart>
          </mc:Choice>
          <mc:Fallback xmlns="">
            <p:pic>
              <p:nvPicPr>
                <p:cNvPr id="40" name="Ink 39">
                  <a:extLst>
                    <a:ext uri="{FF2B5EF4-FFF2-40B4-BE49-F238E27FC236}">
                      <a16:creationId xmlns:a16="http://schemas.microsoft.com/office/drawing/2014/main" id="{4F420FA7-6356-B59C-3338-D4005E53C529}"/>
                    </a:ext>
                  </a:extLst>
                </p:cNvPr>
                <p:cNvPicPr/>
                <p:nvPr/>
              </p:nvPicPr>
              <p:blipFill>
                <a:blip r:embed="rId13"/>
                <a:stretch>
                  <a:fillRect/>
                </a:stretch>
              </p:blipFill>
              <p:spPr>
                <a:xfrm>
                  <a:off x="2830824" y="1309787"/>
                  <a:ext cx="121381" cy="80280"/>
                </a:xfrm>
                <a:prstGeom prst="rect">
                  <a:avLst/>
                </a:prstGeom>
              </p:spPr>
            </p:pic>
          </mc:Fallback>
        </mc:AlternateContent>
      </p:grpSp>
      <p:sp>
        <p:nvSpPr>
          <p:cNvPr id="41" name="TextBox 40">
            <a:extLst>
              <a:ext uri="{FF2B5EF4-FFF2-40B4-BE49-F238E27FC236}">
                <a16:creationId xmlns:a16="http://schemas.microsoft.com/office/drawing/2014/main" id="{D5D13B14-0DBD-BEF9-E86E-E79D56C1FD9F}"/>
              </a:ext>
            </a:extLst>
          </p:cNvPr>
          <p:cNvSpPr txBox="1"/>
          <p:nvPr/>
        </p:nvSpPr>
        <p:spPr>
          <a:xfrm>
            <a:off x="945252" y="3039764"/>
            <a:ext cx="7815287" cy="1338828"/>
          </a:xfrm>
          <a:prstGeom prst="rect">
            <a:avLst/>
          </a:prstGeom>
          <a:noFill/>
        </p:spPr>
        <p:txBody>
          <a:bodyPr wrap="square" lIns="91440" tIns="45720" rIns="91440" bIns="45720" rtlCol="0" anchor="t">
            <a:spAutoFit/>
          </a:bodyPr>
          <a:lstStyle/>
          <a:p>
            <a:r>
              <a:rPr lang="en-US"/>
              <a:t>Eind </a:t>
            </a:r>
            <a:r>
              <a:rPr lang="en-US" err="1"/>
              <a:t>resultaat</a:t>
            </a:r>
            <a:r>
              <a:rPr lang="en-US"/>
              <a:t> laten </a:t>
            </a:r>
            <a:r>
              <a:rPr lang="en-US" err="1"/>
              <a:t>zien</a:t>
            </a:r>
            <a:r>
              <a:rPr lang="en-US"/>
              <a:t> </a:t>
            </a:r>
          </a:p>
          <a:p>
            <a:endParaRPr lang="en-US"/>
          </a:p>
          <a:p>
            <a:r>
              <a:rPr lang="en-US" err="1"/>
              <a:t>Zelfde</a:t>
            </a:r>
            <a:r>
              <a:rPr lang="en-US"/>
              <a:t> denominator </a:t>
            </a:r>
            <a:r>
              <a:rPr lang="en-US" err="1"/>
              <a:t>Pinv</a:t>
            </a:r>
            <a:r>
              <a:rPr lang="en-US"/>
              <a:t> 11, 21, </a:t>
            </a:r>
            <a:r>
              <a:rPr lang="en-US" err="1"/>
              <a:t>daarom</a:t>
            </a:r>
            <a:r>
              <a:rPr lang="en-US"/>
              <a:t> </a:t>
            </a:r>
            <a:r>
              <a:rPr lang="en-US" err="1"/>
              <a:t>werkt</a:t>
            </a:r>
            <a:r>
              <a:rPr lang="en-US"/>
              <a:t> </a:t>
            </a:r>
            <a:r>
              <a:rPr lang="en-US" err="1"/>
              <a:t>dit</a:t>
            </a:r>
            <a:r>
              <a:rPr lang="en-US"/>
              <a:t> </a:t>
            </a:r>
            <a:r>
              <a:rPr lang="en-US" err="1"/>
              <a:t>en</a:t>
            </a:r>
            <a:r>
              <a:rPr lang="en-US"/>
              <a:t> je Cy, x phi term </a:t>
            </a:r>
            <a:r>
              <a:rPr lang="en-US" err="1"/>
              <a:t>verdwijnt</a:t>
            </a:r>
            <a:endParaRPr lang="en-US"/>
          </a:p>
          <a:p>
            <a:endParaRPr lang="en-US"/>
          </a:p>
          <a:p>
            <a:r>
              <a:rPr lang="en-NL">
                <a:ea typeface="Calibri"/>
                <a:cs typeface="Calibri"/>
              </a:rPr>
              <a:t>Note: </a:t>
            </a:r>
            <a:r>
              <a:rPr lang="en-NL" err="1">
                <a:ea typeface="Calibri"/>
                <a:cs typeface="Calibri"/>
              </a:rPr>
              <a:t>herschrijven</a:t>
            </a:r>
            <a:r>
              <a:rPr lang="en-NL">
                <a:ea typeface="Calibri"/>
                <a:cs typeface="Calibri"/>
              </a:rPr>
              <a:t> </a:t>
            </a:r>
            <a:r>
              <a:rPr lang="en-NL" err="1">
                <a:ea typeface="Calibri"/>
                <a:cs typeface="Calibri"/>
              </a:rPr>
              <a:t>formules</a:t>
            </a:r>
            <a:r>
              <a:rPr lang="en-NL">
                <a:ea typeface="Calibri"/>
                <a:cs typeface="Calibri"/>
              </a:rPr>
              <a:t> met MIMO </a:t>
            </a:r>
            <a:r>
              <a:rPr lang="en-NL" err="1">
                <a:ea typeface="Calibri"/>
                <a:cs typeface="Calibri"/>
              </a:rPr>
              <a:t>notatie</a:t>
            </a:r>
            <a:r>
              <a:rPr lang="en-NL">
                <a:ea typeface="Calibri"/>
                <a:cs typeface="Calibri"/>
              </a:rPr>
              <a:t>, </a:t>
            </a:r>
            <a:r>
              <a:rPr lang="en-NL" err="1">
                <a:ea typeface="Calibri"/>
                <a:cs typeface="Calibri"/>
              </a:rPr>
              <a:t>aantonen</a:t>
            </a:r>
            <a:r>
              <a:rPr lang="en-NL">
                <a:ea typeface="Calibri"/>
                <a:cs typeface="Calibri"/>
              </a:rPr>
              <a:t> </a:t>
            </a:r>
            <a:r>
              <a:rPr lang="en-NL" err="1">
                <a:ea typeface="Calibri"/>
                <a:cs typeface="Calibri"/>
              </a:rPr>
              <a:t>dat</a:t>
            </a:r>
            <a:r>
              <a:rPr lang="en-NL">
                <a:ea typeface="Calibri"/>
                <a:cs typeface="Calibri"/>
              </a:rPr>
              <a:t> </a:t>
            </a:r>
            <a:r>
              <a:rPr lang="en-NL" err="1">
                <a:ea typeface="Calibri"/>
                <a:cs typeface="Calibri"/>
              </a:rPr>
              <a:t>Cyxphi</a:t>
            </a:r>
            <a:r>
              <a:rPr lang="en-NL">
                <a:ea typeface="Calibri"/>
                <a:cs typeface="Calibri"/>
              </a:rPr>
              <a:t> </a:t>
            </a:r>
            <a:r>
              <a:rPr lang="en-NL" err="1">
                <a:ea typeface="Calibri"/>
                <a:cs typeface="Calibri"/>
              </a:rPr>
              <a:t>niet</a:t>
            </a:r>
            <a:r>
              <a:rPr lang="en-NL">
                <a:ea typeface="Calibri"/>
                <a:cs typeface="Calibri"/>
              </a:rPr>
              <a:t> </a:t>
            </a:r>
            <a:r>
              <a:rPr lang="en-NL" err="1">
                <a:ea typeface="Calibri"/>
                <a:cs typeface="Calibri"/>
              </a:rPr>
              <a:t>nodig</a:t>
            </a:r>
            <a:r>
              <a:rPr lang="en-NL">
                <a:ea typeface="Calibri"/>
                <a:cs typeface="Calibri"/>
              </a:rPr>
              <a:t> is </a:t>
            </a:r>
            <a:r>
              <a:rPr lang="en-NL" err="1">
                <a:ea typeface="Calibri"/>
                <a:cs typeface="Calibri"/>
              </a:rPr>
              <a:t>vanuit</a:t>
            </a:r>
            <a:r>
              <a:rPr lang="en-NL">
                <a:ea typeface="Calibri"/>
                <a:cs typeface="Calibri"/>
              </a:rPr>
              <a:t> P^-1 </a:t>
            </a:r>
            <a:r>
              <a:rPr lang="en-NL" err="1">
                <a:ea typeface="Calibri"/>
                <a:cs typeface="Calibri"/>
              </a:rPr>
              <a:t>benadering</a:t>
            </a:r>
            <a:endParaRPr lang="en-NL">
              <a:ea typeface="Calibri"/>
              <a:cs typeface="Calibri"/>
            </a:endParaRPr>
          </a:p>
          <a:p>
            <a:endParaRPr lang="en-NL"/>
          </a:p>
        </p:txBody>
      </p:sp>
    </p:spTree>
    <p:extLst>
      <p:ext uri="{BB962C8B-B14F-4D97-AF65-F5344CB8AC3E}">
        <p14:creationId xmlns:p14="http://schemas.microsoft.com/office/powerpoint/2010/main" val="631053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0</TotalTime>
  <Words>928</Words>
  <Application>Microsoft Office PowerPoint</Application>
  <PresentationFormat>On-screen Show (16:9)</PresentationFormat>
  <Paragraphs>202</Paragraphs>
  <Slides>17</Slides>
  <Notes>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Kantoorthema</vt:lpstr>
      <vt:lpstr>Ideas to discuss</vt:lpstr>
      <vt:lpstr>Our approach</vt:lpstr>
      <vt:lpstr>Choosing basis functions - Derivation</vt:lpstr>
      <vt:lpstr>Choosing basis functions - Derivation</vt:lpstr>
      <vt:lpstr>Choosing basis functions - Bode plots</vt:lpstr>
      <vt:lpstr>Choosing basis functions - Amount of basis functions</vt:lpstr>
      <vt:lpstr>Optimizing</vt:lpstr>
      <vt:lpstr>Optimizing – SIMO stacking</vt:lpstr>
      <vt:lpstr>Optimizing – SIMO stacking</vt:lpstr>
      <vt:lpstr>Optimizing – Sequential update</vt:lpstr>
      <vt:lpstr>Optimizing – Sequential update</vt:lpstr>
      <vt:lpstr>Appendix</vt:lpstr>
      <vt:lpstr>PowerPoint Presentation</vt:lpstr>
      <vt:lpstr>MIMO implementation</vt:lpstr>
      <vt:lpstr>General ideas</vt:lpstr>
      <vt:lpstr>Problems</vt:lpstr>
      <vt:lpstr>Choosing basis functions</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Verschuren, Vera</cp:lastModifiedBy>
  <cp:revision>27</cp:revision>
  <dcterms:created xsi:type="dcterms:W3CDTF">2019-11-27T15:26:32Z</dcterms:created>
  <dcterms:modified xsi:type="dcterms:W3CDTF">2026-05-29T06:51:05Z</dcterms:modified>
</cp:coreProperties>
</file>